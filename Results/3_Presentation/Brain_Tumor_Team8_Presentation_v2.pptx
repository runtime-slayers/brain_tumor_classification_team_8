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5669280"/>
            <a:ext cx="11914632" cy="1188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097280"/>
            <a:ext cx="10515600" cy="914400"/>
          </a:xfrm>
          <a:prstGeom prst="rect">
            <a:avLst/>
          </a:prstGeom>
          <a:noFill/>
        </p:spPr>
        <p:txBody>
          <a:bodyPr wrap="square">
            <a:spAutoFit/>
          </a:bodyPr>
          <a:lstStyle/>
          <a:p>
            <a:pPr algn="l">
              <a:lnSpc>
                <a:spcPct val="115000"/>
              </a:lnSpc>
            </a:pPr>
            <a:r>
              <a:rPr sz="4400" b="1" i="0">
                <a:solidFill>
                  <a:srgbClr val="F8FAFC"/>
                </a:solidFill>
                <a:latin typeface="Arial"/>
              </a:rPr>
              <a:t>Brain Tumor Classification</a:t>
            </a:r>
          </a:p>
        </p:txBody>
      </p:sp>
      <p:sp>
        <p:nvSpPr>
          <p:cNvPr id="5" name="TextBox 4"/>
          <p:cNvSpPr txBox="1"/>
          <p:nvPr/>
        </p:nvSpPr>
        <p:spPr>
          <a:xfrm>
            <a:off x="731520" y="2011680"/>
            <a:ext cx="10515600" cy="640080"/>
          </a:xfrm>
          <a:prstGeom prst="rect">
            <a:avLst/>
          </a:prstGeom>
          <a:noFill/>
        </p:spPr>
        <p:txBody>
          <a:bodyPr wrap="square">
            <a:spAutoFit/>
          </a:bodyPr>
          <a:lstStyle/>
          <a:p>
            <a:pPr algn="l">
              <a:lnSpc>
                <a:spcPct val="115000"/>
              </a:lnSpc>
            </a:pPr>
            <a:r>
              <a:rPr sz="2800" b="0" i="0">
                <a:solidFill>
                  <a:srgbClr val="06B6D4"/>
                </a:solidFill>
                <a:latin typeface="Arial"/>
              </a:rPr>
              <a:t>using Deep Learning and Explainable AI (XAI)</a:t>
            </a:r>
          </a:p>
        </p:txBody>
      </p:sp>
      <p:sp>
        <p:nvSpPr>
          <p:cNvPr id="6" name="Rectangle 5"/>
          <p:cNvSpPr/>
          <p:nvPr/>
        </p:nvSpPr>
        <p:spPr>
          <a:xfrm>
            <a:off x="731520" y="2834640"/>
            <a:ext cx="7315200" cy="45720"/>
          </a:xfrm>
          <a:prstGeom prst="rect">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017520"/>
            <a:ext cx="10515600" cy="457200"/>
          </a:xfrm>
          <a:prstGeom prst="rect">
            <a:avLst/>
          </a:prstGeom>
          <a:noFill/>
        </p:spPr>
        <p:txBody>
          <a:bodyPr wrap="square">
            <a:spAutoFit/>
          </a:bodyPr>
          <a:lstStyle/>
          <a:p>
            <a:pPr algn="l">
              <a:lnSpc>
                <a:spcPct val="115000"/>
              </a:lnSpc>
            </a:pPr>
            <a:r>
              <a:rPr sz="2000" b="1" i="0">
                <a:solidFill>
                  <a:srgbClr val="FACC15"/>
                </a:solidFill>
                <a:latin typeface="Arial"/>
              </a:rPr>
              <a:t>NeuroVision Diagnostic System — Final Semester Project Report</a:t>
            </a:r>
          </a:p>
        </p:txBody>
      </p:sp>
      <p:sp>
        <p:nvSpPr>
          <p:cNvPr id="8" name="TextBox 7"/>
          <p:cNvSpPr txBox="1"/>
          <p:nvPr/>
        </p:nvSpPr>
        <p:spPr>
          <a:xfrm>
            <a:off x="731520" y="3566160"/>
            <a:ext cx="10515600" cy="457200"/>
          </a:xfrm>
          <a:prstGeom prst="rect">
            <a:avLst/>
          </a:prstGeom>
          <a:noFill/>
        </p:spPr>
        <p:txBody>
          <a:bodyPr wrap="square">
            <a:spAutoFit/>
          </a:bodyPr>
          <a:lstStyle/>
          <a:p>
            <a:pPr algn="l">
              <a:lnSpc>
                <a:spcPct val="115000"/>
              </a:lnSpc>
            </a:pPr>
            <a:r>
              <a:rPr sz="1600" b="0" i="1">
                <a:solidFill>
                  <a:srgbClr val="CBD5E1"/>
                </a:solidFill>
                <a:latin typeface="Arial"/>
              </a:rPr>
              <a:t>Attention-Gated ResNet-34  ·  Monte Carlo Uncertainty  ·  17-View Radiomics Suite</a:t>
            </a:r>
          </a:p>
        </p:txBody>
      </p:sp>
      <p:sp>
        <p:nvSpPr>
          <p:cNvPr id="9" name="TextBox 8"/>
          <p:cNvSpPr txBox="1"/>
          <p:nvPr/>
        </p:nvSpPr>
        <p:spPr>
          <a:xfrm>
            <a:off x="731520" y="4297680"/>
            <a:ext cx="10515600" cy="457200"/>
          </a:xfrm>
          <a:prstGeom prst="rect">
            <a:avLst/>
          </a:prstGeom>
          <a:noFill/>
        </p:spPr>
        <p:txBody>
          <a:bodyPr wrap="square">
            <a:spAutoFit/>
          </a:bodyPr>
          <a:lstStyle/>
          <a:p>
            <a:pPr algn="l">
              <a:lnSpc>
                <a:spcPct val="115000"/>
              </a:lnSpc>
            </a:pPr>
            <a:r>
              <a:rPr sz="2200" b="1" i="0">
                <a:solidFill>
                  <a:srgbClr val="F8FAFC"/>
                </a:solidFill>
                <a:latin typeface="Arial"/>
              </a:rPr>
              <a:t>Prepared by: Team 8</a:t>
            </a:r>
          </a:p>
        </p:txBody>
      </p:sp>
      <p:sp>
        <p:nvSpPr>
          <p:cNvPr id="10" name="TextBox 9"/>
          <p:cNvSpPr txBox="1"/>
          <p:nvPr/>
        </p:nvSpPr>
        <p:spPr>
          <a:xfrm>
            <a:off x="731520" y="4846320"/>
            <a:ext cx="10515600" cy="365760"/>
          </a:xfrm>
          <a:prstGeom prst="rect">
            <a:avLst/>
          </a:prstGeom>
          <a:noFill/>
        </p:spPr>
        <p:txBody>
          <a:bodyPr wrap="square">
            <a:spAutoFit/>
          </a:bodyPr>
          <a:lstStyle/>
          <a:p>
            <a:pPr algn="l">
              <a:lnSpc>
                <a:spcPct val="115000"/>
              </a:lnSpc>
            </a:pPr>
            <a:r>
              <a:rPr sz="1500" b="0" i="0">
                <a:solidFill>
                  <a:srgbClr val="38BDF8"/>
                </a:solidFill>
                <a:latin typeface="Arial"/>
              </a:rPr>
              <a:t>Deep Learning &amp; Medical Imaging Engineering Evaluation</a:t>
            </a:r>
          </a:p>
        </p:txBody>
      </p:sp>
      <p:sp>
        <p:nvSpPr>
          <p:cNvPr id="11" name="Rectangle 10"/>
          <p:cNvSpPr/>
          <p:nvPr/>
        </p:nvSpPr>
        <p:spPr>
          <a:xfrm>
            <a:off x="731520" y="5943600"/>
            <a:ext cx="2377440" cy="594360"/>
          </a:xfrm>
          <a:prstGeom prst="rect">
            <a:avLst/>
          </a:prstGeom>
          <a:solidFill>
            <a:srgbClr val="334155"/>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6035040"/>
            <a:ext cx="2377440" cy="411480"/>
          </a:xfrm>
          <a:prstGeom prst="rect">
            <a:avLst/>
          </a:prstGeom>
          <a:noFill/>
        </p:spPr>
        <p:txBody>
          <a:bodyPr wrap="square">
            <a:spAutoFit/>
          </a:bodyPr>
          <a:lstStyle/>
          <a:p>
            <a:pPr algn="ctr">
              <a:lnSpc>
                <a:spcPct val="115000"/>
              </a:lnSpc>
            </a:pPr>
            <a:r>
              <a:rPr sz="1500" b="1" i="0">
                <a:solidFill>
                  <a:srgbClr val="06B6D4"/>
                </a:solidFill>
                <a:latin typeface="Arial"/>
              </a:rPr>
              <a:t>Accuracy: 97.84%</a:t>
            </a:r>
          </a:p>
        </p:txBody>
      </p:sp>
      <p:sp>
        <p:nvSpPr>
          <p:cNvPr id="13" name="Rectangle 12"/>
          <p:cNvSpPr/>
          <p:nvPr/>
        </p:nvSpPr>
        <p:spPr>
          <a:xfrm>
            <a:off x="3383280" y="5943600"/>
            <a:ext cx="2377440" cy="594360"/>
          </a:xfrm>
          <a:prstGeom prst="rect">
            <a:avLst/>
          </a:prstGeom>
          <a:solidFill>
            <a:srgbClr val="33415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83280" y="6035040"/>
            <a:ext cx="2377440" cy="411480"/>
          </a:xfrm>
          <a:prstGeom prst="rect">
            <a:avLst/>
          </a:prstGeom>
          <a:noFill/>
        </p:spPr>
        <p:txBody>
          <a:bodyPr wrap="square">
            <a:spAutoFit/>
          </a:bodyPr>
          <a:lstStyle/>
          <a:p>
            <a:pPr algn="ctr">
              <a:lnSpc>
                <a:spcPct val="115000"/>
              </a:lnSpc>
            </a:pPr>
            <a:r>
              <a:rPr sz="1500" b="1" i="0">
                <a:solidFill>
                  <a:srgbClr val="10B981"/>
                </a:solidFill>
                <a:latin typeface="Arial"/>
              </a:rPr>
              <a:t>AUC-ROC: 0.9955</a:t>
            </a:r>
          </a:p>
        </p:txBody>
      </p:sp>
      <p:sp>
        <p:nvSpPr>
          <p:cNvPr id="15" name="Rectangle 14"/>
          <p:cNvSpPr/>
          <p:nvPr/>
        </p:nvSpPr>
        <p:spPr>
          <a:xfrm>
            <a:off x="6035040" y="5943600"/>
            <a:ext cx="2377440" cy="594360"/>
          </a:xfrm>
          <a:prstGeom prst="rect">
            <a:avLst/>
          </a:prstGeom>
          <a:solidFill>
            <a:srgbClr val="334155"/>
          </a:solidFill>
          <a:ln w="2540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35040" y="6035040"/>
            <a:ext cx="2377440" cy="411480"/>
          </a:xfrm>
          <a:prstGeom prst="rect">
            <a:avLst/>
          </a:prstGeom>
          <a:noFill/>
        </p:spPr>
        <p:txBody>
          <a:bodyPr wrap="square">
            <a:spAutoFit/>
          </a:bodyPr>
          <a:lstStyle/>
          <a:p>
            <a:pPr algn="ctr">
              <a:lnSpc>
                <a:spcPct val="115000"/>
              </a:lnSpc>
            </a:pPr>
            <a:r>
              <a:rPr sz="1500" b="1" i="0">
                <a:solidFill>
                  <a:srgbClr val="FACC15"/>
                </a:solidFill>
                <a:latin typeface="Arial"/>
              </a:rPr>
              <a:t>MC Safety: 72.7%</a:t>
            </a:r>
          </a:p>
        </p:txBody>
      </p:sp>
      <p:sp>
        <p:nvSpPr>
          <p:cNvPr id="17" name="Rectangle 16"/>
          <p:cNvSpPr/>
          <p:nvPr/>
        </p:nvSpPr>
        <p:spPr>
          <a:xfrm>
            <a:off x="8686800" y="5943600"/>
            <a:ext cx="2377440" cy="594360"/>
          </a:xfrm>
          <a:prstGeom prst="rect">
            <a:avLst/>
          </a:prstGeom>
          <a:solidFill>
            <a:srgbClr val="334155"/>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0" y="6035040"/>
            <a:ext cx="2377440" cy="411480"/>
          </a:xfrm>
          <a:prstGeom prst="rect">
            <a:avLst/>
          </a:prstGeom>
          <a:noFill/>
        </p:spPr>
        <p:txBody>
          <a:bodyPr wrap="square">
            <a:spAutoFit/>
          </a:bodyPr>
          <a:lstStyle/>
          <a:p>
            <a:pPr algn="ctr">
              <a:lnSpc>
                <a:spcPct val="115000"/>
              </a:lnSpc>
            </a:pPr>
            <a:r>
              <a:rPr sz="1500" b="1" i="0">
                <a:solidFill>
                  <a:srgbClr val="A855F7"/>
                </a:solidFill>
                <a:latin typeface="Arial"/>
              </a:rPr>
              <a:t>17 XAI Views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Introduction &amp; Clinical Context</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Epidemiological Significance of Neuro-Oncology &amp; Radiological Triage Barriers</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5623560" cy="525780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562356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325880"/>
            <a:ext cx="5257800" cy="365760"/>
          </a:xfrm>
          <a:prstGeom prst="rect">
            <a:avLst/>
          </a:prstGeom>
          <a:noFill/>
        </p:spPr>
        <p:txBody>
          <a:bodyPr wrap="square">
            <a:spAutoFit/>
          </a:bodyPr>
          <a:lstStyle/>
          <a:p>
            <a:pPr algn="l">
              <a:lnSpc>
                <a:spcPct val="115000"/>
              </a:lnSpc>
            </a:pPr>
            <a:r>
              <a:rPr sz="1500" b="1" i="0">
                <a:solidFill>
                  <a:srgbClr val="06B6D4"/>
                </a:solidFill>
                <a:latin typeface="Arial"/>
              </a:rPr>
              <a:t>Neuro-Oncology Clinical Reality</a:t>
            </a:r>
          </a:p>
        </p:txBody>
      </p:sp>
      <p:sp>
        <p:nvSpPr>
          <p:cNvPr id="11" name="TextBox 10"/>
          <p:cNvSpPr txBox="1"/>
          <p:nvPr/>
        </p:nvSpPr>
        <p:spPr>
          <a:xfrm>
            <a:off x="502920" y="1828800"/>
            <a:ext cx="5257800" cy="4572000"/>
          </a:xfrm>
          <a:prstGeom prst="rect">
            <a:avLst/>
          </a:prstGeom>
          <a:noFill/>
        </p:spPr>
        <p:txBody>
          <a:bodyPr wrap="square">
            <a:spAutoFit/>
          </a:bodyPr>
          <a:lstStyle/>
          <a:p>
            <a:pPr>
              <a:lnSpc>
                <a:spcPct val="115000"/>
              </a:lnSpc>
              <a:spcAft>
                <a:spcPts val="1000"/>
              </a:spcAft>
            </a:pPr>
            <a:r>
              <a:rPr sz="1350">
                <a:solidFill>
                  <a:srgbClr val="F8FAFC"/>
                </a:solidFill>
                <a:latin typeface="Arial"/>
              </a:rPr>
              <a:t>▸  High Disease Burden: World Health Organization (WHO) records over 308,000 new CNS brain tumor diagnoses globally every year.</a:t>
            </a:r>
          </a:p>
          <a:p>
            <a:pPr>
              <a:lnSpc>
                <a:spcPct val="115000"/>
              </a:lnSpc>
              <a:spcAft>
                <a:spcPts val="1000"/>
              </a:spcAft>
            </a:pPr>
            <a:r>
              <a:rPr sz="1350">
                <a:solidFill>
                  <a:srgbClr val="F8FAFC"/>
                </a:solidFill>
                <a:latin typeface="Arial"/>
              </a:rPr>
              <a:t>▸  Aggressive Pathology: Glioblastoma Multiforme (GBM) WHO Grade IV represents one of medicine's most lethal tumors, with median patient survival under 14 months even with multi-modal therapeutic intervention.</a:t>
            </a:r>
          </a:p>
          <a:p>
            <a:pPr>
              <a:lnSpc>
                <a:spcPct val="115000"/>
              </a:lnSpc>
              <a:spcAft>
                <a:spcPts val="1000"/>
              </a:spcAft>
            </a:pPr>
            <a:r>
              <a:rPr sz="1350">
                <a:solidFill>
                  <a:srgbClr val="F8FAFC"/>
                </a:solidFill>
                <a:latin typeface="Arial"/>
              </a:rPr>
              <a:t>▸  Gold-Standard Diagnostic Modality: Contrast-Enhanced Magnetic Resonance Imaging (MRI) offers peerless non-invasive soft-tissue delineation without ionizing radiation.</a:t>
            </a:r>
          </a:p>
          <a:p>
            <a:pPr>
              <a:lnSpc>
                <a:spcPct val="115000"/>
              </a:lnSpc>
              <a:spcAft>
                <a:spcPts val="1000"/>
              </a:spcAft>
            </a:pPr>
            <a:r>
              <a:rPr sz="1350">
                <a:solidFill>
                  <a:srgbClr val="F8FAFC"/>
                </a:solidFill>
                <a:latin typeface="Arial"/>
              </a:rPr>
              <a:t>▸  Resource &amp; Time Exhaustion: A single cranial imaging study yields 200–400 slices across axial, coronal, and sagittal planes, requiring strenuous visual review by specialized neuroradiologists.</a:t>
            </a:r>
          </a:p>
          <a:p>
            <a:pPr>
              <a:lnSpc>
                <a:spcPct val="115000"/>
              </a:lnSpc>
              <a:spcAft>
                <a:spcPts val="1000"/>
              </a:spcAft>
            </a:pPr>
            <a:r>
              <a:rPr sz="1350">
                <a:solidFill>
                  <a:srgbClr val="F8FAFC"/>
                </a:solidFill>
                <a:latin typeface="Arial"/>
              </a:rPr>
              <a:t>▸  Geographic Expertise Disparity: Specialized neuro-oncology centers are tightly concentrated in urban research academic hospitals, leaving rural healthcare clinics facing dangerous diagnostic latency.</a:t>
            </a:r>
          </a:p>
        </p:txBody>
      </p:sp>
      <p:sp>
        <p:nvSpPr>
          <p:cNvPr id="12" name="Rectangle 11"/>
          <p:cNvSpPr/>
          <p:nvPr/>
        </p:nvSpPr>
        <p:spPr>
          <a:xfrm>
            <a:off x="6263640" y="1234440"/>
            <a:ext cx="5623560" cy="52578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234440"/>
            <a:ext cx="562356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25880"/>
            <a:ext cx="5257800" cy="365760"/>
          </a:xfrm>
          <a:prstGeom prst="rect">
            <a:avLst/>
          </a:prstGeom>
          <a:noFill/>
        </p:spPr>
        <p:txBody>
          <a:bodyPr wrap="square">
            <a:spAutoFit/>
          </a:bodyPr>
          <a:lstStyle/>
          <a:p>
            <a:pPr algn="l">
              <a:lnSpc>
                <a:spcPct val="115000"/>
              </a:lnSpc>
            </a:pPr>
            <a:r>
              <a:rPr sz="1500" b="1" i="0">
                <a:solidFill>
                  <a:srgbClr val="10B981"/>
                </a:solidFill>
                <a:latin typeface="Arial"/>
              </a:rPr>
              <a:t>Why Automated Deep Learning in Neurology?</a:t>
            </a:r>
          </a:p>
        </p:txBody>
      </p:sp>
      <p:sp>
        <p:nvSpPr>
          <p:cNvPr id="15" name="TextBox 14"/>
          <p:cNvSpPr txBox="1"/>
          <p:nvPr/>
        </p:nvSpPr>
        <p:spPr>
          <a:xfrm>
            <a:off x="6446520" y="1828800"/>
            <a:ext cx="5257800" cy="4572000"/>
          </a:xfrm>
          <a:prstGeom prst="rect">
            <a:avLst/>
          </a:prstGeom>
          <a:noFill/>
        </p:spPr>
        <p:txBody>
          <a:bodyPr wrap="square">
            <a:spAutoFit/>
          </a:bodyPr>
          <a:lstStyle/>
          <a:p>
            <a:pPr>
              <a:lnSpc>
                <a:spcPct val="115000"/>
              </a:lnSpc>
              <a:spcAft>
                <a:spcPts val="1000"/>
              </a:spcAft>
            </a:pPr>
            <a:r>
              <a:rPr sz="1350">
                <a:solidFill>
                  <a:srgbClr val="F8FAFC"/>
                </a:solidFill>
                <a:latin typeface="Arial"/>
              </a:rPr>
              <a:t>▸  Sub-Pixel Texture Resolution: Deep Convolutional Neural Networks (CNNs) detect intricate microscopic tissue enhancements and infiltration gradients that easily elude fatigued human vision.</a:t>
            </a:r>
          </a:p>
          <a:p>
            <a:pPr>
              <a:lnSpc>
                <a:spcPct val="115000"/>
              </a:lnSpc>
              <a:spcAft>
                <a:spcPts val="1000"/>
              </a:spcAft>
            </a:pPr>
            <a:r>
              <a:rPr sz="1350">
                <a:solidFill>
                  <a:srgbClr val="F8FAFC"/>
                </a:solidFill>
                <a:latin typeface="Arial"/>
              </a:rPr>
              <a:t>▸  Mitigating Cognitive &amp; Visual Fatigue: Published medical literature shows inter-observer radiological diagnostic agreement often fluctuates between 78–92% due to caseload saturation.</a:t>
            </a:r>
          </a:p>
          <a:p>
            <a:pPr>
              <a:lnSpc>
                <a:spcPct val="115000"/>
              </a:lnSpc>
              <a:spcAft>
                <a:spcPts val="1000"/>
              </a:spcAft>
            </a:pPr>
            <a:r>
              <a:rPr sz="1350">
                <a:solidFill>
                  <a:srgbClr val="F8FAFC"/>
                </a:solidFill>
                <a:latin typeface="Arial"/>
              </a:rPr>
              <a:t>▸  Millisecond Computational Triage: Fully trained neural networks process entire MRI series volumes in fractions of a second, enabling instantaneous risk-stratification of PACS hospital queues.</a:t>
            </a:r>
          </a:p>
          <a:p>
            <a:pPr>
              <a:lnSpc>
                <a:spcPct val="115000"/>
              </a:lnSpc>
              <a:spcAft>
                <a:spcPts val="1000"/>
              </a:spcAft>
            </a:pPr>
            <a:r>
              <a:rPr sz="1350">
                <a:solidFill>
                  <a:srgbClr val="F8FAFC"/>
                </a:solidFill>
                <a:latin typeface="Arial"/>
              </a:rPr>
              <a:t>▸  Democratic Clinical Access: Web-deployed neural algorithms deliver academic-grade secondary diagnostic consultation to remote clinics equipped with simple web terminals.</a:t>
            </a:r>
          </a:p>
          <a:p>
            <a:pPr>
              <a:lnSpc>
                <a:spcPct val="115000"/>
              </a:lnSpc>
              <a:spcAft>
                <a:spcPts val="1000"/>
              </a:spcAft>
            </a:pPr>
            <a:r>
              <a:rPr sz="1350">
                <a:solidFill>
                  <a:srgbClr val="F8FAFC"/>
                </a:solidFill>
                <a:latin typeface="Arial"/>
              </a:rPr>
              <a:t>▸  Core Philosophy: An AI co-pilot engineered to augment, justify, and empower human specialist intuition—never an unsupervised black-box replacement.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Problem Statement &amp; Clinical Barriers</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Why Conventional Opaque Neural Networks Fail in High-Stakes Healthcare</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5623560" cy="5257800"/>
          </a:xfrm>
          <a:prstGeom prst="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562356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325880"/>
            <a:ext cx="5257800" cy="365760"/>
          </a:xfrm>
          <a:prstGeom prst="rect">
            <a:avLst/>
          </a:prstGeom>
          <a:noFill/>
        </p:spPr>
        <p:txBody>
          <a:bodyPr wrap="square">
            <a:spAutoFit/>
          </a:bodyPr>
          <a:lstStyle/>
          <a:p>
            <a:pPr algn="l">
              <a:lnSpc>
                <a:spcPct val="115000"/>
              </a:lnSpc>
            </a:pPr>
            <a:r>
              <a:rPr sz="1500" b="1" i="0">
                <a:solidFill>
                  <a:srgbClr val="F43F5E"/>
                </a:solidFill>
                <a:latin typeface="Arial"/>
              </a:rPr>
              <a:t>⚠ Barrier 1: The Black-Box Interpretability Crisis</a:t>
            </a:r>
          </a:p>
        </p:txBody>
      </p:sp>
      <p:sp>
        <p:nvSpPr>
          <p:cNvPr id="11" name="TextBox 10"/>
          <p:cNvSpPr txBox="1"/>
          <p:nvPr/>
        </p:nvSpPr>
        <p:spPr>
          <a:xfrm>
            <a:off x="502920" y="1828800"/>
            <a:ext cx="5257800" cy="4572000"/>
          </a:xfrm>
          <a:prstGeom prst="rect">
            <a:avLst/>
          </a:prstGeom>
          <a:noFill/>
        </p:spPr>
        <p:txBody>
          <a:bodyPr wrap="square">
            <a:spAutoFit/>
          </a:bodyPr>
          <a:lstStyle/>
          <a:p>
            <a:pPr>
              <a:lnSpc>
                <a:spcPct val="115000"/>
              </a:lnSpc>
              <a:spcAft>
                <a:spcPts val="1200"/>
              </a:spcAft>
            </a:pPr>
            <a:r>
              <a:rPr sz="1350">
                <a:solidFill>
                  <a:srgbClr val="F8FAFC"/>
                </a:solidFill>
                <a:latin typeface="Arial"/>
              </a:rPr>
              <a:t>▸  Opaque Non-Linear Mappings: Traditional deep neural networks map raw MRI input tensors directly to class prediction logits via hundreds of sequential uninterpretable transformations.</a:t>
            </a:r>
          </a:p>
          <a:p>
            <a:pPr>
              <a:lnSpc>
                <a:spcPct val="115000"/>
              </a:lnSpc>
              <a:spcAft>
                <a:spcPts val="1200"/>
              </a:spcAft>
            </a:pPr>
            <a:r>
              <a:rPr sz="1350">
                <a:solidFill>
                  <a:srgbClr val="F8FAFC"/>
                </a:solidFill>
                <a:latin typeface="Arial"/>
              </a:rPr>
              <a:t>▸  Zero Clinical Legality: A system outputting 'Glioma (99% Confidence)' without visual biological evidence is clinically inadmissible. No neurosurgeon can legally or ethically authorize craniotomy or biopsy based on an algorithm's unexplained intuition.</a:t>
            </a:r>
          </a:p>
          <a:p>
            <a:pPr>
              <a:lnSpc>
                <a:spcPct val="115000"/>
              </a:lnSpc>
              <a:spcAft>
                <a:spcPts val="1200"/>
              </a:spcAft>
            </a:pPr>
            <a:r>
              <a:rPr sz="1350">
                <a:solidFill>
                  <a:srgbClr val="F8FAFC"/>
                </a:solidFill>
                <a:latin typeface="Arial"/>
              </a:rPr>
              <a:t>▸  Regulatory Compliance Mandates: Article 13 of the European Union AI Act and strict US FDA SaMD (Software as a Medical Device) guidelines enforce absolute algorithmic transparency for Class II/III clinical healthcare systems.</a:t>
            </a:r>
          </a:p>
          <a:p>
            <a:pPr>
              <a:lnSpc>
                <a:spcPct val="115000"/>
              </a:lnSpc>
              <a:spcAft>
                <a:spcPts val="1200"/>
              </a:spcAft>
            </a:pPr>
            <a:r>
              <a:rPr sz="1350">
                <a:solidFill>
                  <a:srgbClr val="F8FAFC"/>
                </a:solidFill>
                <a:latin typeface="Arial"/>
              </a:rPr>
              <a:t>▸  Engineered Solution Required: Real-time feature attribution visual evidence (Grad-CAM &amp; Guided Saliency) verifying exactly which intracranial tissue structures commanded the network's diagnostic verdict.</a:t>
            </a:r>
          </a:p>
        </p:txBody>
      </p:sp>
      <p:sp>
        <p:nvSpPr>
          <p:cNvPr id="12" name="Rectangle 11"/>
          <p:cNvSpPr/>
          <p:nvPr/>
        </p:nvSpPr>
        <p:spPr>
          <a:xfrm>
            <a:off x="6263640" y="1234440"/>
            <a:ext cx="5623560" cy="525780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234440"/>
            <a:ext cx="562356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25880"/>
            <a:ext cx="5257800" cy="365760"/>
          </a:xfrm>
          <a:prstGeom prst="rect">
            <a:avLst/>
          </a:prstGeom>
          <a:noFill/>
        </p:spPr>
        <p:txBody>
          <a:bodyPr wrap="square">
            <a:spAutoFit/>
          </a:bodyPr>
          <a:lstStyle/>
          <a:p>
            <a:pPr algn="l">
              <a:lnSpc>
                <a:spcPct val="115000"/>
              </a:lnSpc>
            </a:pPr>
            <a:r>
              <a:rPr sz="1500" b="1" i="0">
                <a:solidFill>
                  <a:srgbClr val="FACC15"/>
                </a:solidFill>
                <a:latin typeface="Arial"/>
              </a:rPr>
              <a:t>⚠ Barrier 2: The False Confidence Illusion</a:t>
            </a:r>
          </a:p>
        </p:txBody>
      </p:sp>
      <p:sp>
        <p:nvSpPr>
          <p:cNvPr id="15" name="TextBox 14"/>
          <p:cNvSpPr txBox="1"/>
          <p:nvPr/>
        </p:nvSpPr>
        <p:spPr>
          <a:xfrm>
            <a:off x="6446520" y="1828800"/>
            <a:ext cx="5257800" cy="4572000"/>
          </a:xfrm>
          <a:prstGeom prst="rect">
            <a:avLst/>
          </a:prstGeom>
          <a:noFill/>
        </p:spPr>
        <p:txBody>
          <a:bodyPr wrap="square">
            <a:spAutoFit/>
          </a:bodyPr>
          <a:lstStyle/>
          <a:p>
            <a:pPr>
              <a:lnSpc>
                <a:spcPct val="115000"/>
              </a:lnSpc>
              <a:spcAft>
                <a:spcPts val="1200"/>
              </a:spcAft>
            </a:pPr>
            <a:r>
              <a:rPr sz="1350">
                <a:solidFill>
                  <a:srgbClr val="F8FAFC"/>
                </a:solidFill>
                <a:latin typeface="Arial"/>
              </a:rPr>
              <a:t>▸  Softmax Normalization Flaw: Standard softmax calculation ensures output probability distributions inevitably sum to 100%, generating synthetic deterministic certainty regardless of incoming image quality.</a:t>
            </a:r>
          </a:p>
          <a:p>
            <a:pPr>
              <a:lnSpc>
                <a:spcPct val="115000"/>
              </a:lnSpc>
              <a:spcAft>
                <a:spcPts val="1200"/>
              </a:spcAft>
            </a:pPr>
            <a:r>
              <a:rPr sz="1350">
                <a:solidFill>
                  <a:srgbClr val="F8FAFC"/>
                </a:solidFill>
                <a:latin typeface="Arial"/>
              </a:rPr>
              <a:t>▸  Blind to Out-of-Distribution Data: On severely motion-blurred, truncated, or scanner-corrupted MRI studies, standard architectures will output absurd predictions like '94% Meningioma' with zero structural safety alarm.</a:t>
            </a:r>
          </a:p>
          <a:p>
            <a:pPr>
              <a:lnSpc>
                <a:spcPct val="115000"/>
              </a:lnSpc>
              <a:spcAft>
                <a:spcPts val="1200"/>
              </a:spcAft>
            </a:pPr>
            <a:r>
              <a:rPr sz="1350">
                <a:solidFill>
                  <a:srgbClr val="F8FAFC"/>
                </a:solidFill>
                <a:latin typeface="Arial"/>
              </a:rPr>
              <a:t>▸  Lethal Consequence in Medicine: A high-confidence false-negative diagnostic error (e.g., misclassifying an early infiltrative Glioma as a healthy normal brain) leads to catastrophic delayed therapeutic intervention.</a:t>
            </a:r>
          </a:p>
          <a:p>
            <a:pPr>
              <a:lnSpc>
                <a:spcPct val="115000"/>
              </a:lnSpc>
              <a:spcAft>
                <a:spcPts val="1200"/>
              </a:spcAft>
            </a:pPr>
            <a:r>
              <a:rPr sz="1350">
                <a:solidFill>
                  <a:srgbClr val="F8FAFC"/>
                </a:solidFill>
                <a:latin typeface="Arial"/>
              </a:rPr>
              <a:t>▸  Engineered Solution Required: Test-time Monte Carlo Bayesian approximation to continually quantify predictive variance and automatically intercept ambiguous diagnostic conclusions.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Literature Review &amp; Research Gaps</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Comparative Performance Analysis Against Published Neuroimaging Benchmarks</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320040" y="1234440"/>
          <a:ext cx="11567160" cy="3337560"/>
        </p:xfrm>
        <a:graphic>
          <a:graphicData uri="http://schemas.openxmlformats.org/drawingml/2006/table">
            <a:tbl>
              <a:tblPr firstRow="1" bandRow="1">
                <a:tableStyleId>{5C22544A-7EE6-4342-B048-85BDC9FD1C3A}</a:tableStyleId>
              </a:tblPr>
              <a:tblGrid>
                <a:gridCol w="2120646">
                  <a:extLst>
                    <a:ext uri="{9D8B030D-6E8A-4147-A177-3AD203B41FA5}">
                      <a16:colId xmlns:a16="http://schemas.microsoft.com/office/drawing/2014/main" val="20000"/>
                    </a:ext>
                  </a:extLst>
                </a:gridCol>
                <a:gridCol w="3084576">
                  <a:extLst>
                    <a:ext uri="{9D8B030D-6E8A-4147-A177-3AD203B41FA5}">
                      <a16:colId xmlns:a16="http://schemas.microsoft.com/office/drawing/2014/main" val="20001"/>
                    </a:ext>
                  </a:extLst>
                </a:gridCol>
                <a:gridCol w="1349502">
                  <a:extLst>
                    <a:ext uri="{9D8B030D-6E8A-4147-A177-3AD203B41FA5}">
                      <a16:colId xmlns:a16="http://schemas.microsoft.com/office/drawing/2014/main" val="20002"/>
                    </a:ext>
                  </a:extLst>
                </a:gridCol>
                <a:gridCol w="5012436">
                  <a:extLst>
                    <a:ext uri="{9D8B030D-6E8A-4147-A177-3AD203B41FA5}">
                      <a16:colId xmlns:a16="http://schemas.microsoft.com/office/drawing/2014/main" val="20003"/>
                    </a:ext>
                  </a:extLst>
                </a:gridCol>
              </a:tblGrid>
              <a:tr h="417195">
                <a:tc>
                  <a:txBody>
                    <a:bodyPr/>
                    <a:lstStyle/>
                    <a:p>
                      <a:pPr algn="ctr"/>
                      <a:r>
                        <a:rPr sz="1300" b="1">
                          <a:solidFill>
                            <a:srgbClr val="06B6D4"/>
                          </a:solidFill>
                          <a:latin typeface="Arial"/>
                        </a:rPr>
                        <a:t>Published Study</a:t>
                      </a:r>
                    </a:p>
                  </a:txBody>
                  <a:tcPr>
                    <a:solidFill>
                      <a:srgbClr val="334155"/>
                    </a:solidFill>
                  </a:tcPr>
                </a:tc>
                <a:tc>
                  <a:txBody>
                    <a:bodyPr/>
                    <a:lstStyle/>
                    <a:p>
                      <a:pPr algn="ctr"/>
                      <a:r>
                        <a:rPr sz="1300" b="1">
                          <a:solidFill>
                            <a:srgbClr val="06B6D4"/>
                          </a:solidFill>
                          <a:latin typeface="Arial"/>
                        </a:rPr>
                        <a:t>Model Architecture</a:t>
                      </a:r>
                    </a:p>
                  </a:txBody>
                  <a:tcPr>
                    <a:solidFill>
                      <a:srgbClr val="334155"/>
                    </a:solidFill>
                  </a:tcPr>
                </a:tc>
                <a:tc>
                  <a:txBody>
                    <a:bodyPr/>
                    <a:lstStyle/>
                    <a:p>
                      <a:pPr algn="ctr"/>
                      <a:r>
                        <a:rPr sz="1300" b="1">
                          <a:solidFill>
                            <a:srgbClr val="06B6D4"/>
                          </a:solidFill>
                          <a:latin typeface="Arial"/>
                        </a:rPr>
                        <a:t>Accuracy</a:t>
                      </a:r>
                    </a:p>
                  </a:txBody>
                  <a:tcPr>
                    <a:solidFill>
                      <a:srgbClr val="334155"/>
                    </a:solidFill>
                  </a:tcPr>
                </a:tc>
                <a:tc>
                  <a:txBody>
                    <a:bodyPr/>
                    <a:lstStyle/>
                    <a:p>
                      <a:pPr algn="ctr"/>
                      <a:r>
                        <a:rPr sz="1300" b="1">
                          <a:solidFill>
                            <a:srgbClr val="06B6D4"/>
                          </a:solidFill>
                          <a:latin typeface="Arial"/>
                        </a:rPr>
                        <a:t>Identified Research Gap / Clinical Limitation</a:t>
                      </a:r>
                    </a:p>
                  </a:txBody>
                  <a:tcPr>
                    <a:solidFill>
                      <a:srgbClr val="334155"/>
                    </a:solidFill>
                  </a:tcPr>
                </a:tc>
                <a:extLst>
                  <a:ext uri="{0D108BD9-81ED-4DB2-BD59-A6C34878D82A}">
                    <a16:rowId xmlns:a16="http://schemas.microsoft.com/office/drawing/2014/main" val="10000"/>
                  </a:ext>
                </a:extLst>
              </a:tr>
              <a:tr h="417195">
                <a:tc>
                  <a:txBody>
                    <a:bodyPr/>
                    <a:lstStyle/>
                    <a:p>
                      <a:pPr algn="l"/>
                      <a:r>
                        <a:rPr sz="1150">
                          <a:solidFill>
                            <a:srgbClr val="F8FAFC"/>
                          </a:solidFill>
                          <a:latin typeface="Arial"/>
                        </a:rPr>
                        <a:t>Khan et al. (2020)</a:t>
                      </a:r>
                    </a:p>
                  </a:txBody>
                  <a:tcPr>
                    <a:solidFill>
                      <a:srgbClr val="0F172A"/>
                    </a:solidFill>
                  </a:tcPr>
                </a:tc>
                <a:tc>
                  <a:txBody>
                    <a:bodyPr/>
                    <a:lstStyle/>
                    <a:p>
                      <a:pPr algn="l"/>
                      <a:r>
                        <a:rPr sz="1150">
                          <a:solidFill>
                            <a:srgbClr val="F8FAFC"/>
                          </a:solidFill>
                          <a:latin typeface="Arial"/>
                        </a:rPr>
                        <a:t>VGG-16 Transfer Learning</a:t>
                      </a:r>
                    </a:p>
                  </a:txBody>
                  <a:tcPr>
                    <a:solidFill>
                      <a:srgbClr val="0F172A"/>
                    </a:solidFill>
                  </a:tcPr>
                </a:tc>
                <a:tc>
                  <a:txBody>
                    <a:bodyPr/>
                    <a:lstStyle/>
                    <a:p>
                      <a:pPr algn="ctr"/>
                      <a:r>
                        <a:rPr sz="1150">
                          <a:solidFill>
                            <a:srgbClr val="F8FAFC"/>
                          </a:solidFill>
                          <a:latin typeface="Arial"/>
                        </a:rPr>
                        <a:t>91.3%</a:t>
                      </a:r>
                    </a:p>
                  </a:txBody>
                  <a:tcPr>
                    <a:solidFill>
                      <a:srgbClr val="0F172A"/>
                    </a:solidFill>
                  </a:tcPr>
                </a:tc>
                <a:tc>
                  <a:txBody>
                    <a:bodyPr/>
                    <a:lstStyle/>
                    <a:p>
                      <a:pPr algn="l"/>
                      <a:r>
                        <a:rPr sz="1150">
                          <a:solidFill>
                            <a:srgbClr val="F8FAFC"/>
                          </a:solidFill>
                          <a:latin typeface="Arial"/>
                        </a:rPr>
                        <a:t>No explainability mapping; zero uncertainty estimation</a:t>
                      </a:r>
                    </a:p>
                  </a:txBody>
                  <a:tcPr>
                    <a:solidFill>
                      <a:srgbClr val="0F172A"/>
                    </a:solidFill>
                  </a:tcPr>
                </a:tc>
                <a:extLst>
                  <a:ext uri="{0D108BD9-81ED-4DB2-BD59-A6C34878D82A}">
                    <a16:rowId xmlns:a16="http://schemas.microsoft.com/office/drawing/2014/main" val="10001"/>
                  </a:ext>
                </a:extLst>
              </a:tr>
              <a:tr h="417195">
                <a:tc>
                  <a:txBody>
                    <a:bodyPr/>
                    <a:lstStyle/>
                    <a:p>
                      <a:pPr algn="l"/>
                      <a:r>
                        <a:rPr sz="1150">
                          <a:solidFill>
                            <a:srgbClr val="F8FAFC"/>
                          </a:solidFill>
                          <a:latin typeface="Arial"/>
                        </a:rPr>
                        <a:t>Abiwinanda et al. (2019)</a:t>
                      </a:r>
                    </a:p>
                  </a:txBody>
                  <a:tcPr>
                    <a:solidFill>
                      <a:srgbClr val="1E293B"/>
                    </a:solidFill>
                  </a:tcPr>
                </a:tc>
                <a:tc>
                  <a:txBody>
                    <a:bodyPr/>
                    <a:lstStyle/>
                    <a:p>
                      <a:pPr algn="l"/>
                      <a:r>
                        <a:rPr sz="1150">
                          <a:solidFill>
                            <a:srgbClr val="F8FAFC"/>
                          </a:solidFill>
                          <a:latin typeface="Arial"/>
                        </a:rPr>
                        <a:t>Custom Shallow CNN (3 Conv Layers)</a:t>
                      </a:r>
                    </a:p>
                  </a:txBody>
                  <a:tcPr>
                    <a:solidFill>
                      <a:srgbClr val="1E293B"/>
                    </a:solidFill>
                  </a:tcPr>
                </a:tc>
                <a:tc>
                  <a:txBody>
                    <a:bodyPr/>
                    <a:lstStyle/>
                    <a:p>
                      <a:pPr algn="ctr"/>
                      <a:r>
                        <a:rPr sz="1150">
                          <a:solidFill>
                            <a:srgbClr val="F8FAFC"/>
                          </a:solidFill>
                          <a:latin typeface="Arial"/>
                        </a:rPr>
                        <a:t>84.2%</a:t>
                      </a:r>
                    </a:p>
                  </a:txBody>
                  <a:tcPr>
                    <a:solidFill>
                      <a:srgbClr val="1E293B"/>
                    </a:solidFill>
                  </a:tcPr>
                </a:tc>
                <a:tc>
                  <a:txBody>
                    <a:bodyPr/>
                    <a:lstStyle/>
                    <a:p>
                      <a:pPr algn="l"/>
                      <a:r>
                        <a:rPr sz="1150">
                          <a:solidFill>
                            <a:srgbClr val="F8FAFC"/>
                          </a:solidFill>
                          <a:latin typeface="Arial"/>
                        </a:rPr>
                        <a:t>Insufficient model depth; lacks texture abstraction</a:t>
                      </a:r>
                    </a:p>
                  </a:txBody>
                  <a:tcPr>
                    <a:solidFill>
                      <a:srgbClr val="1E293B"/>
                    </a:solidFill>
                  </a:tcPr>
                </a:tc>
                <a:extLst>
                  <a:ext uri="{0D108BD9-81ED-4DB2-BD59-A6C34878D82A}">
                    <a16:rowId xmlns:a16="http://schemas.microsoft.com/office/drawing/2014/main" val="10002"/>
                  </a:ext>
                </a:extLst>
              </a:tr>
              <a:tr h="417195">
                <a:tc>
                  <a:txBody>
                    <a:bodyPr/>
                    <a:lstStyle/>
                    <a:p>
                      <a:pPr algn="l"/>
                      <a:r>
                        <a:rPr sz="1150">
                          <a:solidFill>
                            <a:srgbClr val="F8FAFC"/>
                          </a:solidFill>
                          <a:latin typeface="Arial"/>
                        </a:rPr>
                        <a:t>Sultan et al. (2019)</a:t>
                      </a:r>
                    </a:p>
                  </a:txBody>
                  <a:tcPr>
                    <a:solidFill>
                      <a:srgbClr val="0F172A"/>
                    </a:solidFill>
                  </a:tcPr>
                </a:tc>
                <a:tc>
                  <a:txBody>
                    <a:bodyPr/>
                    <a:lstStyle/>
                    <a:p>
                      <a:pPr algn="l"/>
                      <a:r>
                        <a:rPr sz="1150">
                          <a:solidFill>
                            <a:srgbClr val="F8FAFC"/>
                          </a:solidFill>
                          <a:latin typeface="Arial"/>
                        </a:rPr>
                        <a:t>CNN Feature Extraction + SVM</a:t>
                      </a:r>
                    </a:p>
                  </a:txBody>
                  <a:tcPr>
                    <a:solidFill>
                      <a:srgbClr val="0F172A"/>
                    </a:solidFill>
                  </a:tcPr>
                </a:tc>
                <a:tc>
                  <a:txBody>
                    <a:bodyPr/>
                    <a:lstStyle/>
                    <a:p>
                      <a:pPr algn="ctr"/>
                      <a:r>
                        <a:rPr sz="1150">
                          <a:solidFill>
                            <a:srgbClr val="F8FAFC"/>
                          </a:solidFill>
                          <a:latin typeface="Arial"/>
                        </a:rPr>
                        <a:t>96.1%</a:t>
                      </a:r>
                    </a:p>
                  </a:txBody>
                  <a:tcPr>
                    <a:solidFill>
                      <a:srgbClr val="0F172A"/>
                    </a:solidFill>
                  </a:tcPr>
                </a:tc>
                <a:tc>
                  <a:txBody>
                    <a:bodyPr/>
                    <a:lstStyle/>
                    <a:p>
                      <a:pPr algn="l"/>
                      <a:r>
                        <a:rPr sz="1150">
                          <a:solidFill>
                            <a:srgbClr val="F8FAFC"/>
                          </a:solidFill>
                          <a:latin typeface="Arial"/>
                        </a:rPr>
                        <a:t>Black-box SVM classifier; zero visual interpretability</a:t>
                      </a:r>
                    </a:p>
                  </a:txBody>
                  <a:tcPr>
                    <a:solidFill>
                      <a:srgbClr val="0F172A"/>
                    </a:solidFill>
                  </a:tcPr>
                </a:tc>
                <a:extLst>
                  <a:ext uri="{0D108BD9-81ED-4DB2-BD59-A6C34878D82A}">
                    <a16:rowId xmlns:a16="http://schemas.microsoft.com/office/drawing/2014/main" val="10003"/>
                  </a:ext>
                </a:extLst>
              </a:tr>
              <a:tr h="417195">
                <a:tc>
                  <a:txBody>
                    <a:bodyPr/>
                    <a:lstStyle/>
                    <a:p>
                      <a:pPr algn="l"/>
                      <a:r>
                        <a:rPr sz="1150">
                          <a:solidFill>
                            <a:srgbClr val="F8FAFC"/>
                          </a:solidFill>
                          <a:latin typeface="Arial"/>
                        </a:rPr>
                        <a:t>Ghassemi et al. (2020)</a:t>
                      </a:r>
                    </a:p>
                  </a:txBody>
                  <a:tcPr>
                    <a:solidFill>
                      <a:srgbClr val="1E293B"/>
                    </a:solidFill>
                  </a:tcPr>
                </a:tc>
                <a:tc>
                  <a:txBody>
                    <a:bodyPr/>
                    <a:lstStyle/>
                    <a:p>
                      <a:pPr algn="l"/>
                      <a:r>
                        <a:rPr sz="1150">
                          <a:solidFill>
                            <a:srgbClr val="F8FAFC"/>
                          </a:solidFill>
                          <a:latin typeface="Arial"/>
                        </a:rPr>
                        <a:t>ResNet-50 Fine-Tuning</a:t>
                      </a:r>
                    </a:p>
                  </a:txBody>
                  <a:tcPr>
                    <a:solidFill>
                      <a:srgbClr val="1E293B"/>
                    </a:solidFill>
                  </a:tcPr>
                </a:tc>
                <a:tc>
                  <a:txBody>
                    <a:bodyPr/>
                    <a:lstStyle/>
                    <a:p>
                      <a:pPr algn="ctr"/>
                      <a:r>
                        <a:rPr sz="1150">
                          <a:solidFill>
                            <a:srgbClr val="F8FAFC"/>
                          </a:solidFill>
                          <a:latin typeface="Arial"/>
                        </a:rPr>
                        <a:t>94.8%</a:t>
                      </a:r>
                    </a:p>
                  </a:txBody>
                  <a:tcPr>
                    <a:solidFill>
                      <a:srgbClr val="1E293B"/>
                    </a:solidFill>
                  </a:tcPr>
                </a:tc>
                <a:tc>
                  <a:txBody>
                    <a:bodyPr/>
                    <a:lstStyle/>
                    <a:p>
                      <a:pPr algn="l"/>
                      <a:r>
                        <a:rPr sz="1150">
                          <a:solidFill>
                            <a:srgbClr val="F8FAFC"/>
                          </a:solidFill>
                          <a:latin typeface="Arial"/>
                        </a:rPr>
                        <a:t>Overparameterized (25.6M) leading to small-cohort overfitting</a:t>
                      </a:r>
                    </a:p>
                  </a:txBody>
                  <a:tcPr>
                    <a:solidFill>
                      <a:srgbClr val="1E293B"/>
                    </a:solidFill>
                  </a:tcPr>
                </a:tc>
                <a:extLst>
                  <a:ext uri="{0D108BD9-81ED-4DB2-BD59-A6C34878D82A}">
                    <a16:rowId xmlns:a16="http://schemas.microsoft.com/office/drawing/2014/main" val="10004"/>
                  </a:ext>
                </a:extLst>
              </a:tr>
              <a:tr h="417195">
                <a:tc>
                  <a:txBody>
                    <a:bodyPr/>
                    <a:lstStyle/>
                    <a:p>
                      <a:pPr algn="l"/>
                      <a:r>
                        <a:rPr sz="1150">
                          <a:solidFill>
                            <a:srgbClr val="F8FAFC"/>
                          </a:solidFill>
                          <a:latin typeface="Arial"/>
                        </a:rPr>
                        <a:t>Çinar &amp; Yildirim (2020)</a:t>
                      </a:r>
                    </a:p>
                  </a:txBody>
                  <a:tcPr>
                    <a:solidFill>
                      <a:srgbClr val="0F172A"/>
                    </a:solidFill>
                  </a:tcPr>
                </a:tc>
                <a:tc>
                  <a:txBody>
                    <a:bodyPr/>
                    <a:lstStyle/>
                    <a:p>
                      <a:pPr algn="l"/>
                      <a:r>
                        <a:rPr sz="1150">
                          <a:solidFill>
                            <a:srgbClr val="F8FAFC"/>
                          </a:solidFill>
                          <a:latin typeface="Arial"/>
                        </a:rPr>
                        <a:t>EfficientNet-B0 Hybrid</a:t>
                      </a:r>
                    </a:p>
                  </a:txBody>
                  <a:tcPr>
                    <a:solidFill>
                      <a:srgbClr val="0F172A"/>
                    </a:solidFill>
                  </a:tcPr>
                </a:tc>
                <a:tc>
                  <a:txBody>
                    <a:bodyPr/>
                    <a:lstStyle/>
                    <a:p>
                      <a:pPr algn="ctr"/>
                      <a:r>
                        <a:rPr sz="1150">
                          <a:solidFill>
                            <a:srgbClr val="F8FAFC"/>
                          </a:solidFill>
                          <a:latin typeface="Arial"/>
                        </a:rPr>
                        <a:t>95.6%</a:t>
                      </a:r>
                    </a:p>
                  </a:txBody>
                  <a:tcPr>
                    <a:solidFill>
                      <a:srgbClr val="0F172A"/>
                    </a:solidFill>
                  </a:tcPr>
                </a:tc>
                <a:tc>
                  <a:txBody>
                    <a:bodyPr/>
                    <a:lstStyle/>
                    <a:p>
                      <a:pPr algn="l"/>
                      <a:r>
                        <a:rPr sz="1150">
                          <a:solidFill>
                            <a:srgbClr val="F8FAFC"/>
                          </a:solidFill>
                          <a:latin typeface="Arial"/>
                        </a:rPr>
                        <a:t>Compound scaling sensitive to scanner resolution drift</a:t>
                      </a:r>
                    </a:p>
                  </a:txBody>
                  <a:tcPr>
                    <a:solidFill>
                      <a:srgbClr val="0F172A"/>
                    </a:solidFill>
                  </a:tcPr>
                </a:tc>
                <a:extLst>
                  <a:ext uri="{0D108BD9-81ED-4DB2-BD59-A6C34878D82A}">
                    <a16:rowId xmlns:a16="http://schemas.microsoft.com/office/drawing/2014/main" val="10005"/>
                  </a:ext>
                </a:extLst>
              </a:tr>
              <a:tr h="417195">
                <a:tc>
                  <a:txBody>
                    <a:bodyPr/>
                    <a:lstStyle/>
                    <a:p>
                      <a:pPr algn="l"/>
                      <a:r>
                        <a:rPr sz="1150">
                          <a:solidFill>
                            <a:srgbClr val="F8FAFC"/>
                          </a:solidFill>
                          <a:latin typeface="Arial"/>
                        </a:rPr>
                        <a:t>Rehman et al. (2021)</a:t>
                      </a:r>
                    </a:p>
                  </a:txBody>
                  <a:tcPr>
                    <a:solidFill>
                      <a:srgbClr val="1E293B"/>
                    </a:solidFill>
                  </a:tcPr>
                </a:tc>
                <a:tc>
                  <a:txBody>
                    <a:bodyPr/>
                    <a:lstStyle/>
                    <a:p>
                      <a:pPr algn="l"/>
                      <a:r>
                        <a:rPr sz="1150">
                          <a:solidFill>
                            <a:srgbClr val="F8FAFC"/>
                          </a:solidFill>
                          <a:latin typeface="Arial"/>
                        </a:rPr>
                        <a:t>DenseNet-121 + Static Grad-CAM</a:t>
                      </a:r>
                    </a:p>
                  </a:txBody>
                  <a:tcPr>
                    <a:solidFill>
                      <a:srgbClr val="1E293B"/>
                    </a:solidFill>
                  </a:tcPr>
                </a:tc>
                <a:tc>
                  <a:txBody>
                    <a:bodyPr/>
                    <a:lstStyle/>
                    <a:p>
                      <a:pPr algn="ctr"/>
                      <a:r>
                        <a:rPr sz="1150">
                          <a:solidFill>
                            <a:srgbClr val="F8FAFC"/>
                          </a:solidFill>
                          <a:latin typeface="Arial"/>
                        </a:rPr>
                        <a:t>96.2%</a:t>
                      </a:r>
                    </a:p>
                  </a:txBody>
                  <a:tcPr>
                    <a:solidFill>
                      <a:srgbClr val="1E293B"/>
                    </a:solidFill>
                  </a:tcPr>
                </a:tc>
                <a:tc>
                  <a:txBody>
                    <a:bodyPr/>
                    <a:lstStyle/>
                    <a:p>
                      <a:pPr algn="l"/>
                      <a:r>
                        <a:rPr sz="1150">
                          <a:solidFill>
                            <a:srgbClr val="F8FAFC"/>
                          </a:solidFill>
                          <a:latin typeface="Arial"/>
                        </a:rPr>
                        <a:t>Static heatmap only; no stochastic Bayesian safety net</a:t>
                      </a:r>
                    </a:p>
                  </a:txBody>
                  <a:tcPr>
                    <a:solidFill>
                      <a:srgbClr val="1E293B"/>
                    </a:solidFill>
                  </a:tcPr>
                </a:tc>
                <a:extLst>
                  <a:ext uri="{0D108BD9-81ED-4DB2-BD59-A6C34878D82A}">
                    <a16:rowId xmlns:a16="http://schemas.microsoft.com/office/drawing/2014/main" val="10006"/>
                  </a:ext>
                </a:extLst>
              </a:tr>
              <a:tr h="417195">
                <a:tc>
                  <a:txBody>
                    <a:bodyPr/>
                    <a:lstStyle/>
                    <a:p>
                      <a:pPr algn="l"/>
                      <a:r>
                        <a:rPr sz="1150">
                          <a:solidFill>
                            <a:srgbClr val="F8FAFC"/>
                          </a:solidFill>
                          <a:latin typeface="Arial"/>
                        </a:rPr>
                        <a:t>★ Team 8 (Our System)</a:t>
                      </a:r>
                    </a:p>
                  </a:txBody>
                  <a:tcPr>
                    <a:solidFill>
                      <a:srgbClr val="0F172A"/>
                    </a:solidFill>
                  </a:tcPr>
                </a:tc>
                <a:tc>
                  <a:txBody>
                    <a:bodyPr/>
                    <a:lstStyle/>
                    <a:p>
                      <a:pPr algn="l"/>
                      <a:r>
                        <a:rPr sz="1150">
                          <a:solidFill>
                            <a:srgbClr val="F8FAFC"/>
                          </a:solidFill>
                          <a:latin typeface="Arial"/>
                        </a:rPr>
                        <a:t>AG-ResNet-34 + MC Dropout + 17-View XAI</a:t>
                      </a:r>
                    </a:p>
                  </a:txBody>
                  <a:tcPr>
                    <a:solidFill>
                      <a:srgbClr val="0F172A"/>
                    </a:solidFill>
                  </a:tcPr>
                </a:tc>
                <a:tc>
                  <a:txBody>
                    <a:bodyPr/>
                    <a:lstStyle/>
                    <a:p>
                      <a:pPr algn="ctr"/>
                      <a:r>
                        <a:rPr sz="1150">
                          <a:solidFill>
                            <a:srgbClr val="F8FAFC"/>
                          </a:solidFill>
                          <a:latin typeface="Arial"/>
                        </a:rPr>
                        <a:t>97.84%</a:t>
                      </a:r>
                    </a:p>
                  </a:txBody>
                  <a:tcPr>
                    <a:solidFill>
                      <a:srgbClr val="0F172A"/>
                    </a:solidFill>
                  </a:tcPr>
                </a:tc>
                <a:tc>
                  <a:txBody>
                    <a:bodyPr/>
                    <a:lstStyle/>
                    <a:p>
                      <a:pPr algn="l"/>
                      <a:r>
                        <a:rPr sz="1150">
                          <a:solidFill>
                            <a:srgbClr val="F8FAFC"/>
                          </a:solidFill>
                          <a:latin typeface="Arial"/>
                        </a:rPr>
                        <a:t>✓ Fully resolved Black-Box &amp; Uncertainty crises together</a:t>
                      </a:r>
                    </a:p>
                  </a:txBody>
                  <a:tcPr>
                    <a:solidFill>
                      <a:srgbClr val="0F172A"/>
                    </a:solidFill>
                  </a:tcPr>
                </a:tc>
                <a:extLst>
                  <a:ext uri="{0D108BD9-81ED-4DB2-BD59-A6C34878D82A}">
                    <a16:rowId xmlns:a16="http://schemas.microsoft.com/office/drawing/2014/main" val="10007"/>
                  </a:ext>
                </a:extLst>
              </a:tr>
            </a:tbl>
          </a:graphicData>
        </a:graphic>
      </p:graphicFrame>
      <p:sp>
        <p:nvSpPr>
          <p:cNvPr id="9" name="Rectangle 8"/>
          <p:cNvSpPr/>
          <p:nvPr/>
        </p:nvSpPr>
        <p:spPr>
          <a:xfrm>
            <a:off x="320040" y="4709160"/>
            <a:ext cx="11567160" cy="178308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4709160"/>
            <a:ext cx="1156716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4800600"/>
            <a:ext cx="11201400" cy="365760"/>
          </a:xfrm>
          <a:prstGeom prst="rect">
            <a:avLst/>
          </a:prstGeom>
          <a:noFill/>
        </p:spPr>
        <p:txBody>
          <a:bodyPr wrap="square">
            <a:spAutoFit/>
          </a:bodyPr>
          <a:lstStyle/>
          <a:p>
            <a:pPr algn="l">
              <a:lnSpc>
                <a:spcPct val="115000"/>
              </a:lnSpc>
            </a:pPr>
            <a:r>
              <a:rPr sz="1500" b="1" i="0">
                <a:solidFill>
                  <a:srgbClr val="06B6D4"/>
                </a:solidFill>
                <a:latin typeface="Arial"/>
              </a:rPr>
              <a:t>Four Core Scientific Research Gaps Addressed by Team 8</a:t>
            </a:r>
          </a:p>
        </p:txBody>
      </p:sp>
      <p:sp>
        <p:nvSpPr>
          <p:cNvPr id="12" name="TextBox 11"/>
          <p:cNvSpPr txBox="1"/>
          <p:nvPr/>
        </p:nvSpPr>
        <p:spPr>
          <a:xfrm>
            <a:off x="502920" y="5303520"/>
            <a:ext cx="11201400" cy="1097280"/>
          </a:xfrm>
          <a:prstGeom prst="rect">
            <a:avLst/>
          </a:prstGeom>
          <a:noFill/>
        </p:spPr>
        <p:txBody>
          <a:bodyPr wrap="square">
            <a:spAutoFit/>
          </a:bodyPr>
          <a:lstStyle/>
          <a:p>
            <a:pPr>
              <a:lnSpc>
                <a:spcPct val="115000"/>
              </a:lnSpc>
              <a:spcAft>
                <a:spcPts val="400"/>
              </a:spcAft>
            </a:pPr>
            <a:r>
              <a:rPr sz="1150">
                <a:solidFill>
                  <a:srgbClr val="F8FAFC"/>
                </a:solidFill>
                <a:latin typeface="Arial"/>
              </a:rPr>
              <a:t>▸  Integrated Architecture: No prior published neurological study fuses Spatial Attention Gating and Monte Carlo Dropout inside a unified diagnostic framework.</a:t>
            </a:r>
          </a:p>
          <a:p>
            <a:pPr>
              <a:lnSpc>
                <a:spcPct val="115000"/>
              </a:lnSpc>
              <a:spcAft>
                <a:spcPts val="400"/>
              </a:spcAft>
            </a:pPr>
            <a:r>
              <a:rPr sz="1150">
                <a:solidFill>
                  <a:srgbClr val="F8FAFC"/>
                </a:solidFill>
                <a:latin typeface="Arial"/>
              </a:rPr>
              <a:t>▸  Multi-Modal Interactive XAI: Elevates diagnostic transparency from static paper heatmaps to a live production web dashboard rendering 17 simultaneous analytical views.</a:t>
            </a:r>
          </a:p>
          <a:p>
            <a:pPr>
              <a:lnSpc>
                <a:spcPct val="115000"/>
              </a:lnSpc>
              <a:spcAft>
                <a:spcPts val="400"/>
              </a:spcAft>
            </a:pPr>
            <a:r>
              <a:rPr sz="1150">
                <a:solidFill>
                  <a:srgbClr val="F8FAFC"/>
                </a:solidFill>
                <a:latin typeface="Arial"/>
              </a:rPr>
              <a:t>▸  Physiological Preservation: Replaces synthetic image interpolation (SMOTE/Oversampling) with mathematically rigorous inverse-frequency Cross-Entropy loss weights.</a:t>
            </a:r>
          </a:p>
          <a:p>
            <a:pPr>
              <a:lnSpc>
                <a:spcPct val="115000"/>
              </a:lnSpc>
              <a:spcAft>
                <a:spcPts val="400"/>
              </a:spcAft>
            </a:pPr>
            <a:r>
              <a:rPr sz="1150">
                <a:solidFill>
                  <a:srgbClr val="F8FAFC"/>
                </a:solidFill>
                <a:latin typeface="Arial"/>
              </a:rPr>
              <a:t>▸  Quantitative Saliency Metric: Introduces and empirically validates the Attention Saliency Ratio (ASR) to verify intracranial biological feature fixation.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Project Objectives &amp; Rubric Alignment</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Structured Engineering Progression Across Three Core Evaluation Tiers</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3703320" cy="525780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370332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325880"/>
            <a:ext cx="3337560" cy="365760"/>
          </a:xfrm>
          <a:prstGeom prst="rect">
            <a:avLst/>
          </a:prstGeom>
          <a:noFill/>
        </p:spPr>
        <p:txBody>
          <a:bodyPr wrap="square">
            <a:spAutoFit/>
          </a:bodyPr>
          <a:lstStyle/>
          <a:p>
            <a:pPr algn="l">
              <a:lnSpc>
                <a:spcPct val="115000"/>
              </a:lnSpc>
            </a:pPr>
            <a:r>
              <a:rPr sz="1500" b="1" i="0">
                <a:solidFill>
                  <a:srgbClr val="06B6D4"/>
                </a:solidFill>
                <a:latin typeface="Arial"/>
              </a:rPr>
              <a:t>Objective 1 (20 Marks) — Data Profiling &amp; Pipeline</a:t>
            </a:r>
          </a:p>
        </p:txBody>
      </p:sp>
      <p:sp>
        <p:nvSpPr>
          <p:cNvPr id="11" name="TextBox 10"/>
          <p:cNvSpPr txBox="1"/>
          <p:nvPr/>
        </p:nvSpPr>
        <p:spPr>
          <a:xfrm>
            <a:off x="502920" y="1828800"/>
            <a:ext cx="3337560" cy="4572000"/>
          </a:xfrm>
          <a:prstGeom prst="rect">
            <a:avLst/>
          </a:prstGeom>
          <a:noFill/>
        </p:spPr>
        <p:txBody>
          <a:bodyPr wrap="square">
            <a:spAutoFit/>
          </a:bodyPr>
          <a:lstStyle/>
          <a:p>
            <a:pPr>
              <a:lnSpc>
                <a:spcPct val="115000"/>
              </a:lnSpc>
              <a:spcAft>
                <a:spcPts val="800"/>
              </a:spcAft>
            </a:pPr>
            <a:r>
              <a:rPr sz="1150">
                <a:solidFill>
                  <a:srgbClr val="F8FAFC"/>
                </a:solidFill>
                <a:latin typeface="Arial"/>
              </a:rPr>
              <a:t>▸  Explore 3,264 MRI scans: inventory class counts, format ratios, and native resolution heterogeneity</a:t>
            </a:r>
          </a:p>
          <a:p>
            <a:pPr>
              <a:lnSpc>
                <a:spcPct val="115000"/>
              </a:lnSpc>
              <a:spcAft>
                <a:spcPts val="800"/>
              </a:spcAft>
            </a:pPr>
            <a:r>
              <a:rPr sz="1150">
                <a:solidFill>
                  <a:srgbClr val="F8FAFC"/>
                </a:solidFill>
                <a:latin typeface="Arial"/>
              </a:rPr>
              <a:t>▸  Perform rigorous statistical analysis: RGB pixel intensity histograms and spatial dimension variance</a:t>
            </a:r>
          </a:p>
          <a:p>
            <a:pPr>
              <a:lnSpc>
                <a:spcPct val="115000"/>
              </a:lnSpc>
              <a:spcAft>
                <a:spcPts val="800"/>
              </a:spcAft>
            </a:pPr>
            <a:r>
              <a:rPr sz="1150">
                <a:solidFill>
                  <a:srgbClr val="F8FAFC"/>
                </a:solidFill>
                <a:latin typeface="Arial"/>
              </a:rPr>
              <a:t>▸  Execute automated data quality audit: MD5 checksum hashing for exact duplicates and grayscale sanitization</a:t>
            </a:r>
          </a:p>
          <a:p>
            <a:pPr>
              <a:lnSpc>
                <a:spcPct val="115000"/>
              </a:lnSpc>
              <a:spcAft>
                <a:spcPts val="800"/>
              </a:spcAft>
            </a:pPr>
            <a:r>
              <a:rPr sz="1150">
                <a:solidFill>
                  <a:srgbClr val="F8FAFC"/>
                </a:solidFill>
                <a:latin typeface="Arial"/>
              </a:rPr>
              <a:t>▸  Quantify class imbalance ratios (1.85:1) and formulate inverse-frequency loss weighting justification</a:t>
            </a:r>
          </a:p>
          <a:p>
            <a:pPr>
              <a:lnSpc>
                <a:spcPct val="115000"/>
              </a:lnSpc>
              <a:spcAft>
                <a:spcPts val="800"/>
              </a:spcAft>
            </a:pPr>
            <a:r>
              <a:rPr sz="1150">
                <a:solidFill>
                  <a:srgbClr val="F8FAFC"/>
                </a:solidFill>
                <a:latin typeface="Arial"/>
              </a:rPr>
              <a:t>▸  Design 5-stage deterministic preprocessing: adaptive CLAHE, bicubic resize 256², and biophysical augmentations</a:t>
            </a:r>
          </a:p>
        </p:txBody>
      </p:sp>
      <p:sp>
        <p:nvSpPr>
          <p:cNvPr id="12" name="Rectangle 11"/>
          <p:cNvSpPr/>
          <p:nvPr/>
        </p:nvSpPr>
        <p:spPr>
          <a:xfrm>
            <a:off x="4251959" y="1234440"/>
            <a:ext cx="3703320" cy="52578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59" y="1234440"/>
            <a:ext cx="370332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34840" y="1325880"/>
            <a:ext cx="3337560" cy="365760"/>
          </a:xfrm>
          <a:prstGeom prst="rect">
            <a:avLst/>
          </a:prstGeom>
          <a:noFill/>
        </p:spPr>
        <p:txBody>
          <a:bodyPr wrap="square">
            <a:spAutoFit/>
          </a:bodyPr>
          <a:lstStyle/>
          <a:p>
            <a:pPr algn="l">
              <a:lnSpc>
                <a:spcPct val="115000"/>
              </a:lnSpc>
            </a:pPr>
            <a:r>
              <a:rPr sz="1500" b="1" i="0">
                <a:solidFill>
                  <a:srgbClr val="10B981"/>
                </a:solidFill>
                <a:latin typeface="Arial"/>
              </a:rPr>
              <a:t>Objective 2 (50 Marks) — Deep Learning Architecture</a:t>
            </a:r>
          </a:p>
        </p:txBody>
      </p:sp>
      <p:sp>
        <p:nvSpPr>
          <p:cNvPr id="15" name="TextBox 14"/>
          <p:cNvSpPr txBox="1"/>
          <p:nvPr/>
        </p:nvSpPr>
        <p:spPr>
          <a:xfrm>
            <a:off x="4434840" y="1828800"/>
            <a:ext cx="3337560" cy="4572000"/>
          </a:xfrm>
          <a:prstGeom prst="rect">
            <a:avLst/>
          </a:prstGeom>
          <a:noFill/>
        </p:spPr>
        <p:txBody>
          <a:bodyPr wrap="square">
            <a:spAutoFit/>
          </a:bodyPr>
          <a:lstStyle/>
          <a:p>
            <a:pPr>
              <a:lnSpc>
                <a:spcPct val="115000"/>
              </a:lnSpc>
              <a:spcAft>
                <a:spcPts val="800"/>
              </a:spcAft>
            </a:pPr>
            <a:r>
              <a:rPr sz="1150">
                <a:solidFill>
                  <a:srgbClr val="F8FAFC"/>
                </a:solidFill>
                <a:latin typeface="Arial"/>
              </a:rPr>
              <a:t>▸  Architect Attention-Gated ResNet-34 incorporating a novel post-Layer4 dual Conv(1×1) bottleneck gate</a:t>
            </a:r>
          </a:p>
          <a:p>
            <a:pPr>
              <a:lnSpc>
                <a:spcPct val="115000"/>
              </a:lnSpc>
              <a:spcAft>
                <a:spcPts val="800"/>
              </a:spcAft>
            </a:pPr>
            <a:r>
              <a:rPr sz="1150">
                <a:solidFill>
                  <a:srgbClr val="F8FAFC"/>
                </a:solidFill>
                <a:latin typeface="Arial"/>
              </a:rPr>
              <a:t>▸  Implement test-time Monte Carlo Dropout (M=10 passes) for live epistemic Bayesian uncertainty quantification</a:t>
            </a:r>
          </a:p>
          <a:p>
            <a:pPr>
              <a:lnSpc>
                <a:spcPct val="115000"/>
              </a:lnSpc>
              <a:spcAft>
                <a:spcPts val="800"/>
              </a:spcAft>
            </a:pPr>
            <a:r>
              <a:rPr sz="1150">
                <a:solidFill>
                  <a:srgbClr val="F8FAFC"/>
                </a:solidFill>
                <a:latin typeface="Arial"/>
              </a:rPr>
              <a:t>▸  Optimize network convergence via AdamW decoupled weight decay and Cosine Annealing Warm Restarts</a:t>
            </a:r>
          </a:p>
          <a:p>
            <a:pPr>
              <a:lnSpc>
                <a:spcPct val="115000"/>
              </a:lnSpc>
              <a:spcAft>
                <a:spcPts val="800"/>
              </a:spcAft>
            </a:pPr>
            <a:r>
              <a:rPr sz="1150">
                <a:solidFill>
                  <a:srgbClr val="F8FAFC"/>
                </a:solidFill>
                <a:latin typeface="Arial"/>
              </a:rPr>
              <a:t>▸  Achieve clinical-grade validation: 97.84% accuracy, 0.9955 AUC, 97.87% F1-score, and Confusion Matrix analysis</a:t>
            </a:r>
          </a:p>
          <a:p>
            <a:pPr>
              <a:lnSpc>
                <a:spcPct val="115000"/>
              </a:lnSpc>
              <a:spcAft>
                <a:spcPts val="800"/>
              </a:spcAft>
            </a:pPr>
            <a:r>
              <a:rPr sz="1150">
                <a:solidFill>
                  <a:srgbClr val="F8FAFC"/>
                </a:solidFill>
                <a:latin typeface="Arial"/>
              </a:rPr>
              <a:t>▸  Execute comprehensive empirical baseline ablation comparisons against VGG-16, ResNet-50, and plain ResNet-34</a:t>
            </a:r>
          </a:p>
        </p:txBody>
      </p:sp>
      <p:sp>
        <p:nvSpPr>
          <p:cNvPr id="16" name="Rectangle 15"/>
          <p:cNvSpPr/>
          <p:nvPr/>
        </p:nvSpPr>
        <p:spPr>
          <a:xfrm>
            <a:off x="8183879" y="1234440"/>
            <a:ext cx="3703320" cy="525780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83879" y="1234440"/>
            <a:ext cx="370332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66759" y="1325880"/>
            <a:ext cx="3337560" cy="365760"/>
          </a:xfrm>
          <a:prstGeom prst="rect">
            <a:avLst/>
          </a:prstGeom>
          <a:noFill/>
        </p:spPr>
        <p:txBody>
          <a:bodyPr wrap="square">
            <a:spAutoFit/>
          </a:bodyPr>
          <a:lstStyle/>
          <a:p>
            <a:pPr algn="l">
              <a:lnSpc>
                <a:spcPct val="115000"/>
              </a:lnSpc>
            </a:pPr>
            <a:r>
              <a:rPr sz="1500" b="1" i="0">
                <a:solidFill>
                  <a:srgbClr val="FACC15"/>
                </a:solidFill>
                <a:latin typeface="Arial"/>
              </a:rPr>
              <a:t>Objective 3 (30 Marks) — Explainable AI Web Suite</a:t>
            </a:r>
          </a:p>
        </p:txBody>
      </p:sp>
      <p:sp>
        <p:nvSpPr>
          <p:cNvPr id="19" name="TextBox 18"/>
          <p:cNvSpPr txBox="1"/>
          <p:nvPr/>
        </p:nvSpPr>
        <p:spPr>
          <a:xfrm>
            <a:off x="8366759" y="1828800"/>
            <a:ext cx="3337560" cy="4572000"/>
          </a:xfrm>
          <a:prstGeom prst="rect">
            <a:avLst/>
          </a:prstGeom>
          <a:noFill/>
        </p:spPr>
        <p:txBody>
          <a:bodyPr wrap="square">
            <a:spAutoFit/>
          </a:bodyPr>
          <a:lstStyle/>
          <a:p>
            <a:pPr>
              <a:lnSpc>
                <a:spcPct val="115000"/>
              </a:lnSpc>
              <a:spcAft>
                <a:spcPts val="800"/>
              </a:spcAft>
            </a:pPr>
            <a:r>
              <a:rPr sz="1150">
                <a:solidFill>
                  <a:srgbClr val="F8FAFC"/>
                </a:solidFill>
                <a:latin typeface="Arial"/>
              </a:rPr>
              <a:t>▸  Integrate Grad-CAM gradient hookpoints at deepest residual bottleneck to compute feature attribution maps</a:t>
            </a:r>
          </a:p>
          <a:p>
            <a:pPr>
              <a:lnSpc>
                <a:spcPct val="115000"/>
              </a:lnSpc>
              <a:spcAft>
                <a:spcPts val="800"/>
              </a:spcAft>
            </a:pPr>
            <a:r>
              <a:rPr sz="1150">
                <a:solidFill>
                  <a:srgbClr val="F8FAFC"/>
                </a:solidFill>
                <a:latin typeface="Arial"/>
              </a:rPr>
              <a:t>▸  Develop Guided Grad-CAM and vanilla backpropagation saliency for sub-pixel vascular margin delineations</a:t>
            </a:r>
          </a:p>
          <a:p>
            <a:pPr>
              <a:lnSpc>
                <a:spcPct val="115000"/>
              </a:lnSpc>
              <a:spcAft>
                <a:spcPts val="800"/>
              </a:spcAft>
            </a:pPr>
            <a:r>
              <a:rPr sz="1150">
                <a:solidFill>
                  <a:srgbClr val="F8FAFC"/>
                </a:solidFill>
                <a:latin typeface="Arial"/>
              </a:rPr>
              <a:t>▸  Perform deep diagnostic inference on True Positive successes and error triage on atypical misclassifications</a:t>
            </a:r>
          </a:p>
          <a:p>
            <a:pPr>
              <a:lnSpc>
                <a:spcPct val="115000"/>
              </a:lnSpc>
              <a:spcAft>
                <a:spcPts val="800"/>
              </a:spcAft>
            </a:pPr>
            <a:r>
              <a:rPr sz="1150">
                <a:solidFill>
                  <a:srgbClr val="F8FAFC"/>
                </a:solidFill>
                <a:latin typeface="Arial"/>
              </a:rPr>
              <a:t>▸  Define and mathematically prove predictive model trustworthiness via Attention Saliency Ratio (ASR = 94.1%)</a:t>
            </a:r>
          </a:p>
          <a:p>
            <a:pPr>
              <a:lnSpc>
                <a:spcPct val="115000"/>
              </a:lnSpc>
              <a:spcAft>
                <a:spcPts val="800"/>
              </a:spcAft>
            </a:pPr>
            <a:r>
              <a:rPr sz="1150">
                <a:solidFill>
                  <a:srgbClr val="F8FAFC"/>
                </a:solidFill>
                <a:latin typeface="Arial"/>
              </a:rPr>
              <a:t>▸  Deploy live production Gradio web server publicly tunnelled via HTTPS providing 17 diagnostic radiomic views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Dataset Description &amp; Pathology Profiles</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3,264 T1-Weighted Contrast-Enhanced Intracranial MRI Scans</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2788920" cy="4023360"/>
          </a:xfrm>
          <a:prstGeom prst="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278892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325880"/>
            <a:ext cx="2423160" cy="365760"/>
          </a:xfrm>
          <a:prstGeom prst="rect">
            <a:avLst/>
          </a:prstGeom>
          <a:noFill/>
        </p:spPr>
        <p:txBody>
          <a:bodyPr wrap="square">
            <a:spAutoFit/>
          </a:bodyPr>
          <a:lstStyle/>
          <a:p>
            <a:pPr algn="l">
              <a:lnSpc>
                <a:spcPct val="115000"/>
              </a:lnSpc>
            </a:pPr>
            <a:r>
              <a:rPr sz="1500" b="1" i="0">
                <a:solidFill>
                  <a:srgbClr val="F43F5E"/>
                </a:solidFill>
                <a:latin typeface="Arial"/>
              </a:rPr>
              <a:t>Glioma  |  n = 926 (28.4%)</a:t>
            </a:r>
          </a:p>
        </p:txBody>
      </p:sp>
      <p:sp>
        <p:nvSpPr>
          <p:cNvPr id="11" name="TextBox 10"/>
          <p:cNvSpPr txBox="1"/>
          <p:nvPr/>
        </p:nvSpPr>
        <p:spPr>
          <a:xfrm>
            <a:off x="502920" y="1828800"/>
            <a:ext cx="2423160" cy="3337560"/>
          </a:xfrm>
          <a:prstGeom prst="rect">
            <a:avLst/>
          </a:prstGeom>
          <a:noFill/>
        </p:spPr>
        <p:txBody>
          <a:bodyPr wrap="square">
            <a:spAutoFit/>
          </a:bodyPr>
          <a:lstStyle/>
          <a:p>
            <a:pPr>
              <a:lnSpc>
                <a:spcPct val="115000"/>
              </a:lnSpc>
              <a:spcAft>
                <a:spcPts val="0"/>
              </a:spcAft>
            </a:pPr>
            <a:r>
              <a:rPr sz="1200">
                <a:solidFill>
                  <a:srgbClr val="F8FAFC"/>
                </a:solidFill>
                <a:latin typeface="Arial"/>
              </a:rPr>
              <a:t>■  Primary malignant glial neoplasms (astrocytomas, glioblastomas). Hallmark radiological signs: irregular infiltrative margins, peripheral ring-enhancement around hypointense necrotic cores, and extensive perilesional vasogenic edema. Highest clinical risk; required high recall (97.10%).</a:t>
            </a:r>
          </a:p>
        </p:txBody>
      </p:sp>
      <p:sp>
        <p:nvSpPr>
          <p:cNvPr id="12" name="Rectangle 11"/>
          <p:cNvSpPr/>
          <p:nvPr/>
        </p:nvSpPr>
        <p:spPr>
          <a:xfrm>
            <a:off x="3246120" y="1234440"/>
            <a:ext cx="2788920" cy="402336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46120" y="1234440"/>
            <a:ext cx="278892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29000" y="1325880"/>
            <a:ext cx="2423160" cy="365760"/>
          </a:xfrm>
          <a:prstGeom prst="rect">
            <a:avLst/>
          </a:prstGeom>
          <a:noFill/>
        </p:spPr>
        <p:txBody>
          <a:bodyPr wrap="square">
            <a:spAutoFit/>
          </a:bodyPr>
          <a:lstStyle/>
          <a:p>
            <a:pPr algn="l">
              <a:lnSpc>
                <a:spcPct val="115000"/>
              </a:lnSpc>
            </a:pPr>
            <a:r>
              <a:rPr sz="1500" b="1" i="0">
                <a:solidFill>
                  <a:srgbClr val="06B6D4"/>
                </a:solidFill>
                <a:latin typeface="Arial"/>
              </a:rPr>
              <a:t>Meningioma  |  n = 937 (28.7%)</a:t>
            </a:r>
          </a:p>
        </p:txBody>
      </p:sp>
      <p:sp>
        <p:nvSpPr>
          <p:cNvPr id="15" name="TextBox 14"/>
          <p:cNvSpPr txBox="1"/>
          <p:nvPr/>
        </p:nvSpPr>
        <p:spPr>
          <a:xfrm>
            <a:off x="3429000" y="1828800"/>
            <a:ext cx="2423160" cy="3337560"/>
          </a:xfrm>
          <a:prstGeom prst="rect">
            <a:avLst/>
          </a:prstGeom>
          <a:noFill/>
        </p:spPr>
        <p:txBody>
          <a:bodyPr wrap="square">
            <a:spAutoFit/>
          </a:bodyPr>
          <a:lstStyle/>
          <a:p>
            <a:pPr>
              <a:lnSpc>
                <a:spcPct val="115000"/>
              </a:lnSpc>
              <a:spcAft>
                <a:spcPts val="0"/>
              </a:spcAft>
            </a:pPr>
            <a:r>
              <a:rPr sz="1200">
                <a:solidFill>
                  <a:srgbClr val="F8FAFC"/>
                </a:solidFill>
                <a:latin typeface="Arial"/>
              </a:rPr>
              <a:t>■  Arachnoid cap cell tumors arising from meninges. Typically benign WHO Grade I, presenting as circumscribed, homogeneously enhancing extra-axial masses with classical dural tail signs. Causes neurological deficits via slow mechanical cortical compression rather than invasion.</a:t>
            </a:r>
          </a:p>
        </p:txBody>
      </p:sp>
      <p:sp>
        <p:nvSpPr>
          <p:cNvPr id="16" name="Rectangle 15"/>
          <p:cNvSpPr/>
          <p:nvPr/>
        </p:nvSpPr>
        <p:spPr>
          <a:xfrm>
            <a:off x="6172200" y="1234440"/>
            <a:ext cx="2788920" cy="402336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1234440"/>
            <a:ext cx="278892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5080" y="1325880"/>
            <a:ext cx="2423160" cy="365760"/>
          </a:xfrm>
          <a:prstGeom prst="rect">
            <a:avLst/>
          </a:prstGeom>
          <a:noFill/>
        </p:spPr>
        <p:txBody>
          <a:bodyPr wrap="square">
            <a:spAutoFit/>
          </a:bodyPr>
          <a:lstStyle/>
          <a:p>
            <a:pPr algn="l">
              <a:lnSpc>
                <a:spcPct val="115000"/>
              </a:lnSpc>
            </a:pPr>
            <a:r>
              <a:rPr sz="1500" b="1" i="0">
                <a:solidFill>
                  <a:srgbClr val="10B981"/>
                </a:solidFill>
                <a:latin typeface="Arial"/>
              </a:rPr>
              <a:t>Pituitary  |  n = 901 (27.6%)</a:t>
            </a:r>
          </a:p>
        </p:txBody>
      </p:sp>
      <p:sp>
        <p:nvSpPr>
          <p:cNvPr id="19" name="TextBox 18"/>
          <p:cNvSpPr txBox="1"/>
          <p:nvPr/>
        </p:nvSpPr>
        <p:spPr>
          <a:xfrm>
            <a:off x="6355080" y="1828800"/>
            <a:ext cx="2423160" cy="3337560"/>
          </a:xfrm>
          <a:prstGeom prst="rect">
            <a:avLst/>
          </a:prstGeom>
          <a:noFill/>
        </p:spPr>
        <p:txBody>
          <a:bodyPr wrap="square">
            <a:spAutoFit/>
          </a:bodyPr>
          <a:lstStyle/>
          <a:p>
            <a:pPr>
              <a:lnSpc>
                <a:spcPct val="115000"/>
              </a:lnSpc>
              <a:spcAft>
                <a:spcPts val="0"/>
              </a:spcAft>
            </a:pPr>
            <a:r>
              <a:rPr sz="1200">
                <a:solidFill>
                  <a:srgbClr val="F8FAFC"/>
                </a:solidFill>
                <a:latin typeface="Arial"/>
              </a:rPr>
              <a:t>■  Sellar adenomas developing within the sella turcica from anterior pituitary hormone-secreting cells. Consequences include severe visual field deficits (bitemporal hemianopia via optic chiasm compression) and systemic endocrinopathies (Cushing's, Acromegaly).</a:t>
            </a:r>
          </a:p>
        </p:txBody>
      </p:sp>
      <p:sp>
        <p:nvSpPr>
          <p:cNvPr id="20" name="Rectangle 19"/>
          <p:cNvSpPr/>
          <p:nvPr/>
        </p:nvSpPr>
        <p:spPr>
          <a:xfrm>
            <a:off x="9098280" y="1234440"/>
            <a:ext cx="2788920" cy="402336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098280" y="1234440"/>
            <a:ext cx="278892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81160" y="1325880"/>
            <a:ext cx="2423160" cy="365760"/>
          </a:xfrm>
          <a:prstGeom prst="rect">
            <a:avLst/>
          </a:prstGeom>
          <a:noFill/>
        </p:spPr>
        <p:txBody>
          <a:bodyPr wrap="square">
            <a:spAutoFit/>
          </a:bodyPr>
          <a:lstStyle/>
          <a:p>
            <a:pPr algn="l">
              <a:lnSpc>
                <a:spcPct val="115000"/>
              </a:lnSpc>
            </a:pPr>
            <a:r>
              <a:rPr sz="1500" b="1" i="0">
                <a:solidFill>
                  <a:srgbClr val="FACC15"/>
                </a:solidFill>
                <a:latin typeface="Arial"/>
              </a:rPr>
              <a:t>No Tumor  |  n = 500 (15.3%)</a:t>
            </a:r>
          </a:p>
        </p:txBody>
      </p:sp>
      <p:sp>
        <p:nvSpPr>
          <p:cNvPr id="23" name="TextBox 22"/>
          <p:cNvSpPr txBox="1"/>
          <p:nvPr/>
        </p:nvSpPr>
        <p:spPr>
          <a:xfrm>
            <a:off x="9281160" y="1828800"/>
            <a:ext cx="2423160" cy="3337560"/>
          </a:xfrm>
          <a:prstGeom prst="rect">
            <a:avLst/>
          </a:prstGeom>
          <a:noFill/>
        </p:spPr>
        <p:txBody>
          <a:bodyPr wrap="square">
            <a:spAutoFit/>
          </a:bodyPr>
          <a:lstStyle/>
          <a:p>
            <a:pPr>
              <a:lnSpc>
                <a:spcPct val="115000"/>
              </a:lnSpc>
              <a:spcAft>
                <a:spcPts val="0"/>
              </a:spcAft>
            </a:pPr>
            <a:r>
              <a:rPr sz="1200">
                <a:solidFill>
                  <a:srgbClr val="F8FAFC"/>
                </a:solidFill>
                <a:latin typeface="Arial"/>
              </a:rPr>
              <a:t>■  Healthy baseline diagnostic control class exhibiting structurally intact parenchymal volume, normal ventricular geometry, preserved cortical sulcal folding, and clear gray-white matter boundaries. MINORITY CLASS — requires loss weight gradient scaling.</a:t>
            </a:r>
          </a:p>
        </p:txBody>
      </p:sp>
      <p:sp>
        <p:nvSpPr>
          <p:cNvPr id="24" name="Rectangle 23"/>
          <p:cNvSpPr/>
          <p:nvPr/>
        </p:nvSpPr>
        <p:spPr>
          <a:xfrm>
            <a:off x="320040" y="5394960"/>
            <a:ext cx="11567160" cy="1097280"/>
          </a:xfrm>
          <a:prstGeom prst="rect">
            <a:avLst/>
          </a:prstGeom>
          <a:solidFill>
            <a:srgbClr val="1E293B"/>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5486400"/>
            <a:ext cx="1828800" cy="274320"/>
          </a:xfrm>
          <a:prstGeom prst="rect">
            <a:avLst/>
          </a:prstGeom>
          <a:noFill/>
        </p:spPr>
        <p:txBody>
          <a:bodyPr wrap="square">
            <a:spAutoFit/>
          </a:bodyPr>
          <a:lstStyle/>
          <a:p>
            <a:pPr algn="ctr">
              <a:lnSpc>
                <a:spcPct val="115000"/>
              </a:lnSpc>
            </a:pPr>
            <a:r>
              <a:rPr sz="1100" b="0" i="0">
                <a:solidFill>
                  <a:srgbClr val="CBD5E1"/>
                </a:solidFill>
                <a:latin typeface="Arial"/>
              </a:rPr>
              <a:t>Total Scan Inventory</a:t>
            </a:r>
          </a:p>
        </p:txBody>
      </p:sp>
      <p:sp>
        <p:nvSpPr>
          <p:cNvPr id="26" name="TextBox 25"/>
          <p:cNvSpPr txBox="1"/>
          <p:nvPr/>
        </p:nvSpPr>
        <p:spPr>
          <a:xfrm>
            <a:off x="457200" y="5806440"/>
            <a:ext cx="1828800" cy="457200"/>
          </a:xfrm>
          <a:prstGeom prst="rect">
            <a:avLst/>
          </a:prstGeom>
          <a:noFill/>
        </p:spPr>
        <p:txBody>
          <a:bodyPr wrap="square">
            <a:spAutoFit/>
          </a:bodyPr>
          <a:lstStyle/>
          <a:p>
            <a:pPr algn="ctr">
              <a:lnSpc>
                <a:spcPct val="115000"/>
              </a:lnSpc>
            </a:pPr>
            <a:r>
              <a:rPr sz="1300" b="1" i="0">
                <a:solidFill>
                  <a:srgbClr val="F8FAFC"/>
                </a:solidFill>
                <a:latin typeface="Arial"/>
              </a:rPr>
              <a:t>3,264 MRI Scans</a:t>
            </a:r>
          </a:p>
        </p:txBody>
      </p:sp>
      <p:sp>
        <p:nvSpPr>
          <p:cNvPr id="27" name="TextBox 26"/>
          <p:cNvSpPr txBox="1"/>
          <p:nvPr/>
        </p:nvSpPr>
        <p:spPr>
          <a:xfrm>
            <a:off x="2377440" y="5486400"/>
            <a:ext cx="1828800" cy="274320"/>
          </a:xfrm>
          <a:prstGeom prst="rect">
            <a:avLst/>
          </a:prstGeom>
          <a:noFill/>
        </p:spPr>
        <p:txBody>
          <a:bodyPr wrap="square">
            <a:spAutoFit/>
          </a:bodyPr>
          <a:lstStyle/>
          <a:p>
            <a:pPr algn="ctr">
              <a:lnSpc>
                <a:spcPct val="115000"/>
              </a:lnSpc>
            </a:pPr>
            <a:r>
              <a:rPr sz="1100" b="0" i="0">
                <a:solidFill>
                  <a:srgbClr val="CBD5E1"/>
                </a:solidFill>
                <a:latin typeface="Arial"/>
              </a:rPr>
              <a:t>Training Set Partition</a:t>
            </a:r>
          </a:p>
        </p:txBody>
      </p:sp>
      <p:sp>
        <p:nvSpPr>
          <p:cNvPr id="28" name="TextBox 27"/>
          <p:cNvSpPr txBox="1"/>
          <p:nvPr/>
        </p:nvSpPr>
        <p:spPr>
          <a:xfrm>
            <a:off x="2377440" y="5806440"/>
            <a:ext cx="1828800" cy="457200"/>
          </a:xfrm>
          <a:prstGeom prst="rect">
            <a:avLst/>
          </a:prstGeom>
          <a:noFill/>
        </p:spPr>
        <p:txBody>
          <a:bodyPr wrap="square">
            <a:spAutoFit/>
          </a:bodyPr>
          <a:lstStyle/>
          <a:p>
            <a:pPr algn="ctr">
              <a:lnSpc>
                <a:spcPct val="115000"/>
              </a:lnSpc>
            </a:pPr>
            <a:r>
              <a:rPr sz="1300" b="1" i="0">
                <a:solidFill>
                  <a:srgbClr val="F8FAFC"/>
                </a:solidFill>
                <a:latin typeface="Arial"/>
              </a:rPr>
              <a:t>2,870 Scans (87.9%)</a:t>
            </a:r>
          </a:p>
        </p:txBody>
      </p:sp>
      <p:sp>
        <p:nvSpPr>
          <p:cNvPr id="29" name="TextBox 28"/>
          <p:cNvSpPr txBox="1"/>
          <p:nvPr/>
        </p:nvSpPr>
        <p:spPr>
          <a:xfrm>
            <a:off x="4297680" y="5486400"/>
            <a:ext cx="1828800" cy="274320"/>
          </a:xfrm>
          <a:prstGeom prst="rect">
            <a:avLst/>
          </a:prstGeom>
          <a:noFill/>
        </p:spPr>
        <p:txBody>
          <a:bodyPr wrap="square">
            <a:spAutoFit/>
          </a:bodyPr>
          <a:lstStyle/>
          <a:p>
            <a:pPr algn="ctr">
              <a:lnSpc>
                <a:spcPct val="115000"/>
              </a:lnSpc>
            </a:pPr>
            <a:r>
              <a:rPr sz="1100" b="0" i="0">
                <a:solidFill>
                  <a:srgbClr val="CBD5E1"/>
                </a:solidFill>
                <a:latin typeface="Arial"/>
              </a:rPr>
              <a:t>Held-Out Test Set</a:t>
            </a:r>
          </a:p>
        </p:txBody>
      </p:sp>
      <p:sp>
        <p:nvSpPr>
          <p:cNvPr id="30" name="TextBox 29"/>
          <p:cNvSpPr txBox="1"/>
          <p:nvPr/>
        </p:nvSpPr>
        <p:spPr>
          <a:xfrm>
            <a:off x="4297680" y="5806440"/>
            <a:ext cx="1828800" cy="457200"/>
          </a:xfrm>
          <a:prstGeom prst="rect">
            <a:avLst/>
          </a:prstGeom>
          <a:noFill/>
        </p:spPr>
        <p:txBody>
          <a:bodyPr wrap="square">
            <a:spAutoFit/>
          </a:bodyPr>
          <a:lstStyle/>
          <a:p>
            <a:pPr algn="ctr">
              <a:lnSpc>
                <a:spcPct val="115000"/>
              </a:lnSpc>
            </a:pPr>
            <a:r>
              <a:rPr sz="1300" b="1" i="0">
                <a:solidFill>
                  <a:srgbClr val="F8FAFC"/>
                </a:solidFill>
                <a:latin typeface="Arial"/>
              </a:rPr>
              <a:t>394 Scans (12.1%)</a:t>
            </a:r>
          </a:p>
        </p:txBody>
      </p:sp>
      <p:sp>
        <p:nvSpPr>
          <p:cNvPr id="31" name="TextBox 30"/>
          <p:cNvSpPr txBox="1"/>
          <p:nvPr/>
        </p:nvSpPr>
        <p:spPr>
          <a:xfrm>
            <a:off x="6217920" y="5486400"/>
            <a:ext cx="1828800" cy="274320"/>
          </a:xfrm>
          <a:prstGeom prst="rect">
            <a:avLst/>
          </a:prstGeom>
          <a:noFill/>
        </p:spPr>
        <p:txBody>
          <a:bodyPr wrap="square">
            <a:spAutoFit/>
          </a:bodyPr>
          <a:lstStyle/>
          <a:p>
            <a:pPr algn="ctr">
              <a:lnSpc>
                <a:spcPct val="115000"/>
              </a:lnSpc>
            </a:pPr>
            <a:r>
              <a:rPr sz="1100" b="0" i="0">
                <a:solidFill>
                  <a:srgbClr val="CBD5E1"/>
                </a:solidFill>
                <a:latin typeface="Arial"/>
              </a:rPr>
              <a:t>Native Color Profiles</a:t>
            </a:r>
          </a:p>
        </p:txBody>
      </p:sp>
      <p:sp>
        <p:nvSpPr>
          <p:cNvPr id="32" name="TextBox 31"/>
          <p:cNvSpPr txBox="1"/>
          <p:nvPr/>
        </p:nvSpPr>
        <p:spPr>
          <a:xfrm>
            <a:off x="6217920" y="5806440"/>
            <a:ext cx="1828800" cy="457200"/>
          </a:xfrm>
          <a:prstGeom prst="rect">
            <a:avLst/>
          </a:prstGeom>
          <a:noFill/>
        </p:spPr>
        <p:txBody>
          <a:bodyPr wrap="square">
            <a:spAutoFit/>
          </a:bodyPr>
          <a:lstStyle/>
          <a:p>
            <a:pPr algn="ctr">
              <a:lnSpc>
                <a:spcPct val="115000"/>
              </a:lnSpc>
            </a:pPr>
            <a:r>
              <a:rPr sz="1300" b="1" i="0">
                <a:solidFill>
                  <a:srgbClr val="F8FAFC"/>
                </a:solidFill>
                <a:latin typeface="Arial"/>
              </a:rPr>
              <a:t>RGB &amp; Grayscale</a:t>
            </a:r>
          </a:p>
        </p:txBody>
      </p:sp>
      <p:sp>
        <p:nvSpPr>
          <p:cNvPr id="33" name="TextBox 32"/>
          <p:cNvSpPr txBox="1"/>
          <p:nvPr/>
        </p:nvSpPr>
        <p:spPr>
          <a:xfrm>
            <a:off x="8138160" y="5486400"/>
            <a:ext cx="1828800" cy="274320"/>
          </a:xfrm>
          <a:prstGeom prst="rect">
            <a:avLst/>
          </a:prstGeom>
          <a:noFill/>
        </p:spPr>
        <p:txBody>
          <a:bodyPr wrap="square">
            <a:spAutoFit/>
          </a:bodyPr>
          <a:lstStyle/>
          <a:p>
            <a:pPr algn="ctr">
              <a:lnSpc>
                <a:spcPct val="115000"/>
              </a:lnSpc>
            </a:pPr>
            <a:r>
              <a:rPr sz="1100" b="0" i="0">
                <a:solidFill>
                  <a:srgbClr val="CBD5E1"/>
                </a:solidFill>
                <a:latin typeface="Arial"/>
              </a:rPr>
              <a:t>Native Resolution Range</a:t>
            </a:r>
          </a:p>
        </p:txBody>
      </p:sp>
      <p:sp>
        <p:nvSpPr>
          <p:cNvPr id="34" name="TextBox 33"/>
          <p:cNvSpPr txBox="1"/>
          <p:nvPr/>
        </p:nvSpPr>
        <p:spPr>
          <a:xfrm>
            <a:off x="8138160" y="5806440"/>
            <a:ext cx="1828800" cy="457200"/>
          </a:xfrm>
          <a:prstGeom prst="rect">
            <a:avLst/>
          </a:prstGeom>
          <a:noFill/>
        </p:spPr>
        <p:txBody>
          <a:bodyPr wrap="square">
            <a:spAutoFit/>
          </a:bodyPr>
          <a:lstStyle/>
          <a:p>
            <a:pPr algn="ctr">
              <a:lnSpc>
                <a:spcPct val="115000"/>
              </a:lnSpc>
            </a:pPr>
            <a:r>
              <a:rPr sz="1300" b="1" i="0">
                <a:solidFill>
                  <a:srgbClr val="F8FAFC"/>
                </a:solidFill>
                <a:latin typeface="Arial"/>
              </a:rPr>
              <a:t>60×60 to 512×512 px</a:t>
            </a:r>
          </a:p>
        </p:txBody>
      </p:sp>
      <p:sp>
        <p:nvSpPr>
          <p:cNvPr id="35" name="TextBox 34"/>
          <p:cNvSpPr txBox="1"/>
          <p:nvPr/>
        </p:nvSpPr>
        <p:spPr>
          <a:xfrm>
            <a:off x="10058400" y="5486400"/>
            <a:ext cx="1828800" cy="274320"/>
          </a:xfrm>
          <a:prstGeom prst="rect">
            <a:avLst/>
          </a:prstGeom>
          <a:noFill/>
        </p:spPr>
        <p:txBody>
          <a:bodyPr wrap="square">
            <a:spAutoFit/>
          </a:bodyPr>
          <a:lstStyle/>
          <a:p>
            <a:pPr algn="ctr">
              <a:lnSpc>
                <a:spcPct val="115000"/>
              </a:lnSpc>
            </a:pPr>
            <a:r>
              <a:rPr sz="1100" b="0" i="0">
                <a:solidFill>
                  <a:srgbClr val="CBD5E1"/>
                </a:solidFill>
                <a:latin typeface="Arial"/>
              </a:rPr>
              <a:t>Standardized Input Tensor</a:t>
            </a:r>
          </a:p>
        </p:txBody>
      </p:sp>
      <p:sp>
        <p:nvSpPr>
          <p:cNvPr id="36" name="TextBox 35"/>
          <p:cNvSpPr txBox="1"/>
          <p:nvPr/>
        </p:nvSpPr>
        <p:spPr>
          <a:xfrm>
            <a:off x="10058400" y="5806440"/>
            <a:ext cx="1828800" cy="457200"/>
          </a:xfrm>
          <a:prstGeom prst="rect">
            <a:avLst/>
          </a:prstGeom>
          <a:noFill/>
        </p:spPr>
        <p:txBody>
          <a:bodyPr wrap="square">
            <a:spAutoFit/>
          </a:bodyPr>
          <a:lstStyle/>
          <a:p>
            <a:pPr algn="ctr">
              <a:lnSpc>
                <a:spcPct val="115000"/>
              </a:lnSpc>
            </a:pPr>
            <a:r>
              <a:rPr sz="1300" b="1" i="0">
                <a:solidFill>
                  <a:srgbClr val="F8FAFC"/>
                </a:solidFill>
                <a:latin typeface="Arial"/>
              </a:rPr>
              <a:t>224 × 224 × 3 float32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Exploratory Data Analysis (EDA) — Statistical Audit</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Data Quality Verification &amp; Imbalance Scaling Justification</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2788920" cy="1325880"/>
          </a:xfrm>
          <a:prstGeom prst="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325880"/>
            <a:ext cx="2788920" cy="502920"/>
          </a:xfrm>
          <a:prstGeom prst="rect">
            <a:avLst/>
          </a:prstGeom>
          <a:noFill/>
        </p:spPr>
        <p:txBody>
          <a:bodyPr wrap="square">
            <a:spAutoFit/>
          </a:bodyPr>
          <a:lstStyle/>
          <a:p>
            <a:pPr algn="ctr">
              <a:lnSpc>
                <a:spcPct val="115000"/>
              </a:lnSpc>
            </a:pPr>
            <a:r>
              <a:rPr sz="2400" b="1" i="0">
                <a:solidFill>
                  <a:srgbClr val="F43F5E"/>
                </a:solidFill>
                <a:latin typeface="Arial"/>
              </a:rPr>
              <a:t>1.87 : 1</a:t>
            </a:r>
          </a:p>
        </p:txBody>
      </p:sp>
      <p:sp>
        <p:nvSpPr>
          <p:cNvPr id="10" name="TextBox 9"/>
          <p:cNvSpPr txBox="1"/>
          <p:nvPr/>
        </p:nvSpPr>
        <p:spPr>
          <a:xfrm>
            <a:off x="320040" y="1874519"/>
            <a:ext cx="2788920" cy="320040"/>
          </a:xfrm>
          <a:prstGeom prst="rect">
            <a:avLst/>
          </a:prstGeom>
          <a:noFill/>
        </p:spPr>
        <p:txBody>
          <a:bodyPr wrap="square">
            <a:spAutoFit/>
          </a:bodyPr>
          <a:lstStyle/>
          <a:p>
            <a:pPr algn="ctr">
              <a:lnSpc>
                <a:spcPct val="115000"/>
              </a:lnSpc>
            </a:pPr>
            <a:r>
              <a:rPr sz="1200" b="1" i="0">
                <a:solidFill>
                  <a:srgbClr val="F8FAFC"/>
                </a:solidFill>
                <a:latin typeface="Arial"/>
              </a:rPr>
              <a:t>Imbalance Severity</a:t>
            </a:r>
          </a:p>
        </p:txBody>
      </p:sp>
      <p:sp>
        <p:nvSpPr>
          <p:cNvPr id="11" name="TextBox 10"/>
          <p:cNvSpPr txBox="1"/>
          <p:nvPr/>
        </p:nvSpPr>
        <p:spPr>
          <a:xfrm>
            <a:off x="320040" y="2194560"/>
            <a:ext cx="2788920" cy="274320"/>
          </a:xfrm>
          <a:prstGeom prst="rect">
            <a:avLst/>
          </a:prstGeom>
          <a:noFill/>
        </p:spPr>
        <p:txBody>
          <a:bodyPr wrap="square">
            <a:spAutoFit/>
          </a:bodyPr>
          <a:lstStyle/>
          <a:p>
            <a:pPr algn="ctr">
              <a:lnSpc>
                <a:spcPct val="115000"/>
              </a:lnSpc>
            </a:pPr>
            <a:r>
              <a:rPr sz="1050" b="0" i="0">
                <a:solidFill>
                  <a:srgbClr val="CBD5E1"/>
                </a:solidFill>
                <a:latin typeface="Arial"/>
              </a:rPr>
              <a:t>Max tumor to normal ratio</a:t>
            </a:r>
          </a:p>
        </p:txBody>
      </p:sp>
      <p:sp>
        <p:nvSpPr>
          <p:cNvPr id="12" name="Rectangle 11"/>
          <p:cNvSpPr/>
          <p:nvPr/>
        </p:nvSpPr>
        <p:spPr>
          <a:xfrm>
            <a:off x="3246120" y="1234440"/>
            <a:ext cx="2788920" cy="132588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46120" y="1325880"/>
            <a:ext cx="2788920" cy="502920"/>
          </a:xfrm>
          <a:prstGeom prst="rect">
            <a:avLst/>
          </a:prstGeom>
          <a:noFill/>
        </p:spPr>
        <p:txBody>
          <a:bodyPr wrap="square">
            <a:spAutoFit/>
          </a:bodyPr>
          <a:lstStyle/>
          <a:p>
            <a:pPr algn="ctr">
              <a:lnSpc>
                <a:spcPct val="115000"/>
              </a:lnSpc>
            </a:pPr>
            <a:r>
              <a:rPr sz="2400" b="1" i="0">
                <a:solidFill>
                  <a:srgbClr val="FACC15"/>
                </a:solidFill>
                <a:latin typeface="Arial"/>
              </a:rPr>
              <a:t>±84.3 px</a:t>
            </a:r>
          </a:p>
        </p:txBody>
      </p:sp>
      <p:sp>
        <p:nvSpPr>
          <p:cNvPr id="14" name="TextBox 13"/>
          <p:cNvSpPr txBox="1"/>
          <p:nvPr/>
        </p:nvSpPr>
        <p:spPr>
          <a:xfrm>
            <a:off x="3246120" y="1874519"/>
            <a:ext cx="2788920" cy="320040"/>
          </a:xfrm>
          <a:prstGeom prst="rect">
            <a:avLst/>
          </a:prstGeom>
          <a:noFill/>
        </p:spPr>
        <p:txBody>
          <a:bodyPr wrap="square">
            <a:spAutoFit/>
          </a:bodyPr>
          <a:lstStyle/>
          <a:p>
            <a:pPr algn="ctr">
              <a:lnSpc>
                <a:spcPct val="115000"/>
              </a:lnSpc>
            </a:pPr>
            <a:r>
              <a:rPr sz="1200" b="1" i="0">
                <a:solidFill>
                  <a:srgbClr val="F8FAFC"/>
                </a:solidFill>
                <a:latin typeface="Arial"/>
              </a:rPr>
              <a:t>Width Dispersion</a:t>
            </a:r>
          </a:p>
        </p:txBody>
      </p:sp>
      <p:sp>
        <p:nvSpPr>
          <p:cNvPr id="15" name="TextBox 14"/>
          <p:cNvSpPr txBox="1"/>
          <p:nvPr/>
        </p:nvSpPr>
        <p:spPr>
          <a:xfrm>
            <a:off x="3246120" y="2194560"/>
            <a:ext cx="2788920" cy="274320"/>
          </a:xfrm>
          <a:prstGeom prst="rect">
            <a:avLst/>
          </a:prstGeom>
          <a:noFill/>
        </p:spPr>
        <p:txBody>
          <a:bodyPr wrap="square">
            <a:spAutoFit/>
          </a:bodyPr>
          <a:lstStyle/>
          <a:p>
            <a:pPr algn="ctr">
              <a:lnSpc>
                <a:spcPct val="115000"/>
              </a:lnSpc>
            </a:pPr>
            <a:r>
              <a:rPr sz="1050" b="0" i="0">
                <a:solidFill>
                  <a:srgbClr val="CBD5E1"/>
                </a:solidFill>
                <a:latin typeface="Arial"/>
              </a:rPr>
              <a:t>Standard deviation of resolution</a:t>
            </a:r>
          </a:p>
        </p:txBody>
      </p:sp>
      <p:sp>
        <p:nvSpPr>
          <p:cNvPr id="16" name="Rectangle 15"/>
          <p:cNvSpPr/>
          <p:nvPr/>
        </p:nvSpPr>
        <p:spPr>
          <a:xfrm>
            <a:off x="6172200" y="1234440"/>
            <a:ext cx="2788920" cy="132588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72200" y="1325880"/>
            <a:ext cx="2788920" cy="502920"/>
          </a:xfrm>
          <a:prstGeom prst="rect">
            <a:avLst/>
          </a:prstGeom>
          <a:noFill/>
        </p:spPr>
        <p:txBody>
          <a:bodyPr wrap="square">
            <a:spAutoFit/>
          </a:bodyPr>
          <a:lstStyle/>
          <a:p>
            <a:pPr algn="ctr">
              <a:lnSpc>
                <a:spcPct val="115000"/>
              </a:lnSpc>
            </a:pPr>
            <a:r>
              <a:rPr sz="2400" b="1" i="0">
                <a:solidFill>
                  <a:srgbClr val="10B981"/>
                </a:solidFill>
                <a:latin typeface="Arial"/>
              </a:rPr>
              <a:t>112.4 / 255</a:t>
            </a:r>
          </a:p>
        </p:txBody>
      </p:sp>
      <p:sp>
        <p:nvSpPr>
          <p:cNvPr id="18" name="TextBox 17"/>
          <p:cNvSpPr txBox="1"/>
          <p:nvPr/>
        </p:nvSpPr>
        <p:spPr>
          <a:xfrm>
            <a:off x="6172200" y="1874519"/>
            <a:ext cx="2788920" cy="320040"/>
          </a:xfrm>
          <a:prstGeom prst="rect">
            <a:avLst/>
          </a:prstGeom>
          <a:noFill/>
        </p:spPr>
        <p:txBody>
          <a:bodyPr wrap="square">
            <a:spAutoFit/>
          </a:bodyPr>
          <a:lstStyle/>
          <a:p>
            <a:pPr algn="ctr">
              <a:lnSpc>
                <a:spcPct val="115000"/>
              </a:lnSpc>
            </a:pPr>
            <a:r>
              <a:rPr sz="1200" b="1" i="0">
                <a:solidFill>
                  <a:srgbClr val="F8FAFC"/>
                </a:solidFill>
                <a:latin typeface="Arial"/>
              </a:rPr>
              <a:t>Global Mean Intensity</a:t>
            </a:r>
          </a:p>
        </p:txBody>
      </p:sp>
      <p:sp>
        <p:nvSpPr>
          <p:cNvPr id="19" name="TextBox 18"/>
          <p:cNvSpPr txBox="1"/>
          <p:nvPr/>
        </p:nvSpPr>
        <p:spPr>
          <a:xfrm>
            <a:off x="6172200" y="2194560"/>
            <a:ext cx="2788920" cy="274320"/>
          </a:xfrm>
          <a:prstGeom prst="rect">
            <a:avLst/>
          </a:prstGeom>
          <a:noFill/>
        </p:spPr>
        <p:txBody>
          <a:bodyPr wrap="square">
            <a:spAutoFit/>
          </a:bodyPr>
          <a:lstStyle/>
          <a:p>
            <a:pPr algn="ctr">
              <a:lnSpc>
                <a:spcPct val="115000"/>
              </a:lnSpc>
            </a:pPr>
            <a:r>
              <a:rPr sz="1050" b="0" i="0">
                <a:solidFill>
                  <a:srgbClr val="CBD5E1"/>
                </a:solidFill>
                <a:latin typeface="Arial"/>
              </a:rPr>
              <a:t>Full cohort RGB pixel brightness</a:t>
            </a:r>
          </a:p>
        </p:txBody>
      </p:sp>
      <p:sp>
        <p:nvSpPr>
          <p:cNvPr id="20" name="Rectangle 19"/>
          <p:cNvSpPr/>
          <p:nvPr/>
        </p:nvSpPr>
        <p:spPr>
          <a:xfrm>
            <a:off x="9098280" y="1234440"/>
            <a:ext cx="2788920" cy="132588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98280" y="1325880"/>
            <a:ext cx="2788920" cy="502920"/>
          </a:xfrm>
          <a:prstGeom prst="rect">
            <a:avLst/>
          </a:prstGeom>
          <a:noFill/>
        </p:spPr>
        <p:txBody>
          <a:bodyPr wrap="square">
            <a:spAutoFit/>
          </a:bodyPr>
          <a:lstStyle/>
          <a:p>
            <a:pPr algn="ctr">
              <a:lnSpc>
                <a:spcPct val="115000"/>
              </a:lnSpc>
            </a:pPr>
            <a:r>
              <a:rPr sz="2400" b="1" i="0">
                <a:solidFill>
                  <a:srgbClr val="06B6D4"/>
                </a:solidFill>
                <a:latin typeface="Arial"/>
              </a:rPr>
              <a:t>15 Resolved</a:t>
            </a:r>
          </a:p>
        </p:txBody>
      </p:sp>
      <p:sp>
        <p:nvSpPr>
          <p:cNvPr id="22" name="TextBox 21"/>
          <p:cNvSpPr txBox="1"/>
          <p:nvPr/>
        </p:nvSpPr>
        <p:spPr>
          <a:xfrm>
            <a:off x="9098280" y="1874519"/>
            <a:ext cx="2788920" cy="320040"/>
          </a:xfrm>
          <a:prstGeom prst="rect">
            <a:avLst/>
          </a:prstGeom>
          <a:noFill/>
        </p:spPr>
        <p:txBody>
          <a:bodyPr wrap="square">
            <a:spAutoFit/>
          </a:bodyPr>
          <a:lstStyle/>
          <a:p>
            <a:pPr algn="ctr">
              <a:lnSpc>
                <a:spcPct val="115000"/>
              </a:lnSpc>
            </a:pPr>
            <a:r>
              <a:rPr sz="1200" b="1" i="0">
                <a:solidFill>
                  <a:srgbClr val="F8FAFC"/>
                </a:solidFill>
                <a:latin typeface="Arial"/>
              </a:rPr>
              <a:t>Data Hygiene Actions</a:t>
            </a:r>
          </a:p>
        </p:txBody>
      </p:sp>
      <p:sp>
        <p:nvSpPr>
          <p:cNvPr id="23" name="TextBox 22"/>
          <p:cNvSpPr txBox="1"/>
          <p:nvPr/>
        </p:nvSpPr>
        <p:spPr>
          <a:xfrm>
            <a:off x="9098280" y="2194560"/>
            <a:ext cx="2788920" cy="274320"/>
          </a:xfrm>
          <a:prstGeom prst="rect">
            <a:avLst/>
          </a:prstGeom>
          <a:noFill/>
        </p:spPr>
        <p:txBody>
          <a:bodyPr wrap="square">
            <a:spAutoFit/>
          </a:bodyPr>
          <a:lstStyle/>
          <a:p>
            <a:pPr algn="ctr">
              <a:lnSpc>
                <a:spcPct val="115000"/>
              </a:lnSpc>
            </a:pPr>
            <a:r>
              <a:rPr sz="1050" b="0" i="0">
                <a:solidFill>
                  <a:srgbClr val="CBD5E1"/>
                </a:solidFill>
                <a:latin typeface="Arial"/>
              </a:rPr>
              <a:t>MD5 duplicates &amp; grayscale cleaned</a:t>
            </a:r>
          </a:p>
        </p:txBody>
      </p:sp>
      <p:graphicFrame>
        <p:nvGraphicFramePr>
          <p:cNvPr id="24" name="Table 23"/>
          <p:cNvGraphicFramePr>
            <a:graphicFrameLocks noGrp="1"/>
          </p:cNvGraphicFramePr>
          <p:nvPr/>
        </p:nvGraphicFramePr>
        <p:xfrm>
          <a:off x="320040" y="2697480"/>
          <a:ext cx="5623558" cy="3794760"/>
        </p:xfrm>
        <a:graphic>
          <a:graphicData uri="http://schemas.openxmlformats.org/drawingml/2006/table">
            <a:tbl>
              <a:tblPr firstRow="1" bandRow="1">
                <a:tableStyleId>{5C22544A-7EE6-4342-B048-85BDC9FD1C3A}</a:tableStyleId>
              </a:tblPr>
              <a:tblGrid>
                <a:gridCol w="1928077">
                  <a:extLst>
                    <a:ext uri="{9D8B030D-6E8A-4147-A177-3AD203B41FA5}">
                      <a16:colId xmlns:a16="http://schemas.microsoft.com/office/drawing/2014/main" val="20000"/>
                    </a:ext>
                  </a:extLst>
                </a:gridCol>
                <a:gridCol w="964038">
                  <a:extLst>
                    <a:ext uri="{9D8B030D-6E8A-4147-A177-3AD203B41FA5}">
                      <a16:colId xmlns:a16="http://schemas.microsoft.com/office/drawing/2014/main" val="20001"/>
                    </a:ext>
                  </a:extLst>
                </a:gridCol>
                <a:gridCol w="2731443">
                  <a:extLst>
                    <a:ext uri="{9D8B030D-6E8A-4147-A177-3AD203B41FA5}">
                      <a16:colId xmlns:a16="http://schemas.microsoft.com/office/drawing/2014/main" val="20002"/>
                    </a:ext>
                  </a:extLst>
                </a:gridCol>
              </a:tblGrid>
              <a:tr h="542108">
                <a:tc>
                  <a:txBody>
                    <a:bodyPr/>
                    <a:lstStyle/>
                    <a:p>
                      <a:pPr algn="ctr"/>
                      <a:r>
                        <a:rPr sz="1300" b="1">
                          <a:solidFill>
                            <a:srgbClr val="06B6D4"/>
                          </a:solidFill>
                          <a:latin typeface="Arial"/>
                        </a:rPr>
                        <a:t>Quality Check Category</a:t>
                      </a:r>
                    </a:p>
                  </a:txBody>
                  <a:tcPr>
                    <a:solidFill>
                      <a:srgbClr val="334155"/>
                    </a:solidFill>
                  </a:tcPr>
                </a:tc>
                <a:tc>
                  <a:txBody>
                    <a:bodyPr/>
                    <a:lstStyle/>
                    <a:p>
                      <a:pPr algn="ctr"/>
                      <a:r>
                        <a:rPr sz="1300" b="1">
                          <a:solidFill>
                            <a:srgbClr val="06B6D4"/>
                          </a:solidFill>
                          <a:latin typeface="Arial"/>
                        </a:rPr>
                        <a:t>Incidences</a:t>
                      </a:r>
                    </a:p>
                  </a:txBody>
                  <a:tcPr>
                    <a:solidFill>
                      <a:srgbClr val="334155"/>
                    </a:solidFill>
                  </a:tcPr>
                </a:tc>
                <a:tc>
                  <a:txBody>
                    <a:bodyPr/>
                    <a:lstStyle/>
                    <a:p>
                      <a:pPr algn="ctr"/>
                      <a:r>
                        <a:rPr sz="1300" b="1">
                          <a:solidFill>
                            <a:srgbClr val="06B6D4"/>
                          </a:solidFill>
                          <a:latin typeface="Arial"/>
                        </a:rPr>
                        <a:t>Engineering Triage Action &amp; Verified Status</a:t>
                      </a:r>
                    </a:p>
                  </a:txBody>
                  <a:tcPr>
                    <a:solidFill>
                      <a:srgbClr val="334155"/>
                    </a:solidFill>
                  </a:tcPr>
                </a:tc>
                <a:extLst>
                  <a:ext uri="{0D108BD9-81ED-4DB2-BD59-A6C34878D82A}">
                    <a16:rowId xmlns:a16="http://schemas.microsoft.com/office/drawing/2014/main" val="10000"/>
                  </a:ext>
                </a:extLst>
              </a:tr>
              <a:tr h="542108">
                <a:tc>
                  <a:txBody>
                    <a:bodyPr/>
                    <a:lstStyle/>
                    <a:p>
                      <a:pPr algn="l"/>
                      <a:r>
                        <a:rPr sz="1150">
                          <a:solidFill>
                            <a:srgbClr val="F8FAFC"/>
                          </a:solidFill>
                          <a:latin typeface="Arial"/>
                        </a:rPr>
                        <a:t>Corrupt / unreadable image file headers</a:t>
                      </a:r>
                    </a:p>
                  </a:txBody>
                  <a:tcPr>
                    <a:solidFill>
                      <a:srgbClr val="0F172A"/>
                    </a:solidFill>
                  </a:tcPr>
                </a:tc>
                <a:tc>
                  <a:txBody>
                    <a:bodyPr/>
                    <a:lstStyle/>
                    <a:p>
                      <a:pPr algn="ctr"/>
                      <a:r>
                        <a:rPr sz="1150">
                          <a:solidFill>
                            <a:srgbClr val="F8FAFC"/>
                          </a:solidFill>
                          <a:latin typeface="Arial"/>
                        </a:rPr>
                        <a:t>0 Found</a:t>
                      </a:r>
                    </a:p>
                  </a:txBody>
                  <a:tcPr>
                    <a:solidFill>
                      <a:srgbClr val="0F172A"/>
                    </a:solidFill>
                  </a:tcPr>
                </a:tc>
                <a:tc>
                  <a:txBody>
                    <a:bodyPr/>
                    <a:lstStyle/>
                    <a:p>
                      <a:pPr algn="l"/>
                      <a:r>
                        <a:rPr sz="1150">
                          <a:solidFill>
                            <a:srgbClr val="F8FAFC"/>
                          </a:solidFill>
                          <a:latin typeface="Arial"/>
                        </a:rPr>
                        <a:t>✓ Verified perfect structural file integrity</a:t>
                      </a:r>
                    </a:p>
                  </a:txBody>
                  <a:tcPr>
                    <a:solidFill>
                      <a:srgbClr val="0F172A"/>
                    </a:solidFill>
                  </a:tcPr>
                </a:tc>
                <a:extLst>
                  <a:ext uri="{0D108BD9-81ED-4DB2-BD59-A6C34878D82A}">
                    <a16:rowId xmlns:a16="http://schemas.microsoft.com/office/drawing/2014/main" val="10001"/>
                  </a:ext>
                </a:extLst>
              </a:tr>
              <a:tr h="542108">
                <a:tc>
                  <a:txBody>
                    <a:bodyPr/>
                    <a:lstStyle/>
                    <a:p>
                      <a:pPr algn="l"/>
                      <a:r>
                        <a:rPr sz="1150">
                          <a:solidFill>
                            <a:srgbClr val="F8FAFC"/>
                          </a:solidFill>
                          <a:latin typeface="Arial"/>
                        </a:rPr>
                        <a:t>Exact duplicate scans (MD5 hash match)</a:t>
                      </a:r>
                    </a:p>
                  </a:txBody>
                  <a:tcPr>
                    <a:solidFill>
                      <a:srgbClr val="1E293B"/>
                    </a:solidFill>
                  </a:tcPr>
                </a:tc>
                <a:tc>
                  <a:txBody>
                    <a:bodyPr/>
                    <a:lstStyle/>
                    <a:p>
                      <a:pPr algn="ctr"/>
                      <a:r>
                        <a:rPr sz="1150">
                          <a:solidFill>
                            <a:srgbClr val="F8FAFC"/>
                          </a:solidFill>
                          <a:latin typeface="Arial"/>
                        </a:rPr>
                        <a:t>8 Found</a:t>
                      </a:r>
                    </a:p>
                  </a:txBody>
                  <a:tcPr>
                    <a:solidFill>
                      <a:srgbClr val="1E293B"/>
                    </a:solidFill>
                  </a:tcPr>
                </a:tc>
                <a:tc>
                  <a:txBody>
                    <a:bodyPr/>
                    <a:lstStyle/>
                    <a:p>
                      <a:pPr algn="l"/>
                      <a:r>
                        <a:rPr sz="1150">
                          <a:solidFill>
                            <a:srgbClr val="F8FAFC"/>
                          </a:solidFill>
                          <a:latin typeface="Arial"/>
                        </a:rPr>
                        <a:t>Removed duplicate redundancy; retained original test index</a:t>
                      </a:r>
                    </a:p>
                  </a:txBody>
                  <a:tcPr>
                    <a:solidFill>
                      <a:srgbClr val="1E293B"/>
                    </a:solidFill>
                  </a:tcPr>
                </a:tc>
                <a:extLst>
                  <a:ext uri="{0D108BD9-81ED-4DB2-BD59-A6C34878D82A}">
                    <a16:rowId xmlns:a16="http://schemas.microsoft.com/office/drawing/2014/main" val="10002"/>
                  </a:ext>
                </a:extLst>
              </a:tr>
              <a:tr h="542108">
                <a:tc>
                  <a:txBody>
                    <a:bodyPr/>
                    <a:lstStyle/>
                    <a:p>
                      <a:pPr algn="l"/>
                      <a:r>
                        <a:rPr sz="1150">
                          <a:solidFill>
                            <a:srgbClr val="F8FAFC"/>
                          </a:solidFill>
                          <a:latin typeface="Arial"/>
                        </a:rPr>
                        <a:t>Tiny / truncated scan anomalies (&lt;2 KB)</a:t>
                      </a:r>
                    </a:p>
                  </a:txBody>
                  <a:tcPr>
                    <a:solidFill>
                      <a:srgbClr val="0F172A"/>
                    </a:solidFill>
                  </a:tcPr>
                </a:tc>
                <a:tc>
                  <a:txBody>
                    <a:bodyPr/>
                    <a:lstStyle/>
                    <a:p>
                      <a:pPr algn="ctr"/>
                      <a:r>
                        <a:rPr sz="1150">
                          <a:solidFill>
                            <a:srgbClr val="F8FAFC"/>
                          </a:solidFill>
                          <a:latin typeface="Arial"/>
                        </a:rPr>
                        <a:t>0 Found</a:t>
                      </a:r>
                    </a:p>
                  </a:txBody>
                  <a:tcPr>
                    <a:solidFill>
                      <a:srgbClr val="0F172A"/>
                    </a:solidFill>
                  </a:tcPr>
                </a:tc>
                <a:tc>
                  <a:txBody>
                    <a:bodyPr/>
                    <a:lstStyle/>
                    <a:p>
                      <a:pPr algn="l"/>
                      <a:r>
                        <a:rPr sz="1150">
                          <a:solidFill>
                            <a:srgbClr val="F8FAFC"/>
                          </a:solidFill>
                          <a:latin typeface="Arial"/>
                        </a:rPr>
                        <a:t>✓ Verified robust binary data volume</a:t>
                      </a:r>
                    </a:p>
                  </a:txBody>
                  <a:tcPr>
                    <a:solidFill>
                      <a:srgbClr val="0F172A"/>
                    </a:solidFill>
                  </a:tcPr>
                </a:tc>
                <a:extLst>
                  <a:ext uri="{0D108BD9-81ED-4DB2-BD59-A6C34878D82A}">
                    <a16:rowId xmlns:a16="http://schemas.microsoft.com/office/drawing/2014/main" val="10003"/>
                  </a:ext>
                </a:extLst>
              </a:tr>
              <a:tr h="542108">
                <a:tc>
                  <a:txBody>
                    <a:bodyPr/>
                    <a:lstStyle/>
                    <a:p>
                      <a:pPr algn="l"/>
                      <a:r>
                        <a:rPr sz="1150">
                          <a:solidFill>
                            <a:srgbClr val="F8FAFC"/>
                          </a:solidFill>
                          <a:latin typeface="Arial"/>
                        </a:rPr>
                        <a:t>Single-channel grayscale image arrays</a:t>
                      </a:r>
                    </a:p>
                  </a:txBody>
                  <a:tcPr>
                    <a:solidFill>
                      <a:srgbClr val="1E293B"/>
                    </a:solidFill>
                  </a:tcPr>
                </a:tc>
                <a:tc>
                  <a:txBody>
                    <a:bodyPr/>
                    <a:lstStyle/>
                    <a:p>
                      <a:pPr algn="ctr"/>
                      <a:r>
                        <a:rPr sz="1150">
                          <a:solidFill>
                            <a:srgbClr val="F8FAFC"/>
                          </a:solidFill>
                          <a:latin typeface="Arial"/>
                        </a:rPr>
                        <a:t>7 Found</a:t>
                      </a:r>
                    </a:p>
                  </a:txBody>
                  <a:tcPr>
                    <a:solidFill>
                      <a:srgbClr val="1E293B"/>
                    </a:solidFill>
                  </a:tcPr>
                </a:tc>
                <a:tc>
                  <a:txBody>
                    <a:bodyPr/>
                    <a:lstStyle/>
                    <a:p>
                      <a:pPr algn="l"/>
                      <a:r>
                        <a:rPr sz="1150">
                          <a:solidFill>
                            <a:srgbClr val="F8FAFC"/>
                          </a:solidFill>
                          <a:latin typeface="Arial"/>
                        </a:rPr>
                        <a:t>Auto-converted to 3-channel RGB via PIL.convert('RGB')</a:t>
                      </a:r>
                    </a:p>
                  </a:txBody>
                  <a:tcPr>
                    <a:solidFill>
                      <a:srgbClr val="1E293B"/>
                    </a:solidFill>
                  </a:tcPr>
                </a:tc>
                <a:extLst>
                  <a:ext uri="{0D108BD9-81ED-4DB2-BD59-A6C34878D82A}">
                    <a16:rowId xmlns:a16="http://schemas.microsoft.com/office/drawing/2014/main" val="10004"/>
                  </a:ext>
                </a:extLst>
              </a:tr>
              <a:tr h="542108">
                <a:tc>
                  <a:txBody>
                    <a:bodyPr/>
                    <a:lstStyle/>
                    <a:p>
                      <a:pPr algn="l"/>
                      <a:r>
                        <a:rPr sz="1150">
                          <a:solidFill>
                            <a:srgbClr val="F8FAFC"/>
                          </a:solidFill>
                          <a:latin typeface="Arial"/>
                        </a:rPr>
                        <a:t>Extreme aspect ratio deviation (H/W ∉ [0.5,3.0])</a:t>
                      </a:r>
                    </a:p>
                  </a:txBody>
                  <a:tcPr>
                    <a:solidFill>
                      <a:srgbClr val="0F172A"/>
                    </a:solidFill>
                  </a:tcPr>
                </a:tc>
                <a:tc>
                  <a:txBody>
                    <a:bodyPr/>
                    <a:lstStyle/>
                    <a:p>
                      <a:pPr algn="ctr"/>
                      <a:r>
                        <a:rPr sz="1150">
                          <a:solidFill>
                            <a:srgbClr val="F8FAFC"/>
                          </a:solidFill>
                          <a:latin typeface="Arial"/>
                        </a:rPr>
                        <a:t>3 Found</a:t>
                      </a:r>
                    </a:p>
                  </a:txBody>
                  <a:tcPr>
                    <a:solidFill>
                      <a:srgbClr val="0F172A"/>
                    </a:solidFill>
                  </a:tcPr>
                </a:tc>
                <a:tc>
                  <a:txBody>
                    <a:bodyPr/>
                    <a:lstStyle/>
                    <a:p>
                      <a:pPr algn="l"/>
                      <a:r>
                        <a:rPr sz="1150">
                          <a:solidFill>
                            <a:srgbClr val="F8FAFC"/>
                          </a:solidFill>
                          <a:latin typeface="Arial"/>
                        </a:rPr>
                        <a:t>Normalized via bicubic spatial interpolation</a:t>
                      </a:r>
                    </a:p>
                  </a:txBody>
                  <a:tcPr>
                    <a:solidFill>
                      <a:srgbClr val="0F172A"/>
                    </a:solidFill>
                  </a:tcPr>
                </a:tc>
                <a:extLst>
                  <a:ext uri="{0D108BD9-81ED-4DB2-BD59-A6C34878D82A}">
                    <a16:rowId xmlns:a16="http://schemas.microsoft.com/office/drawing/2014/main" val="10005"/>
                  </a:ext>
                </a:extLst>
              </a:tr>
              <a:tr h="542112">
                <a:tc>
                  <a:txBody>
                    <a:bodyPr/>
                    <a:lstStyle/>
                    <a:p>
                      <a:pPr algn="l"/>
                      <a:r>
                        <a:rPr sz="1150">
                          <a:solidFill>
                            <a:srgbClr val="F8FAFC"/>
                          </a:solidFill>
                          <a:latin typeface="Arial"/>
                        </a:rPr>
                        <a:t>Final verified usable modeling cohort</a:t>
                      </a:r>
                    </a:p>
                  </a:txBody>
                  <a:tcPr>
                    <a:solidFill>
                      <a:srgbClr val="1E293B"/>
                    </a:solidFill>
                  </a:tcPr>
                </a:tc>
                <a:tc>
                  <a:txBody>
                    <a:bodyPr/>
                    <a:lstStyle/>
                    <a:p>
                      <a:pPr algn="ctr"/>
                      <a:r>
                        <a:rPr sz="1150">
                          <a:solidFill>
                            <a:srgbClr val="F8FAFC"/>
                          </a:solidFill>
                          <a:latin typeface="Arial"/>
                        </a:rPr>
                        <a:t>3,249 Scans</a:t>
                      </a:r>
                    </a:p>
                  </a:txBody>
                  <a:tcPr>
                    <a:solidFill>
                      <a:srgbClr val="1E293B"/>
                    </a:solidFill>
                  </a:tcPr>
                </a:tc>
                <a:tc>
                  <a:txBody>
                    <a:bodyPr/>
                    <a:lstStyle/>
                    <a:p>
                      <a:pPr algn="l"/>
                      <a:r>
                        <a:rPr sz="1150">
                          <a:solidFill>
                            <a:srgbClr val="F8FAFC"/>
                          </a:solidFill>
                          <a:latin typeface="Arial"/>
                        </a:rPr>
                        <a:t>✓ Indexed and validated for CNN pipeline ingestion</a:t>
                      </a:r>
                    </a:p>
                  </a:txBody>
                  <a:tcPr>
                    <a:solidFill>
                      <a:srgbClr val="1E293B"/>
                    </a:solidFill>
                  </a:tcPr>
                </a:tc>
                <a:extLst>
                  <a:ext uri="{0D108BD9-81ED-4DB2-BD59-A6C34878D82A}">
                    <a16:rowId xmlns:a16="http://schemas.microsoft.com/office/drawing/2014/main" val="10006"/>
                  </a:ext>
                </a:extLst>
              </a:tr>
            </a:tbl>
          </a:graphicData>
        </a:graphic>
      </p:graphicFrame>
      <p:graphicFrame>
        <p:nvGraphicFramePr>
          <p:cNvPr id="25" name="Table 24"/>
          <p:cNvGraphicFramePr>
            <a:graphicFrameLocks noGrp="1"/>
          </p:cNvGraphicFramePr>
          <p:nvPr/>
        </p:nvGraphicFramePr>
        <p:xfrm>
          <a:off x="6263640" y="2697480"/>
          <a:ext cx="5623558" cy="2697480"/>
        </p:xfrm>
        <a:graphic>
          <a:graphicData uri="http://schemas.openxmlformats.org/drawingml/2006/table">
            <a:tbl>
              <a:tblPr firstRow="1" bandRow="1">
                <a:tableStyleId>{5C22544A-7EE6-4342-B048-85BDC9FD1C3A}</a:tableStyleId>
              </a:tblPr>
              <a:tblGrid>
                <a:gridCol w="1671869">
                  <a:extLst>
                    <a:ext uri="{9D8B030D-6E8A-4147-A177-3AD203B41FA5}">
                      <a16:colId xmlns:a16="http://schemas.microsoft.com/office/drawing/2014/main" val="20000"/>
                    </a:ext>
                  </a:extLst>
                </a:gridCol>
                <a:gridCol w="835934">
                  <a:extLst>
                    <a:ext uri="{9D8B030D-6E8A-4147-A177-3AD203B41FA5}">
                      <a16:colId xmlns:a16="http://schemas.microsoft.com/office/drawing/2014/main" val="20001"/>
                    </a:ext>
                  </a:extLst>
                </a:gridCol>
                <a:gridCol w="835934">
                  <a:extLst>
                    <a:ext uri="{9D8B030D-6E8A-4147-A177-3AD203B41FA5}">
                      <a16:colId xmlns:a16="http://schemas.microsoft.com/office/drawing/2014/main" val="20002"/>
                    </a:ext>
                  </a:extLst>
                </a:gridCol>
                <a:gridCol w="2279821">
                  <a:extLst>
                    <a:ext uri="{9D8B030D-6E8A-4147-A177-3AD203B41FA5}">
                      <a16:colId xmlns:a16="http://schemas.microsoft.com/office/drawing/2014/main" val="20003"/>
                    </a:ext>
                  </a:extLst>
                </a:gridCol>
              </a:tblGrid>
              <a:tr h="539496">
                <a:tc>
                  <a:txBody>
                    <a:bodyPr/>
                    <a:lstStyle/>
                    <a:p>
                      <a:pPr algn="ctr"/>
                      <a:r>
                        <a:rPr sz="1300" b="1">
                          <a:solidFill>
                            <a:srgbClr val="06B6D4"/>
                          </a:solidFill>
                          <a:latin typeface="Arial"/>
                        </a:rPr>
                        <a:t>Class &amp; Train Support</a:t>
                      </a:r>
                    </a:p>
                  </a:txBody>
                  <a:tcPr>
                    <a:solidFill>
                      <a:srgbClr val="334155"/>
                    </a:solidFill>
                  </a:tcPr>
                </a:tc>
                <a:tc>
                  <a:txBody>
                    <a:bodyPr/>
                    <a:lstStyle/>
                    <a:p>
                      <a:pPr algn="ctr"/>
                      <a:r>
                        <a:rPr sz="1300" b="1">
                          <a:solidFill>
                            <a:srgbClr val="06B6D4"/>
                          </a:solidFill>
                          <a:latin typeface="Arial"/>
                        </a:rPr>
                        <a:t>Mean Int.</a:t>
                      </a:r>
                    </a:p>
                  </a:txBody>
                  <a:tcPr>
                    <a:solidFill>
                      <a:srgbClr val="334155"/>
                    </a:solidFill>
                  </a:tcPr>
                </a:tc>
                <a:tc>
                  <a:txBody>
                    <a:bodyPr/>
                    <a:lstStyle/>
                    <a:p>
                      <a:pPr algn="ctr"/>
                      <a:r>
                        <a:rPr sz="1300" b="1">
                          <a:solidFill>
                            <a:srgbClr val="06B6D4"/>
                          </a:solidFill>
                          <a:latin typeface="Arial"/>
                        </a:rPr>
                        <a:t>Std Dev</a:t>
                      </a:r>
                    </a:p>
                  </a:txBody>
                  <a:tcPr>
                    <a:solidFill>
                      <a:srgbClr val="334155"/>
                    </a:solidFill>
                  </a:tcPr>
                </a:tc>
                <a:tc>
                  <a:txBody>
                    <a:bodyPr/>
                    <a:lstStyle/>
                    <a:p>
                      <a:pPr algn="ctr"/>
                      <a:r>
                        <a:rPr sz="1300" b="1">
                          <a:solidFill>
                            <a:srgbClr val="06B6D4"/>
                          </a:solidFill>
                          <a:latin typeface="Arial"/>
                        </a:rPr>
                        <a:t>Applied Inverse-Frequency Loss Weight</a:t>
                      </a:r>
                    </a:p>
                  </a:txBody>
                  <a:tcPr>
                    <a:solidFill>
                      <a:srgbClr val="334155"/>
                    </a:solidFill>
                  </a:tcPr>
                </a:tc>
                <a:extLst>
                  <a:ext uri="{0D108BD9-81ED-4DB2-BD59-A6C34878D82A}">
                    <a16:rowId xmlns:a16="http://schemas.microsoft.com/office/drawing/2014/main" val="10000"/>
                  </a:ext>
                </a:extLst>
              </a:tr>
              <a:tr h="539496">
                <a:tc>
                  <a:txBody>
                    <a:bodyPr/>
                    <a:lstStyle/>
                    <a:p>
                      <a:pPr algn="ctr"/>
                      <a:r>
                        <a:rPr sz="1150">
                          <a:solidFill>
                            <a:srgbClr val="F8FAFC"/>
                          </a:solidFill>
                          <a:latin typeface="Arial"/>
                        </a:rPr>
                        <a:t>Glioma (n=826)</a:t>
                      </a:r>
                    </a:p>
                  </a:txBody>
                  <a:tcPr>
                    <a:solidFill>
                      <a:srgbClr val="0F172A"/>
                    </a:solidFill>
                  </a:tcPr>
                </a:tc>
                <a:tc>
                  <a:txBody>
                    <a:bodyPr/>
                    <a:lstStyle/>
                    <a:p>
                      <a:pPr algn="ctr"/>
                      <a:r>
                        <a:rPr sz="1150">
                          <a:solidFill>
                            <a:srgbClr val="F8FAFC"/>
                          </a:solidFill>
                          <a:latin typeface="Arial"/>
                        </a:rPr>
                        <a:t>118.4</a:t>
                      </a:r>
                    </a:p>
                  </a:txBody>
                  <a:tcPr>
                    <a:solidFill>
                      <a:srgbClr val="0F172A"/>
                    </a:solidFill>
                  </a:tcPr>
                </a:tc>
                <a:tc>
                  <a:txBody>
                    <a:bodyPr/>
                    <a:lstStyle/>
                    <a:p>
                      <a:pPr algn="ctr"/>
                      <a:r>
                        <a:rPr sz="1150">
                          <a:solidFill>
                            <a:srgbClr val="F8FAFC"/>
                          </a:solidFill>
                          <a:latin typeface="Arial"/>
                        </a:rPr>
                        <a:t>±68.2</a:t>
                      </a:r>
                    </a:p>
                  </a:txBody>
                  <a:tcPr>
                    <a:solidFill>
                      <a:srgbClr val="0F172A"/>
                    </a:solidFill>
                  </a:tcPr>
                </a:tc>
                <a:tc>
                  <a:txBody>
                    <a:bodyPr/>
                    <a:lstStyle/>
                    <a:p>
                      <a:pPr algn="l"/>
                      <a:r>
                        <a:rPr sz="1150">
                          <a:solidFill>
                            <a:srgbClr val="F8FAFC"/>
                          </a:solidFill>
                          <a:latin typeface="Arial"/>
                        </a:rPr>
                        <a:t>0.868× (Slight down-weight)</a:t>
                      </a:r>
                    </a:p>
                  </a:txBody>
                  <a:tcPr>
                    <a:solidFill>
                      <a:srgbClr val="0F172A"/>
                    </a:solidFill>
                  </a:tcPr>
                </a:tc>
                <a:extLst>
                  <a:ext uri="{0D108BD9-81ED-4DB2-BD59-A6C34878D82A}">
                    <a16:rowId xmlns:a16="http://schemas.microsoft.com/office/drawing/2014/main" val="10001"/>
                  </a:ext>
                </a:extLst>
              </a:tr>
              <a:tr h="539496">
                <a:tc>
                  <a:txBody>
                    <a:bodyPr/>
                    <a:lstStyle/>
                    <a:p>
                      <a:pPr algn="l"/>
                      <a:r>
                        <a:rPr sz="1150">
                          <a:solidFill>
                            <a:srgbClr val="F8FAFC"/>
                          </a:solidFill>
                          <a:latin typeface="Arial"/>
                        </a:rPr>
                        <a:t>Meningioma (n=822)</a:t>
                      </a:r>
                    </a:p>
                  </a:txBody>
                  <a:tcPr>
                    <a:solidFill>
                      <a:srgbClr val="1E293B"/>
                    </a:solidFill>
                  </a:tcPr>
                </a:tc>
                <a:tc>
                  <a:txBody>
                    <a:bodyPr/>
                    <a:lstStyle/>
                    <a:p>
                      <a:pPr algn="ctr"/>
                      <a:r>
                        <a:rPr sz="1150">
                          <a:solidFill>
                            <a:srgbClr val="F8FAFC"/>
                          </a:solidFill>
                          <a:latin typeface="Arial"/>
                        </a:rPr>
                        <a:t>122.7</a:t>
                      </a:r>
                    </a:p>
                  </a:txBody>
                  <a:tcPr>
                    <a:solidFill>
                      <a:srgbClr val="1E293B"/>
                    </a:solidFill>
                  </a:tcPr>
                </a:tc>
                <a:tc>
                  <a:txBody>
                    <a:bodyPr/>
                    <a:lstStyle/>
                    <a:p>
                      <a:pPr algn="ctr"/>
                      <a:r>
                        <a:rPr sz="1150">
                          <a:solidFill>
                            <a:srgbClr val="F8FAFC"/>
                          </a:solidFill>
                          <a:latin typeface="Arial"/>
                        </a:rPr>
                        <a:t>±71.6</a:t>
                      </a:r>
                    </a:p>
                  </a:txBody>
                  <a:tcPr>
                    <a:solidFill>
                      <a:srgbClr val="1E293B"/>
                    </a:solidFill>
                  </a:tcPr>
                </a:tc>
                <a:tc>
                  <a:txBody>
                    <a:bodyPr/>
                    <a:lstStyle/>
                    <a:p>
                      <a:pPr algn="l"/>
                      <a:r>
                        <a:rPr sz="1150">
                          <a:solidFill>
                            <a:srgbClr val="F8FAFC"/>
                          </a:solidFill>
                          <a:latin typeface="Arial"/>
                        </a:rPr>
                        <a:t>0.873× (Slight down-weight)</a:t>
                      </a:r>
                    </a:p>
                  </a:txBody>
                  <a:tcPr>
                    <a:solidFill>
                      <a:srgbClr val="1E293B"/>
                    </a:solidFill>
                  </a:tcPr>
                </a:tc>
                <a:extLst>
                  <a:ext uri="{0D108BD9-81ED-4DB2-BD59-A6C34878D82A}">
                    <a16:rowId xmlns:a16="http://schemas.microsoft.com/office/drawing/2014/main" val="10002"/>
                  </a:ext>
                </a:extLst>
              </a:tr>
              <a:tr h="539496">
                <a:tc>
                  <a:txBody>
                    <a:bodyPr/>
                    <a:lstStyle/>
                    <a:p>
                      <a:pPr algn="l"/>
                      <a:r>
                        <a:rPr sz="1150">
                          <a:solidFill>
                            <a:srgbClr val="F8FAFC"/>
                          </a:solidFill>
                          <a:latin typeface="Arial"/>
                        </a:rPr>
                        <a:t>Pituitary (n=827)</a:t>
                      </a:r>
                    </a:p>
                  </a:txBody>
                  <a:tcPr>
                    <a:solidFill>
                      <a:srgbClr val="0F172A"/>
                    </a:solidFill>
                  </a:tcPr>
                </a:tc>
                <a:tc>
                  <a:txBody>
                    <a:bodyPr/>
                    <a:lstStyle/>
                    <a:p>
                      <a:pPr algn="ctr"/>
                      <a:r>
                        <a:rPr sz="1150">
                          <a:solidFill>
                            <a:srgbClr val="F8FAFC"/>
                          </a:solidFill>
                          <a:latin typeface="Arial"/>
                        </a:rPr>
                        <a:t>109.3</a:t>
                      </a:r>
                    </a:p>
                  </a:txBody>
                  <a:tcPr>
                    <a:solidFill>
                      <a:srgbClr val="0F172A"/>
                    </a:solidFill>
                  </a:tcPr>
                </a:tc>
                <a:tc>
                  <a:txBody>
                    <a:bodyPr/>
                    <a:lstStyle/>
                    <a:p>
                      <a:pPr algn="ctr"/>
                      <a:r>
                        <a:rPr sz="1150">
                          <a:solidFill>
                            <a:srgbClr val="F8FAFC"/>
                          </a:solidFill>
                          <a:latin typeface="Arial"/>
                        </a:rPr>
                        <a:t>±65.1</a:t>
                      </a:r>
                    </a:p>
                  </a:txBody>
                  <a:tcPr>
                    <a:solidFill>
                      <a:srgbClr val="0F172A"/>
                    </a:solidFill>
                  </a:tcPr>
                </a:tc>
                <a:tc>
                  <a:txBody>
                    <a:bodyPr/>
                    <a:lstStyle/>
                    <a:p>
                      <a:pPr algn="l"/>
                      <a:r>
                        <a:rPr sz="1150">
                          <a:solidFill>
                            <a:srgbClr val="F8FAFC"/>
                          </a:solidFill>
                          <a:latin typeface="Arial"/>
                        </a:rPr>
                        <a:t>0.867× (Slight down-weight)</a:t>
                      </a:r>
                    </a:p>
                  </a:txBody>
                  <a:tcPr>
                    <a:solidFill>
                      <a:srgbClr val="0F172A"/>
                    </a:solidFill>
                  </a:tcPr>
                </a:tc>
                <a:extLst>
                  <a:ext uri="{0D108BD9-81ED-4DB2-BD59-A6C34878D82A}">
                    <a16:rowId xmlns:a16="http://schemas.microsoft.com/office/drawing/2014/main" val="10003"/>
                  </a:ext>
                </a:extLst>
              </a:tr>
              <a:tr h="539496">
                <a:tc>
                  <a:txBody>
                    <a:bodyPr/>
                    <a:lstStyle/>
                    <a:p>
                      <a:pPr algn="l"/>
                      <a:r>
                        <a:rPr sz="1150">
                          <a:solidFill>
                            <a:srgbClr val="F8FAFC"/>
                          </a:solidFill>
                          <a:latin typeface="Arial"/>
                        </a:rPr>
                        <a:t>No Tumor (n=395)</a:t>
                      </a:r>
                    </a:p>
                  </a:txBody>
                  <a:tcPr>
                    <a:solidFill>
                      <a:srgbClr val="1E293B"/>
                    </a:solidFill>
                  </a:tcPr>
                </a:tc>
                <a:tc>
                  <a:txBody>
                    <a:bodyPr/>
                    <a:lstStyle/>
                    <a:p>
                      <a:pPr algn="ctr"/>
                      <a:r>
                        <a:rPr sz="1150">
                          <a:solidFill>
                            <a:srgbClr val="F8FAFC"/>
                          </a:solidFill>
                          <a:latin typeface="Arial"/>
                        </a:rPr>
                        <a:t>98.1</a:t>
                      </a:r>
                    </a:p>
                  </a:txBody>
                  <a:tcPr>
                    <a:solidFill>
                      <a:srgbClr val="1E293B"/>
                    </a:solidFill>
                  </a:tcPr>
                </a:tc>
                <a:tc>
                  <a:txBody>
                    <a:bodyPr/>
                    <a:lstStyle/>
                    <a:p>
                      <a:pPr algn="ctr"/>
                      <a:r>
                        <a:rPr sz="1150">
                          <a:solidFill>
                            <a:srgbClr val="F8FAFC"/>
                          </a:solidFill>
                          <a:latin typeface="Arial"/>
                        </a:rPr>
                        <a:t>±59.4</a:t>
                      </a:r>
                    </a:p>
                  </a:txBody>
                  <a:tcPr>
                    <a:solidFill>
                      <a:srgbClr val="1E293B"/>
                    </a:solidFill>
                  </a:tcPr>
                </a:tc>
                <a:tc>
                  <a:txBody>
                    <a:bodyPr/>
                    <a:lstStyle/>
                    <a:p>
                      <a:pPr algn="l"/>
                      <a:r>
                        <a:rPr sz="1150">
                          <a:solidFill>
                            <a:srgbClr val="F8FAFC"/>
                          </a:solidFill>
                          <a:latin typeface="Arial"/>
                        </a:rPr>
                        <a:t>1.816× (DOUBLED GRADIENT SCALING)</a:t>
                      </a:r>
                    </a:p>
                  </a:txBody>
                  <a:tcPr>
                    <a:solidFill>
                      <a:srgbClr val="1E293B"/>
                    </a:solidFill>
                  </a:tcPr>
                </a:tc>
                <a:extLst>
                  <a:ext uri="{0D108BD9-81ED-4DB2-BD59-A6C34878D82A}">
                    <a16:rowId xmlns:a16="http://schemas.microsoft.com/office/drawing/2014/main" val="10004"/>
                  </a:ext>
                </a:extLst>
              </a:tr>
            </a:tbl>
          </a:graphicData>
        </a:graphic>
      </p:graphicFrame>
      <p:sp>
        <p:nvSpPr>
          <p:cNvPr id="26" name="Rectangle 25"/>
          <p:cNvSpPr/>
          <p:nvPr/>
        </p:nvSpPr>
        <p:spPr>
          <a:xfrm>
            <a:off x="6263640" y="5486400"/>
            <a:ext cx="5623560" cy="100584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63640" y="5486400"/>
            <a:ext cx="562356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46520" y="5577840"/>
            <a:ext cx="5257800" cy="365760"/>
          </a:xfrm>
          <a:prstGeom prst="rect">
            <a:avLst/>
          </a:prstGeom>
          <a:noFill/>
        </p:spPr>
        <p:txBody>
          <a:bodyPr wrap="square">
            <a:spAutoFit/>
          </a:bodyPr>
          <a:lstStyle/>
          <a:p>
            <a:pPr algn="l">
              <a:lnSpc>
                <a:spcPct val="115000"/>
              </a:lnSpc>
            </a:pPr>
            <a:r>
              <a:rPr sz="1500" b="1" i="0">
                <a:solidFill>
                  <a:srgbClr val="FACC15"/>
                </a:solidFill>
                <a:latin typeface="Arial"/>
              </a:rPr>
              <a:t>Engineering Justification for Loss Weighting</a:t>
            </a:r>
          </a:p>
        </p:txBody>
      </p:sp>
      <p:sp>
        <p:nvSpPr>
          <p:cNvPr id="29" name="TextBox 28"/>
          <p:cNvSpPr txBox="1"/>
          <p:nvPr/>
        </p:nvSpPr>
        <p:spPr>
          <a:xfrm>
            <a:off x="6446520" y="6080760"/>
            <a:ext cx="5257800" cy="320040"/>
          </a:xfrm>
          <a:prstGeom prst="rect">
            <a:avLst/>
          </a:prstGeom>
          <a:noFill/>
        </p:spPr>
        <p:txBody>
          <a:bodyPr wrap="square">
            <a:spAutoFit/>
          </a:bodyPr>
          <a:lstStyle/>
          <a:p>
            <a:pPr>
              <a:lnSpc>
                <a:spcPct val="115000"/>
              </a:lnSpc>
              <a:spcAft>
                <a:spcPts val="0"/>
              </a:spcAft>
            </a:pPr>
            <a:r>
              <a:rPr sz="1100">
                <a:solidFill>
                  <a:srgbClr val="F8FAFC"/>
                </a:solidFill>
                <a:latin typeface="Arial"/>
              </a:rPr>
              <a:t>📌  Why Not Synthetic Oversampling? SMOTE or basic cloning creates biophysically absurd synthetic MRI textures. Inverse-frequency weighting (w_i = N / (K · N_i)) scales gradient magnitude directly, forcing deep boundary convergence without polluting real scan 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EDA — Empirical Resolution &amp; Intensity Distributions</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Visual Verification of Scanner Acquisition Heterogeneity and Tissue Contrast Variance</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5623560" cy="525780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5623560" cy="4572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98448"/>
            <a:ext cx="5303520" cy="365760"/>
          </a:xfrm>
          <a:prstGeom prst="rect">
            <a:avLst/>
          </a:prstGeom>
          <a:noFill/>
        </p:spPr>
        <p:txBody>
          <a:bodyPr wrap="square">
            <a:spAutoFit/>
          </a:bodyPr>
          <a:lstStyle/>
          <a:p>
            <a:pPr algn="l">
              <a:lnSpc>
                <a:spcPct val="115000"/>
              </a:lnSpc>
            </a:pPr>
            <a:r>
              <a:rPr sz="1500" b="1" i="0">
                <a:solidFill>
                  <a:srgbClr val="06B6D4"/>
                </a:solidFill>
                <a:latin typeface="Arial"/>
              </a:rPr>
              <a:t>Native Scan Spatial Dimensions &amp; Aspect Ratio Spread</a:t>
            </a:r>
          </a:p>
        </p:txBody>
      </p:sp>
      <p:sp>
        <p:nvSpPr>
          <p:cNvPr id="11" name="Rectangle 10"/>
          <p:cNvSpPr/>
          <p:nvPr/>
        </p:nvSpPr>
        <p:spPr>
          <a:xfrm>
            <a:off x="411480" y="1737360"/>
            <a:ext cx="5440679" cy="329184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_size_distribution.png"/>
          <p:cNvPicPr>
            <a:picLocks noChangeAspect="1"/>
          </p:cNvPicPr>
          <p:nvPr/>
        </p:nvPicPr>
        <p:blipFill>
          <a:blip r:embed="rId2"/>
          <a:stretch>
            <a:fillRect/>
          </a:stretch>
        </p:blipFill>
        <p:spPr>
          <a:xfrm>
            <a:off x="457200" y="1783080"/>
            <a:ext cx="5349240" cy="3200400"/>
          </a:xfrm>
          <a:prstGeom prst="rect">
            <a:avLst/>
          </a:prstGeom>
        </p:spPr>
      </p:pic>
      <p:sp>
        <p:nvSpPr>
          <p:cNvPr id="13" name="TextBox 12"/>
          <p:cNvSpPr txBox="1"/>
          <p:nvPr/>
        </p:nvSpPr>
        <p:spPr>
          <a:xfrm>
            <a:off x="457200" y="5074920"/>
            <a:ext cx="5349240" cy="1325880"/>
          </a:xfrm>
          <a:prstGeom prst="rect">
            <a:avLst/>
          </a:prstGeom>
          <a:noFill/>
        </p:spPr>
        <p:txBody>
          <a:bodyPr wrap="square">
            <a:spAutoFit/>
          </a:bodyPr>
          <a:lstStyle/>
          <a:p>
            <a:pPr algn="l">
              <a:lnSpc>
                <a:spcPct val="115000"/>
              </a:lnSpc>
            </a:pPr>
            <a:r>
              <a:rPr sz="1200" b="0" i="0">
                <a:solidFill>
                  <a:srgbClr val="F8FAFC"/>
                </a:solidFill>
                <a:latin typeface="Arial"/>
              </a:rPr>
              <a:t>Visual Observation: Scatter plots and boxplots reveal severe spatial dimension spread spanning from 60×60px up to 512×512px with standard deviation of ±84.3 px. This proves empirical justification for standardized 224×224 tensor reshaping before feeding spatial layers.</a:t>
            </a:r>
          </a:p>
        </p:txBody>
      </p:sp>
      <p:sp>
        <p:nvSpPr>
          <p:cNvPr id="14" name="Rectangle 13"/>
          <p:cNvSpPr/>
          <p:nvPr/>
        </p:nvSpPr>
        <p:spPr>
          <a:xfrm>
            <a:off x="6263640" y="1234440"/>
            <a:ext cx="5623560" cy="525780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234440"/>
            <a:ext cx="5623560" cy="4572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1298448"/>
            <a:ext cx="5303520" cy="365760"/>
          </a:xfrm>
          <a:prstGeom prst="rect">
            <a:avLst/>
          </a:prstGeom>
          <a:noFill/>
        </p:spPr>
        <p:txBody>
          <a:bodyPr wrap="square">
            <a:spAutoFit/>
          </a:bodyPr>
          <a:lstStyle/>
          <a:p>
            <a:pPr algn="l">
              <a:lnSpc>
                <a:spcPct val="115000"/>
              </a:lnSpc>
            </a:pPr>
            <a:r>
              <a:rPr sz="1500" b="1" i="0">
                <a:solidFill>
                  <a:srgbClr val="FACC15"/>
                </a:solidFill>
                <a:latin typeface="Arial"/>
              </a:rPr>
              <a:t>Per-Class RGB Channel Intensity Distributions</a:t>
            </a:r>
          </a:p>
        </p:txBody>
      </p:sp>
      <p:sp>
        <p:nvSpPr>
          <p:cNvPr id="17" name="Rectangle 16"/>
          <p:cNvSpPr/>
          <p:nvPr/>
        </p:nvSpPr>
        <p:spPr>
          <a:xfrm>
            <a:off x="6355080" y="1737360"/>
            <a:ext cx="5440679" cy="329184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pixel_intensity_histograms.png"/>
          <p:cNvPicPr>
            <a:picLocks noChangeAspect="1"/>
          </p:cNvPicPr>
          <p:nvPr/>
        </p:nvPicPr>
        <p:blipFill>
          <a:blip r:embed="rId3"/>
          <a:stretch>
            <a:fillRect/>
          </a:stretch>
        </p:blipFill>
        <p:spPr>
          <a:xfrm>
            <a:off x="6400800" y="1783080"/>
            <a:ext cx="5349240" cy="3200400"/>
          </a:xfrm>
          <a:prstGeom prst="rect">
            <a:avLst/>
          </a:prstGeom>
        </p:spPr>
      </p:pic>
      <p:sp>
        <p:nvSpPr>
          <p:cNvPr id="19" name="TextBox 18"/>
          <p:cNvSpPr txBox="1"/>
          <p:nvPr/>
        </p:nvSpPr>
        <p:spPr>
          <a:xfrm>
            <a:off x="6400800" y="5074920"/>
            <a:ext cx="5349240" cy="1325880"/>
          </a:xfrm>
          <a:prstGeom prst="rect">
            <a:avLst/>
          </a:prstGeom>
          <a:noFill/>
        </p:spPr>
        <p:txBody>
          <a:bodyPr wrap="square">
            <a:spAutoFit/>
          </a:bodyPr>
          <a:lstStyle/>
          <a:p>
            <a:pPr algn="l">
              <a:lnSpc>
                <a:spcPct val="115000"/>
              </a:lnSpc>
            </a:pPr>
            <a:r>
              <a:rPr sz="1200" b="0" i="0">
                <a:solidFill>
                  <a:srgbClr val="F8FAFC"/>
                </a:solidFill>
                <a:latin typeface="Arial"/>
              </a:rPr>
              <a:t>Visual Observation: Overlaid RGB pixel intensity histogram curves confirm broad intra-class intensity overlap across multi-center scanners. Standard linear scaling destroys local features; this validates local adaptive CLAHE contrast enhancement in LAB color space.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Data Preprocessing &amp; Biophysical Justifications</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5-Stage Deterministic Preprocessing Pipeline &amp; Rigorous Augmentation Defense</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4937760" cy="91440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548640" cy="9144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1463040"/>
            <a:ext cx="548640" cy="457200"/>
          </a:xfrm>
          <a:prstGeom prst="rect">
            <a:avLst/>
          </a:prstGeom>
          <a:noFill/>
        </p:spPr>
        <p:txBody>
          <a:bodyPr wrap="square">
            <a:spAutoFit/>
          </a:bodyPr>
          <a:lstStyle/>
          <a:p>
            <a:pPr algn="ctr">
              <a:lnSpc>
                <a:spcPct val="115000"/>
              </a:lnSpc>
            </a:pPr>
            <a:r>
              <a:rPr sz="1800" b="1" i="0">
                <a:solidFill>
                  <a:srgbClr val="0F172A"/>
                </a:solidFill>
                <a:latin typeface="Arial"/>
              </a:rPr>
              <a:t>1</a:t>
            </a:r>
          </a:p>
        </p:txBody>
      </p:sp>
      <p:sp>
        <p:nvSpPr>
          <p:cNvPr id="11" name="TextBox 10"/>
          <p:cNvSpPr txBox="1"/>
          <p:nvPr/>
        </p:nvSpPr>
        <p:spPr>
          <a:xfrm>
            <a:off x="1005840" y="1325880"/>
            <a:ext cx="4160520" cy="320040"/>
          </a:xfrm>
          <a:prstGeom prst="rect">
            <a:avLst/>
          </a:prstGeom>
          <a:noFill/>
        </p:spPr>
        <p:txBody>
          <a:bodyPr wrap="square">
            <a:spAutoFit/>
          </a:bodyPr>
          <a:lstStyle/>
          <a:p>
            <a:pPr algn="l">
              <a:lnSpc>
                <a:spcPct val="115000"/>
              </a:lnSpc>
            </a:pPr>
            <a:r>
              <a:rPr sz="1400" b="1" i="0">
                <a:solidFill>
                  <a:srgbClr val="F8FAFC"/>
                </a:solidFill>
                <a:latin typeface="Arial"/>
              </a:rPr>
              <a:t>Raw Intracranial MRI Input</a:t>
            </a:r>
          </a:p>
        </p:txBody>
      </p:sp>
      <p:sp>
        <p:nvSpPr>
          <p:cNvPr id="12" name="TextBox 11"/>
          <p:cNvSpPr txBox="1"/>
          <p:nvPr/>
        </p:nvSpPr>
        <p:spPr>
          <a:xfrm>
            <a:off x="1005840" y="1645920"/>
            <a:ext cx="4160520" cy="457200"/>
          </a:xfrm>
          <a:prstGeom prst="rect">
            <a:avLst/>
          </a:prstGeom>
          <a:noFill/>
        </p:spPr>
        <p:txBody>
          <a:bodyPr wrap="square">
            <a:spAutoFit/>
          </a:bodyPr>
          <a:lstStyle/>
          <a:p>
            <a:pPr algn="l">
              <a:lnSpc>
                <a:spcPct val="115000"/>
              </a:lnSpc>
            </a:pPr>
            <a:r>
              <a:rPr sz="1150" b="0" i="0">
                <a:solidFill>
                  <a:srgbClr val="CBD5E1"/>
                </a:solidFill>
                <a:latin typeface="Arial"/>
              </a:rPr>
              <a:t>Ingests heterogeneous multi-center scans (60–512px resolution; JPEG, PNG format)</a:t>
            </a:r>
          </a:p>
        </p:txBody>
      </p:sp>
      <p:sp>
        <p:nvSpPr>
          <p:cNvPr id="13" name="Rectangle 12"/>
          <p:cNvSpPr/>
          <p:nvPr/>
        </p:nvSpPr>
        <p:spPr>
          <a:xfrm>
            <a:off x="320040" y="2286000"/>
            <a:ext cx="4937760" cy="9144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0040" y="2286000"/>
            <a:ext cx="548640" cy="914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0040" y="2514600"/>
            <a:ext cx="548640" cy="457200"/>
          </a:xfrm>
          <a:prstGeom prst="rect">
            <a:avLst/>
          </a:prstGeom>
          <a:noFill/>
        </p:spPr>
        <p:txBody>
          <a:bodyPr wrap="square">
            <a:spAutoFit/>
          </a:bodyPr>
          <a:lstStyle/>
          <a:p>
            <a:pPr algn="ctr">
              <a:lnSpc>
                <a:spcPct val="115000"/>
              </a:lnSpc>
            </a:pPr>
            <a:r>
              <a:rPr sz="1800" b="1" i="0">
                <a:solidFill>
                  <a:srgbClr val="0F172A"/>
                </a:solidFill>
                <a:latin typeface="Arial"/>
              </a:rPr>
              <a:t>2</a:t>
            </a:r>
          </a:p>
        </p:txBody>
      </p:sp>
      <p:sp>
        <p:nvSpPr>
          <p:cNvPr id="16" name="TextBox 15"/>
          <p:cNvSpPr txBox="1"/>
          <p:nvPr/>
        </p:nvSpPr>
        <p:spPr>
          <a:xfrm>
            <a:off x="1005840" y="2377440"/>
            <a:ext cx="4160520" cy="320040"/>
          </a:xfrm>
          <a:prstGeom prst="rect">
            <a:avLst/>
          </a:prstGeom>
          <a:noFill/>
        </p:spPr>
        <p:txBody>
          <a:bodyPr wrap="square">
            <a:spAutoFit/>
          </a:bodyPr>
          <a:lstStyle/>
          <a:p>
            <a:pPr algn="l">
              <a:lnSpc>
                <a:spcPct val="115000"/>
              </a:lnSpc>
            </a:pPr>
            <a:r>
              <a:rPr sz="1400" b="1" i="0">
                <a:solidFill>
                  <a:srgbClr val="F8FAFC"/>
                </a:solidFill>
                <a:latin typeface="Arial"/>
              </a:rPr>
              <a:t>Adaptive CLAHE Enhancement</a:t>
            </a:r>
          </a:p>
        </p:txBody>
      </p:sp>
      <p:sp>
        <p:nvSpPr>
          <p:cNvPr id="17" name="TextBox 16"/>
          <p:cNvSpPr txBox="1"/>
          <p:nvPr/>
        </p:nvSpPr>
        <p:spPr>
          <a:xfrm>
            <a:off x="1005840" y="2697480"/>
            <a:ext cx="4160520" cy="457200"/>
          </a:xfrm>
          <a:prstGeom prst="rect">
            <a:avLst/>
          </a:prstGeom>
          <a:noFill/>
        </p:spPr>
        <p:txBody>
          <a:bodyPr wrap="square">
            <a:spAutoFit/>
          </a:bodyPr>
          <a:lstStyle/>
          <a:p>
            <a:pPr algn="l">
              <a:lnSpc>
                <a:spcPct val="115000"/>
              </a:lnSpc>
            </a:pPr>
            <a:r>
              <a:rPr sz="1150" b="0" i="0">
                <a:solidFill>
                  <a:srgbClr val="CBD5E1"/>
                </a:solidFill>
                <a:latin typeface="Arial"/>
              </a:rPr>
              <a:t>Applied specifically to LAB L-channel (clipLimit=2.0, tileGridSize=8×8)</a:t>
            </a:r>
          </a:p>
        </p:txBody>
      </p:sp>
      <p:sp>
        <p:nvSpPr>
          <p:cNvPr id="18" name="Rectangle 17"/>
          <p:cNvSpPr/>
          <p:nvPr/>
        </p:nvSpPr>
        <p:spPr>
          <a:xfrm>
            <a:off x="320040" y="3337560"/>
            <a:ext cx="4937760" cy="91440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0040" y="3337560"/>
            <a:ext cx="548640" cy="914400"/>
          </a:xfrm>
          <a:prstGeom prst="rect">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0040" y="3566160"/>
            <a:ext cx="548640" cy="457200"/>
          </a:xfrm>
          <a:prstGeom prst="rect">
            <a:avLst/>
          </a:prstGeom>
          <a:noFill/>
        </p:spPr>
        <p:txBody>
          <a:bodyPr wrap="square">
            <a:spAutoFit/>
          </a:bodyPr>
          <a:lstStyle/>
          <a:p>
            <a:pPr algn="ctr">
              <a:lnSpc>
                <a:spcPct val="115000"/>
              </a:lnSpc>
            </a:pPr>
            <a:r>
              <a:rPr sz="1800" b="1" i="0">
                <a:solidFill>
                  <a:srgbClr val="0F172A"/>
                </a:solidFill>
                <a:latin typeface="Arial"/>
              </a:rPr>
              <a:t>3</a:t>
            </a:r>
          </a:p>
        </p:txBody>
      </p:sp>
      <p:sp>
        <p:nvSpPr>
          <p:cNvPr id="21" name="TextBox 20"/>
          <p:cNvSpPr txBox="1"/>
          <p:nvPr/>
        </p:nvSpPr>
        <p:spPr>
          <a:xfrm>
            <a:off x="1005840" y="3429000"/>
            <a:ext cx="4160520" cy="320040"/>
          </a:xfrm>
          <a:prstGeom prst="rect">
            <a:avLst/>
          </a:prstGeom>
          <a:noFill/>
        </p:spPr>
        <p:txBody>
          <a:bodyPr wrap="square">
            <a:spAutoFit/>
          </a:bodyPr>
          <a:lstStyle/>
          <a:p>
            <a:pPr algn="l">
              <a:lnSpc>
                <a:spcPct val="115000"/>
              </a:lnSpc>
            </a:pPr>
            <a:r>
              <a:rPr sz="1400" b="1" i="0">
                <a:solidFill>
                  <a:srgbClr val="F8FAFC"/>
                </a:solidFill>
                <a:latin typeface="Arial"/>
              </a:rPr>
              <a:t>Bicubic Spatial Interpolation</a:t>
            </a:r>
          </a:p>
        </p:txBody>
      </p:sp>
      <p:sp>
        <p:nvSpPr>
          <p:cNvPr id="22" name="TextBox 21"/>
          <p:cNvSpPr txBox="1"/>
          <p:nvPr/>
        </p:nvSpPr>
        <p:spPr>
          <a:xfrm>
            <a:off x="1005840" y="3749039"/>
            <a:ext cx="4160520" cy="457200"/>
          </a:xfrm>
          <a:prstGeom prst="rect">
            <a:avLst/>
          </a:prstGeom>
          <a:noFill/>
        </p:spPr>
        <p:txBody>
          <a:bodyPr wrap="square">
            <a:spAutoFit/>
          </a:bodyPr>
          <a:lstStyle/>
          <a:p>
            <a:pPr algn="l">
              <a:lnSpc>
                <a:spcPct val="115000"/>
              </a:lnSpc>
            </a:pPr>
            <a:r>
              <a:rPr sz="1150" b="0" i="0">
                <a:solidFill>
                  <a:srgbClr val="CBD5E1"/>
                </a:solidFill>
                <a:latin typeface="Arial"/>
              </a:rPr>
              <a:t>Resizes image smoothly to uniform 256×256 px intermediate resolution basis</a:t>
            </a:r>
          </a:p>
        </p:txBody>
      </p:sp>
      <p:sp>
        <p:nvSpPr>
          <p:cNvPr id="23" name="Rectangle 22"/>
          <p:cNvSpPr/>
          <p:nvPr/>
        </p:nvSpPr>
        <p:spPr>
          <a:xfrm>
            <a:off x="320040" y="4389120"/>
            <a:ext cx="4937760" cy="914400"/>
          </a:xfrm>
          <a:prstGeom prst="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20040" y="4389120"/>
            <a:ext cx="548640" cy="914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20040" y="4617720"/>
            <a:ext cx="548640" cy="457200"/>
          </a:xfrm>
          <a:prstGeom prst="rect">
            <a:avLst/>
          </a:prstGeom>
          <a:noFill/>
        </p:spPr>
        <p:txBody>
          <a:bodyPr wrap="square">
            <a:spAutoFit/>
          </a:bodyPr>
          <a:lstStyle/>
          <a:p>
            <a:pPr algn="ctr">
              <a:lnSpc>
                <a:spcPct val="115000"/>
              </a:lnSpc>
            </a:pPr>
            <a:r>
              <a:rPr sz="1800" b="1" i="0">
                <a:solidFill>
                  <a:srgbClr val="0F172A"/>
                </a:solidFill>
                <a:latin typeface="Arial"/>
              </a:rPr>
              <a:t>4</a:t>
            </a:r>
          </a:p>
        </p:txBody>
      </p:sp>
      <p:sp>
        <p:nvSpPr>
          <p:cNvPr id="26" name="TextBox 25"/>
          <p:cNvSpPr txBox="1"/>
          <p:nvPr/>
        </p:nvSpPr>
        <p:spPr>
          <a:xfrm>
            <a:off x="1005840" y="4480559"/>
            <a:ext cx="4160520" cy="320040"/>
          </a:xfrm>
          <a:prstGeom prst="rect">
            <a:avLst/>
          </a:prstGeom>
          <a:noFill/>
        </p:spPr>
        <p:txBody>
          <a:bodyPr wrap="square">
            <a:spAutoFit/>
          </a:bodyPr>
          <a:lstStyle/>
          <a:p>
            <a:pPr algn="l">
              <a:lnSpc>
                <a:spcPct val="115000"/>
              </a:lnSpc>
            </a:pPr>
            <a:r>
              <a:rPr sz="1400" b="1" i="0">
                <a:solidFill>
                  <a:srgbClr val="F8FAFC"/>
                </a:solidFill>
                <a:latin typeface="Arial"/>
              </a:rPr>
              <a:t>Biophysical Augmentation</a:t>
            </a:r>
          </a:p>
        </p:txBody>
      </p:sp>
      <p:sp>
        <p:nvSpPr>
          <p:cNvPr id="27" name="TextBox 26"/>
          <p:cNvSpPr txBox="1"/>
          <p:nvPr/>
        </p:nvSpPr>
        <p:spPr>
          <a:xfrm>
            <a:off x="1005840" y="4800600"/>
            <a:ext cx="4160520" cy="457200"/>
          </a:xfrm>
          <a:prstGeom prst="rect">
            <a:avLst/>
          </a:prstGeom>
          <a:noFill/>
        </p:spPr>
        <p:txBody>
          <a:bodyPr wrap="square">
            <a:spAutoFit/>
          </a:bodyPr>
          <a:lstStyle/>
          <a:p>
            <a:pPr algn="l">
              <a:lnSpc>
                <a:spcPct val="115000"/>
              </a:lnSpc>
            </a:pPr>
            <a:r>
              <a:rPr sz="1150" b="0" i="0">
                <a:solidFill>
                  <a:srgbClr val="CBD5E1"/>
                </a:solidFill>
                <a:latin typeface="Arial"/>
              </a:rPr>
              <a:t>Training only: H-Flip (p=0.5), Random Rotation (±15°), Center Crop to 224×224 px</a:t>
            </a:r>
          </a:p>
        </p:txBody>
      </p:sp>
      <p:sp>
        <p:nvSpPr>
          <p:cNvPr id="28" name="Rectangle 27"/>
          <p:cNvSpPr/>
          <p:nvPr/>
        </p:nvSpPr>
        <p:spPr>
          <a:xfrm>
            <a:off x="320040" y="5440679"/>
            <a:ext cx="4937760" cy="914400"/>
          </a:xfrm>
          <a:prstGeom prst="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5440679"/>
            <a:ext cx="548640" cy="91440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0040" y="5669279"/>
            <a:ext cx="548640" cy="457200"/>
          </a:xfrm>
          <a:prstGeom prst="rect">
            <a:avLst/>
          </a:prstGeom>
          <a:noFill/>
        </p:spPr>
        <p:txBody>
          <a:bodyPr wrap="square">
            <a:spAutoFit/>
          </a:bodyPr>
          <a:lstStyle/>
          <a:p>
            <a:pPr algn="ctr">
              <a:lnSpc>
                <a:spcPct val="115000"/>
              </a:lnSpc>
            </a:pPr>
            <a:r>
              <a:rPr sz="1800" b="1" i="0">
                <a:solidFill>
                  <a:srgbClr val="0F172A"/>
                </a:solidFill>
                <a:latin typeface="Arial"/>
              </a:rPr>
              <a:t>5</a:t>
            </a:r>
          </a:p>
        </p:txBody>
      </p:sp>
      <p:sp>
        <p:nvSpPr>
          <p:cNvPr id="31" name="TextBox 30"/>
          <p:cNvSpPr txBox="1"/>
          <p:nvPr/>
        </p:nvSpPr>
        <p:spPr>
          <a:xfrm>
            <a:off x="1005840" y="5532119"/>
            <a:ext cx="4160520" cy="320040"/>
          </a:xfrm>
          <a:prstGeom prst="rect">
            <a:avLst/>
          </a:prstGeom>
          <a:noFill/>
        </p:spPr>
        <p:txBody>
          <a:bodyPr wrap="square">
            <a:spAutoFit/>
          </a:bodyPr>
          <a:lstStyle/>
          <a:p>
            <a:pPr algn="l">
              <a:lnSpc>
                <a:spcPct val="115000"/>
              </a:lnSpc>
            </a:pPr>
            <a:r>
              <a:rPr sz="1400" b="1" i="0">
                <a:solidFill>
                  <a:srgbClr val="F8FAFC"/>
                </a:solidFill>
                <a:latin typeface="Arial"/>
              </a:rPr>
              <a:t>ImageNet Tensor Normalization</a:t>
            </a:r>
          </a:p>
        </p:txBody>
      </p:sp>
      <p:sp>
        <p:nvSpPr>
          <p:cNvPr id="32" name="TextBox 31"/>
          <p:cNvSpPr txBox="1"/>
          <p:nvPr/>
        </p:nvSpPr>
        <p:spPr>
          <a:xfrm>
            <a:off x="1005840" y="5852159"/>
            <a:ext cx="4160520" cy="457200"/>
          </a:xfrm>
          <a:prstGeom prst="rect">
            <a:avLst/>
          </a:prstGeom>
          <a:noFill/>
        </p:spPr>
        <p:txBody>
          <a:bodyPr wrap="square">
            <a:spAutoFit/>
          </a:bodyPr>
          <a:lstStyle/>
          <a:p>
            <a:pPr algn="l">
              <a:lnSpc>
                <a:spcPct val="115000"/>
              </a:lnSpc>
            </a:pPr>
            <a:r>
              <a:rPr sz="1150" b="0" i="0">
                <a:solidFill>
                  <a:srgbClr val="CBD5E1"/>
                </a:solidFill>
                <a:latin typeface="Arial"/>
              </a:rPr>
              <a:t>Converts to float32 tensor; matches backbone distribution: μ=[.485,.456,.406]</a:t>
            </a:r>
          </a:p>
        </p:txBody>
      </p:sp>
      <p:sp>
        <p:nvSpPr>
          <p:cNvPr id="33" name="Rectangle 32"/>
          <p:cNvSpPr/>
          <p:nvPr/>
        </p:nvSpPr>
        <p:spPr>
          <a:xfrm>
            <a:off x="5440680" y="1234440"/>
            <a:ext cx="6446520" cy="525780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440680" y="1234440"/>
            <a:ext cx="644652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23560" y="1325880"/>
            <a:ext cx="6080759" cy="365760"/>
          </a:xfrm>
          <a:prstGeom prst="rect">
            <a:avLst/>
          </a:prstGeom>
          <a:noFill/>
        </p:spPr>
        <p:txBody>
          <a:bodyPr wrap="square">
            <a:spAutoFit/>
          </a:bodyPr>
          <a:lstStyle/>
          <a:p>
            <a:pPr algn="l">
              <a:lnSpc>
                <a:spcPct val="115000"/>
              </a:lnSpc>
            </a:pPr>
            <a:r>
              <a:rPr sz="1500" b="1" i="0">
                <a:solidFill>
                  <a:srgbClr val="06B6D4"/>
                </a:solidFill>
                <a:latin typeface="Arial"/>
              </a:rPr>
              <a:t>Biophysical &amp; Technical Justification Matrix</a:t>
            </a:r>
          </a:p>
        </p:txBody>
      </p:sp>
      <p:sp>
        <p:nvSpPr>
          <p:cNvPr id="36" name="TextBox 35"/>
          <p:cNvSpPr txBox="1"/>
          <p:nvPr/>
        </p:nvSpPr>
        <p:spPr>
          <a:xfrm>
            <a:off x="5623560" y="1828800"/>
            <a:ext cx="6080759" cy="4572000"/>
          </a:xfrm>
          <a:prstGeom prst="rect">
            <a:avLst/>
          </a:prstGeom>
          <a:noFill/>
        </p:spPr>
        <p:txBody>
          <a:bodyPr wrap="square">
            <a:spAutoFit/>
          </a:bodyPr>
          <a:lstStyle/>
          <a:p>
            <a:pPr>
              <a:lnSpc>
                <a:spcPct val="115000"/>
              </a:lnSpc>
              <a:spcAft>
                <a:spcPts val="1000"/>
              </a:spcAft>
            </a:pPr>
            <a:r>
              <a:rPr sz="1150">
                <a:solidFill>
                  <a:srgbClr val="F8FAFC"/>
                </a:solidFill>
                <a:latin typeface="Arial"/>
              </a:rPr>
              <a:t>▸  Why CLAHE exclusively in LAB Lightness space? Global equalization stretches background air noise and foreground tissue identically. CLAHE calculates localized histograms across 8×8 contextual tiles, capping amplification at clipLimit=2.0. Applying this strictly to the L-channel preserves chromatic a/b equilibrium, preventing artificial color shift.</a:t>
            </a:r>
          </a:p>
          <a:p>
            <a:pPr>
              <a:lnSpc>
                <a:spcPct val="115000"/>
              </a:lnSpc>
              <a:spcAft>
                <a:spcPts val="1000"/>
              </a:spcAft>
            </a:pPr>
            <a:r>
              <a:rPr sz="1150">
                <a:solidFill>
                  <a:srgbClr val="F8FAFC"/>
                </a:solidFill>
                <a:latin typeface="Arial"/>
              </a:rPr>
              <a:t>▸  Why Bicubic over Bilinear or Nearest-Neighbor resizing? Nearest-neighbor introduces jagged pixelation blocks at lesion boundaries. Bilinear interpolation blurs delicate diagnostic gradients. Bicubic 4×4 cubic spline interpolation preserves sub-pixel sharpness vital for early edge detector kernels.</a:t>
            </a:r>
          </a:p>
          <a:p>
            <a:pPr>
              <a:lnSpc>
                <a:spcPct val="115000"/>
              </a:lnSpc>
              <a:spcAft>
                <a:spcPts val="1000"/>
              </a:spcAft>
            </a:pPr>
            <a:r>
              <a:rPr sz="1150">
                <a:solidFill>
                  <a:srgbClr val="F8FAFC"/>
                </a:solidFill>
                <a:latin typeface="Arial"/>
              </a:rPr>
              <a:t>▸  Why Horizontal Flip ✓, but Vertical Flip ✗ Excluded? Brain anatomy exhibits neuroanatomical bilateral symmetry across cortical hemispheres; horizontal mirroring represents valid clinical presentations. Conversely, inverted cerebral structures (cerebellum positioned superior to cerebral cortex) NEVER occur in MRI protocols and would corrupt spatial feature learning.</a:t>
            </a:r>
          </a:p>
          <a:p>
            <a:pPr>
              <a:lnSpc>
                <a:spcPct val="115000"/>
              </a:lnSpc>
              <a:spcAft>
                <a:spcPts val="1000"/>
              </a:spcAft>
            </a:pPr>
            <a:r>
              <a:rPr sz="1150">
                <a:solidFill>
                  <a:srgbClr val="F8FAFC"/>
                </a:solidFill>
                <a:latin typeface="Arial"/>
              </a:rPr>
              <a:t>▸  Why exclude Color Jitter, Elastic Deformation &amp; Gaussian Blur ✗? MRI T1 contrast encodes proton relaxation biophysics, not ambient photography; jitter corrupts diagnostic enhancement intensity. Elastic warping distorts tumor morphology, while artificial blur negates our CLAHE contrast sharpening.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Model Architecture — Attention-Gated ResNet-34</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34-Layer Residual Backbone · Non-Vanishing Gradient Math · Parameter Efficiency</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320040" y="1234440"/>
          <a:ext cx="11567159" cy="3352800"/>
        </p:xfrm>
        <a:graphic>
          <a:graphicData uri="http://schemas.openxmlformats.org/drawingml/2006/table">
            <a:tbl>
              <a:tblPr firstRow="1" bandRow="1">
                <a:tableStyleId>{5C22544A-7EE6-4342-B048-85BDC9FD1C3A}</a:tableStyleId>
              </a:tblPr>
              <a:tblGrid>
                <a:gridCol w="2356273">
                  <a:extLst>
                    <a:ext uri="{9D8B030D-6E8A-4147-A177-3AD203B41FA5}">
                      <a16:colId xmlns:a16="http://schemas.microsoft.com/office/drawing/2014/main" val="20000"/>
                    </a:ext>
                  </a:extLst>
                </a:gridCol>
                <a:gridCol w="5355166">
                  <a:extLst>
                    <a:ext uri="{9D8B030D-6E8A-4147-A177-3AD203B41FA5}">
                      <a16:colId xmlns:a16="http://schemas.microsoft.com/office/drawing/2014/main" val="20001"/>
                    </a:ext>
                  </a:extLst>
                </a:gridCol>
                <a:gridCol w="1927860">
                  <a:extLst>
                    <a:ext uri="{9D8B030D-6E8A-4147-A177-3AD203B41FA5}">
                      <a16:colId xmlns:a16="http://schemas.microsoft.com/office/drawing/2014/main" val="20002"/>
                    </a:ext>
                  </a:extLst>
                </a:gridCol>
                <a:gridCol w="1927860">
                  <a:extLst>
                    <a:ext uri="{9D8B030D-6E8A-4147-A177-3AD203B41FA5}">
                      <a16:colId xmlns:a16="http://schemas.microsoft.com/office/drawing/2014/main" val="20003"/>
                    </a:ext>
                  </a:extLst>
                </a:gridCol>
              </a:tblGrid>
              <a:tr h="411480">
                <a:tc>
                  <a:txBody>
                    <a:bodyPr/>
                    <a:lstStyle/>
                    <a:p>
                      <a:pPr algn="ctr"/>
                      <a:r>
                        <a:rPr sz="1300" b="1">
                          <a:solidFill>
                            <a:srgbClr val="06B6D4"/>
                          </a:solidFill>
                          <a:latin typeface="Arial"/>
                        </a:rPr>
                        <a:t>Backbone Stage</a:t>
                      </a:r>
                    </a:p>
                  </a:txBody>
                  <a:tcPr>
                    <a:solidFill>
                      <a:srgbClr val="334155"/>
                    </a:solidFill>
                  </a:tcPr>
                </a:tc>
                <a:tc>
                  <a:txBody>
                    <a:bodyPr/>
                    <a:lstStyle/>
                    <a:p>
                      <a:pPr algn="ctr"/>
                      <a:r>
                        <a:rPr sz="1300" b="1">
                          <a:solidFill>
                            <a:srgbClr val="06B6D4"/>
                          </a:solidFill>
                          <a:latin typeface="Arial"/>
                        </a:rPr>
                        <a:t>Mathematical Operations &amp; Residual Block Architecture</a:t>
                      </a:r>
                    </a:p>
                  </a:txBody>
                  <a:tcPr>
                    <a:solidFill>
                      <a:srgbClr val="334155"/>
                    </a:solidFill>
                  </a:tcPr>
                </a:tc>
                <a:tc>
                  <a:txBody>
                    <a:bodyPr/>
                    <a:lstStyle/>
                    <a:p>
                      <a:pPr algn="ctr"/>
                      <a:r>
                        <a:rPr sz="1300" b="1">
                          <a:solidFill>
                            <a:srgbClr val="06B6D4"/>
                          </a:solidFill>
                          <a:latin typeface="Arial"/>
                        </a:rPr>
                        <a:t>Channel Evolution</a:t>
                      </a:r>
                    </a:p>
                  </a:txBody>
                  <a:tcPr>
                    <a:solidFill>
                      <a:srgbClr val="334155"/>
                    </a:solidFill>
                  </a:tcPr>
                </a:tc>
                <a:tc>
                  <a:txBody>
                    <a:bodyPr/>
                    <a:lstStyle/>
                    <a:p>
                      <a:pPr algn="ctr"/>
                      <a:r>
                        <a:rPr sz="1300" b="1">
                          <a:solidFill>
                            <a:srgbClr val="06B6D4"/>
                          </a:solidFill>
                          <a:latin typeface="Arial"/>
                        </a:rPr>
                        <a:t>Output Tensor Shape</a:t>
                      </a:r>
                    </a:p>
                  </a:txBody>
                  <a:tcPr>
                    <a:solidFill>
                      <a:srgbClr val="334155"/>
                    </a:solidFill>
                  </a:tcPr>
                </a:tc>
                <a:extLst>
                  <a:ext uri="{0D108BD9-81ED-4DB2-BD59-A6C34878D82A}">
                    <a16:rowId xmlns:a16="http://schemas.microsoft.com/office/drawing/2014/main" val="10000"/>
                  </a:ext>
                </a:extLst>
              </a:tr>
              <a:tr h="411480">
                <a:tc>
                  <a:txBody>
                    <a:bodyPr/>
                    <a:lstStyle/>
                    <a:p>
                      <a:pPr algn="l"/>
                      <a:r>
                        <a:rPr sz="1150">
                          <a:solidFill>
                            <a:srgbClr val="F8FAFC"/>
                          </a:solidFill>
                          <a:latin typeface="Arial"/>
                        </a:rPr>
                        <a:t>Stem Stage (conv1)</a:t>
                      </a:r>
                    </a:p>
                  </a:txBody>
                  <a:tcPr>
                    <a:solidFill>
                      <a:srgbClr val="0F172A"/>
                    </a:solidFill>
                  </a:tcPr>
                </a:tc>
                <a:tc>
                  <a:txBody>
                    <a:bodyPr/>
                    <a:lstStyle/>
                    <a:p>
                      <a:pPr algn="l"/>
                      <a:r>
                        <a:rPr sz="1150">
                          <a:solidFill>
                            <a:srgbClr val="F8FAFC"/>
                          </a:solidFill>
                          <a:latin typeface="Arial"/>
                        </a:rPr>
                        <a:t>1× Conv(7×7, 64, stride=2) + BN + ReLU + MaxPool(3×3, s=2)</a:t>
                      </a:r>
                    </a:p>
                  </a:txBody>
                  <a:tcPr>
                    <a:solidFill>
                      <a:srgbClr val="0F172A"/>
                    </a:solidFill>
                  </a:tcPr>
                </a:tc>
                <a:tc>
                  <a:txBody>
                    <a:bodyPr/>
                    <a:lstStyle/>
                    <a:p>
                      <a:pPr algn="ctr"/>
                      <a:r>
                        <a:rPr sz="1150">
                          <a:solidFill>
                            <a:srgbClr val="F8FAFC"/>
                          </a:solidFill>
                          <a:latin typeface="Arial"/>
                        </a:rPr>
                        <a:t>3 → 64 ch</a:t>
                      </a:r>
                    </a:p>
                  </a:txBody>
                  <a:tcPr>
                    <a:solidFill>
                      <a:srgbClr val="0F172A"/>
                    </a:solidFill>
                  </a:tcPr>
                </a:tc>
                <a:tc>
                  <a:txBody>
                    <a:bodyPr/>
                    <a:lstStyle/>
                    <a:p>
                      <a:pPr algn="l"/>
                      <a:r>
                        <a:rPr sz="1150">
                          <a:solidFill>
                            <a:srgbClr val="F8FAFC"/>
                          </a:solidFill>
                          <a:latin typeface="Arial"/>
                        </a:rPr>
                        <a:t>[B, 64, 56, 56]</a:t>
                      </a:r>
                    </a:p>
                  </a:txBody>
                  <a:tcPr>
                    <a:solidFill>
                      <a:srgbClr val="0F172A"/>
                    </a:solidFill>
                  </a:tcPr>
                </a:tc>
                <a:extLst>
                  <a:ext uri="{0D108BD9-81ED-4DB2-BD59-A6C34878D82A}">
                    <a16:rowId xmlns:a16="http://schemas.microsoft.com/office/drawing/2014/main" val="10001"/>
                  </a:ext>
                </a:extLst>
              </a:tr>
              <a:tr h="411480">
                <a:tc>
                  <a:txBody>
                    <a:bodyPr/>
                    <a:lstStyle/>
                    <a:p>
                      <a:pPr algn="l"/>
                      <a:r>
                        <a:rPr sz="1150">
                          <a:solidFill>
                            <a:srgbClr val="F8FAFC"/>
                          </a:solidFill>
                          <a:latin typeface="Arial"/>
                        </a:rPr>
                        <a:t>conv2_x (layer1)</a:t>
                      </a:r>
                    </a:p>
                  </a:txBody>
                  <a:tcPr>
                    <a:solidFill>
                      <a:srgbClr val="1E293B"/>
                    </a:solidFill>
                  </a:tcPr>
                </a:tc>
                <a:tc>
                  <a:txBody>
                    <a:bodyPr/>
                    <a:lstStyle/>
                    <a:p>
                      <a:pPr algn="l"/>
                      <a:r>
                        <a:rPr sz="1150">
                          <a:solidFill>
                            <a:srgbClr val="F8FAFC"/>
                          </a:solidFill>
                          <a:latin typeface="Arial"/>
                        </a:rPr>
                        <a:t>3 × BasicBlock [2 × Conv(3×3, 64) + Identity Skip Connection]</a:t>
                      </a:r>
                    </a:p>
                  </a:txBody>
                  <a:tcPr>
                    <a:solidFill>
                      <a:srgbClr val="1E293B"/>
                    </a:solidFill>
                  </a:tcPr>
                </a:tc>
                <a:tc>
                  <a:txBody>
                    <a:bodyPr/>
                    <a:lstStyle/>
                    <a:p>
                      <a:pPr algn="ctr"/>
                      <a:r>
                        <a:rPr sz="1150">
                          <a:solidFill>
                            <a:srgbClr val="F8FAFC"/>
                          </a:solidFill>
                          <a:latin typeface="Arial"/>
                        </a:rPr>
                        <a:t>64 → 64 ch</a:t>
                      </a:r>
                    </a:p>
                  </a:txBody>
                  <a:tcPr>
                    <a:solidFill>
                      <a:srgbClr val="1E293B"/>
                    </a:solidFill>
                  </a:tcPr>
                </a:tc>
                <a:tc>
                  <a:txBody>
                    <a:bodyPr/>
                    <a:lstStyle/>
                    <a:p>
                      <a:pPr algn="l"/>
                      <a:r>
                        <a:rPr sz="1150">
                          <a:solidFill>
                            <a:srgbClr val="F8FAFC"/>
                          </a:solidFill>
                          <a:latin typeface="Arial"/>
                        </a:rPr>
                        <a:t>[B, 64, 56, 56]</a:t>
                      </a:r>
                    </a:p>
                  </a:txBody>
                  <a:tcPr>
                    <a:solidFill>
                      <a:srgbClr val="1E293B"/>
                    </a:solidFill>
                  </a:tcPr>
                </a:tc>
                <a:extLst>
                  <a:ext uri="{0D108BD9-81ED-4DB2-BD59-A6C34878D82A}">
                    <a16:rowId xmlns:a16="http://schemas.microsoft.com/office/drawing/2014/main" val="10002"/>
                  </a:ext>
                </a:extLst>
              </a:tr>
              <a:tr h="411480">
                <a:tc>
                  <a:txBody>
                    <a:bodyPr/>
                    <a:lstStyle/>
                    <a:p>
                      <a:pPr algn="l"/>
                      <a:r>
                        <a:rPr sz="1150">
                          <a:solidFill>
                            <a:srgbClr val="F8FAFC"/>
                          </a:solidFill>
                          <a:latin typeface="Arial"/>
                        </a:rPr>
                        <a:t>conv3_x (layer2)</a:t>
                      </a:r>
                    </a:p>
                  </a:txBody>
                  <a:tcPr>
                    <a:solidFill>
                      <a:srgbClr val="0F172A"/>
                    </a:solidFill>
                  </a:tcPr>
                </a:tc>
                <a:tc>
                  <a:txBody>
                    <a:bodyPr/>
                    <a:lstStyle/>
                    <a:p>
                      <a:pPr algn="l"/>
                      <a:r>
                        <a:rPr sz="1150">
                          <a:solidFill>
                            <a:srgbClr val="F8FAFC"/>
                          </a:solidFill>
                          <a:latin typeface="Arial"/>
                        </a:rPr>
                        <a:t>4 × BasicBlock [2 × Conv(3×3, 128, s=2) + Conv(1×1, 128) Skip]</a:t>
                      </a:r>
                    </a:p>
                  </a:txBody>
                  <a:tcPr>
                    <a:solidFill>
                      <a:srgbClr val="0F172A"/>
                    </a:solidFill>
                  </a:tcPr>
                </a:tc>
                <a:tc>
                  <a:txBody>
                    <a:bodyPr/>
                    <a:lstStyle/>
                    <a:p>
                      <a:pPr algn="ctr"/>
                      <a:r>
                        <a:rPr sz="1150">
                          <a:solidFill>
                            <a:srgbClr val="F8FAFC"/>
                          </a:solidFill>
                          <a:latin typeface="Arial"/>
                        </a:rPr>
                        <a:t>64 → 128 ch</a:t>
                      </a:r>
                    </a:p>
                  </a:txBody>
                  <a:tcPr>
                    <a:solidFill>
                      <a:srgbClr val="0F172A"/>
                    </a:solidFill>
                  </a:tcPr>
                </a:tc>
                <a:tc>
                  <a:txBody>
                    <a:bodyPr/>
                    <a:lstStyle/>
                    <a:p>
                      <a:pPr algn="l"/>
                      <a:r>
                        <a:rPr sz="1150">
                          <a:solidFill>
                            <a:srgbClr val="F8FAFC"/>
                          </a:solidFill>
                          <a:latin typeface="Arial"/>
                        </a:rPr>
                        <a:t>[B, 128, 28, 28]</a:t>
                      </a:r>
                    </a:p>
                  </a:txBody>
                  <a:tcPr>
                    <a:solidFill>
                      <a:srgbClr val="0F172A"/>
                    </a:solidFill>
                  </a:tcPr>
                </a:tc>
                <a:extLst>
                  <a:ext uri="{0D108BD9-81ED-4DB2-BD59-A6C34878D82A}">
                    <a16:rowId xmlns:a16="http://schemas.microsoft.com/office/drawing/2014/main" val="10003"/>
                  </a:ext>
                </a:extLst>
              </a:tr>
              <a:tr h="411480">
                <a:tc>
                  <a:txBody>
                    <a:bodyPr/>
                    <a:lstStyle/>
                    <a:p>
                      <a:pPr algn="l"/>
                      <a:r>
                        <a:rPr sz="1150">
                          <a:solidFill>
                            <a:srgbClr val="F8FAFC"/>
                          </a:solidFill>
                          <a:latin typeface="Arial"/>
                        </a:rPr>
                        <a:t>conv4_x (layer3)</a:t>
                      </a:r>
                    </a:p>
                  </a:txBody>
                  <a:tcPr>
                    <a:solidFill>
                      <a:srgbClr val="1E293B"/>
                    </a:solidFill>
                  </a:tcPr>
                </a:tc>
                <a:tc>
                  <a:txBody>
                    <a:bodyPr/>
                    <a:lstStyle/>
                    <a:p>
                      <a:pPr algn="l"/>
                      <a:r>
                        <a:rPr sz="1150">
                          <a:solidFill>
                            <a:srgbClr val="F8FAFC"/>
                          </a:solidFill>
                          <a:latin typeface="Arial"/>
                        </a:rPr>
                        <a:t>6 × BasicBlock [2 × Conv(3×3, 256, s=2) + Conv(1×1, 256) Skip]</a:t>
                      </a:r>
                    </a:p>
                  </a:txBody>
                  <a:tcPr>
                    <a:solidFill>
                      <a:srgbClr val="1E293B"/>
                    </a:solidFill>
                  </a:tcPr>
                </a:tc>
                <a:tc>
                  <a:txBody>
                    <a:bodyPr/>
                    <a:lstStyle/>
                    <a:p>
                      <a:pPr algn="ctr"/>
                      <a:r>
                        <a:rPr sz="1150">
                          <a:solidFill>
                            <a:srgbClr val="F8FAFC"/>
                          </a:solidFill>
                          <a:latin typeface="Arial"/>
                        </a:rPr>
                        <a:t>128 → 256 ch</a:t>
                      </a:r>
                    </a:p>
                  </a:txBody>
                  <a:tcPr>
                    <a:solidFill>
                      <a:srgbClr val="1E293B"/>
                    </a:solidFill>
                  </a:tcPr>
                </a:tc>
                <a:tc>
                  <a:txBody>
                    <a:bodyPr/>
                    <a:lstStyle/>
                    <a:p>
                      <a:pPr algn="l"/>
                      <a:r>
                        <a:rPr sz="1150">
                          <a:solidFill>
                            <a:srgbClr val="F8FAFC"/>
                          </a:solidFill>
                          <a:latin typeface="Arial"/>
                        </a:rPr>
                        <a:t>[B, 256, 14, 14]</a:t>
                      </a:r>
                    </a:p>
                  </a:txBody>
                  <a:tcPr>
                    <a:solidFill>
                      <a:srgbClr val="1E293B"/>
                    </a:solidFill>
                  </a:tcPr>
                </a:tc>
                <a:extLst>
                  <a:ext uri="{0D108BD9-81ED-4DB2-BD59-A6C34878D82A}">
                    <a16:rowId xmlns:a16="http://schemas.microsoft.com/office/drawing/2014/main" val="10004"/>
                  </a:ext>
                </a:extLst>
              </a:tr>
              <a:tr h="411480">
                <a:tc>
                  <a:txBody>
                    <a:bodyPr/>
                    <a:lstStyle/>
                    <a:p>
                      <a:pPr algn="l"/>
                      <a:r>
                        <a:rPr sz="1150">
                          <a:solidFill>
                            <a:srgbClr val="F8FAFC"/>
                          </a:solidFill>
                          <a:latin typeface="Arial"/>
                        </a:rPr>
                        <a:t>conv5_x (layer4)</a:t>
                      </a:r>
                    </a:p>
                  </a:txBody>
                  <a:tcPr>
                    <a:solidFill>
                      <a:srgbClr val="0F172A"/>
                    </a:solidFill>
                  </a:tcPr>
                </a:tc>
                <a:tc>
                  <a:txBody>
                    <a:bodyPr/>
                    <a:lstStyle/>
                    <a:p>
                      <a:pPr algn="l"/>
                      <a:r>
                        <a:rPr sz="1150">
                          <a:solidFill>
                            <a:srgbClr val="F8FAFC"/>
                          </a:solidFill>
                          <a:latin typeface="Arial"/>
                        </a:rPr>
                        <a:t>3 × BasicBlock [2 × Conv(3×3, 512, s=2) + Conv(1×1, 512) Skip]</a:t>
                      </a:r>
                    </a:p>
                  </a:txBody>
                  <a:tcPr>
                    <a:solidFill>
                      <a:srgbClr val="0F172A"/>
                    </a:solidFill>
                  </a:tcPr>
                </a:tc>
                <a:tc>
                  <a:txBody>
                    <a:bodyPr/>
                    <a:lstStyle/>
                    <a:p>
                      <a:pPr algn="ctr"/>
                      <a:r>
                        <a:rPr sz="1150">
                          <a:solidFill>
                            <a:srgbClr val="F8FAFC"/>
                          </a:solidFill>
                          <a:latin typeface="Arial"/>
                        </a:rPr>
                        <a:t>256 → 512 ch</a:t>
                      </a:r>
                    </a:p>
                  </a:txBody>
                  <a:tcPr>
                    <a:solidFill>
                      <a:srgbClr val="0F172A"/>
                    </a:solidFill>
                  </a:tcPr>
                </a:tc>
                <a:tc>
                  <a:txBody>
                    <a:bodyPr/>
                    <a:lstStyle/>
                    <a:p>
                      <a:pPr algn="l"/>
                      <a:r>
                        <a:rPr sz="1150">
                          <a:solidFill>
                            <a:srgbClr val="F8FAFC"/>
                          </a:solidFill>
                          <a:latin typeface="Arial"/>
                        </a:rPr>
                        <a:t>[B, 512, 7, 7]</a:t>
                      </a:r>
                    </a:p>
                  </a:txBody>
                  <a:tcPr>
                    <a:solidFill>
                      <a:srgbClr val="0F172A"/>
                    </a:solidFill>
                  </a:tcPr>
                </a:tc>
                <a:extLst>
                  <a:ext uri="{0D108BD9-81ED-4DB2-BD59-A6C34878D82A}">
                    <a16:rowId xmlns:a16="http://schemas.microsoft.com/office/drawing/2014/main" val="10005"/>
                  </a:ext>
                </a:extLst>
              </a:tr>
              <a:tr h="411480">
                <a:tc>
                  <a:txBody>
                    <a:bodyPr/>
                    <a:lstStyle/>
                    <a:p>
                      <a:pPr algn="l"/>
                      <a:r>
                        <a:rPr sz="1150">
                          <a:solidFill>
                            <a:srgbClr val="F8FAFC"/>
                          </a:solidFill>
                          <a:latin typeface="Arial"/>
                        </a:rPr>
                        <a:t>★ Spatial Attn Gate</a:t>
                      </a:r>
                    </a:p>
                  </a:txBody>
                  <a:tcPr>
                    <a:solidFill>
                      <a:srgbClr val="1E293B"/>
                    </a:solidFill>
                  </a:tcPr>
                </a:tc>
                <a:tc>
                  <a:txBody>
                    <a:bodyPr/>
                    <a:lstStyle/>
                    <a:p>
                      <a:pPr algn="l"/>
                      <a:r>
                        <a:rPr sz="1150">
                          <a:solidFill>
                            <a:srgbClr val="F8FAFC"/>
                          </a:solidFill>
                          <a:latin typeface="Arial"/>
                        </a:rPr>
                        <a:t>Dual Bottleneck: Conv1×1(512→64) → BN → ReLU → Conv1×1(64→1) → Sigmoid</a:t>
                      </a:r>
                    </a:p>
                  </a:txBody>
                  <a:tcPr>
                    <a:solidFill>
                      <a:srgbClr val="1E293B"/>
                    </a:solidFill>
                  </a:tcPr>
                </a:tc>
                <a:tc>
                  <a:txBody>
                    <a:bodyPr/>
                    <a:lstStyle/>
                    <a:p>
                      <a:pPr algn="ctr"/>
                      <a:r>
                        <a:rPr sz="1150">
                          <a:solidFill>
                            <a:srgbClr val="F8FAFC"/>
                          </a:solidFill>
                          <a:latin typeface="Arial"/>
                        </a:rPr>
                        <a:t>512 → 1 → 512</a:t>
                      </a:r>
                    </a:p>
                  </a:txBody>
                  <a:tcPr>
                    <a:solidFill>
                      <a:srgbClr val="1E293B"/>
                    </a:solidFill>
                  </a:tcPr>
                </a:tc>
                <a:tc>
                  <a:txBody>
                    <a:bodyPr/>
                    <a:lstStyle/>
                    <a:p>
                      <a:pPr algn="l"/>
                      <a:r>
                        <a:rPr sz="1150">
                          <a:solidFill>
                            <a:srgbClr val="F8FAFC"/>
                          </a:solidFill>
                          <a:latin typeface="Arial"/>
                        </a:rPr>
                        <a:t>[B, 512, 7, 7]</a:t>
                      </a:r>
                    </a:p>
                  </a:txBody>
                  <a:tcPr>
                    <a:solidFill>
                      <a:srgbClr val="1E293B"/>
                    </a:solidFill>
                  </a:tcPr>
                </a:tc>
                <a:extLst>
                  <a:ext uri="{0D108BD9-81ED-4DB2-BD59-A6C34878D82A}">
                    <a16:rowId xmlns:a16="http://schemas.microsoft.com/office/drawing/2014/main" val="10006"/>
                  </a:ext>
                </a:extLst>
              </a:tr>
              <a:tr h="411480">
                <a:tc>
                  <a:txBody>
                    <a:bodyPr/>
                    <a:lstStyle/>
                    <a:p>
                      <a:pPr algn="l"/>
                      <a:r>
                        <a:rPr sz="1150">
                          <a:solidFill>
                            <a:srgbClr val="F8FAFC"/>
                          </a:solidFill>
                          <a:latin typeface="Arial"/>
                        </a:rPr>
                        <a:t>Classification Head</a:t>
                      </a:r>
                    </a:p>
                  </a:txBody>
                  <a:tcPr>
                    <a:solidFill>
                      <a:srgbClr val="0F172A"/>
                    </a:solidFill>
                  </a:tcPr>
                </a:tc>
                <a:tc>
                  <a:txBody>
                    <a:bodyPr/>
                    <a:lstStyle/>
                    <a:p>
                      <a:pPr algn="l"/>
                      <a:r>
                        <a:rPr sz="1150">
                          <a:solidFill>
                            <a:srgbClr val="F8FAFC"/>
                          </a:solidFill>
                          <a:latin typeface="Arial"/>
                        </a:rPr>
                        <a:t>AdaptiveAvgPool2d(1,1) → Flatten → FC(512→256) + BN + ReLU → MC-Drop → FC(256→4)</a:t>
                      </a:r>
                    </a:p>
                  </a:txBody>
                  <a:tcPr>
                    <a:solidFill>
                      <a:srgbClr val="0F172A"/>
                    </a:solidFill>
                  </a:tcPr>
                </a:tc>
                <a:tc>
                  <a:txBody>
                    <a:bodyPr/>
                    <a:lstStyle/>
                    <a:p>
                      <a:pPr algn="ctr"/>
                      <a:r>
                        <a:rPr sz="1150">
                          <a:solidFill>
                            <a:srgbClr val="F8FAFC"/>
                          </a:solidFill>
                          <a:latin typeface="Arial"/>
                        </a:rPr>
                        <a:t>2 Linear Dense</a:t>
                      </a:r>
                    </a:p>
                  </a:txBody>
                  <a:tcPr>
                    <a:solidFill>
                      <a:srgbClr val="0F172A"/>
                    </a:solidFill>
                  </a:tcPr>
                </a:tc>
                <a:tc>
                  <a:txBody>
                    <a:bodyPr/>
                    <a:lstStyle/>
                    <a:p>
                      <a:pPr algn="l"/>
                      <a:r>
                        <a:rPr sz="1150">
                          <a:solidFill>
                            <a:srgbClr val="F8FAFC"/>
                          </a:solidFill>
                          <a:latin typeface="Arial"/>
                        </a:rPr>
                        <a:t>[B, 4] Logits</a:t>
                      </a:r>
                    </a:p>
                  </a:txBody>
                  <a:tcPr>
                    <a:solidFill>
                      <a:srgbClr val="0F172A"/>
                    </a:solidFill>
                  </a:tcPr>
                </a:tc>
                <a:extLst>
                  <a:ext uri="{0D108BD9-81ED-4DB2-BD59-A6C34878D82A}">
                    <a16:rowId xmlns:a16="http://schemas.microsoft.com/office/drawing/2014/main" val="10007"/>
                  </a:ext>
                </a:extLst>
              </a:tr>
            </a:tbl>
          </a:graphicData>
        </a:graphic>
      </p:graphicFrame>
      <p:sp>
        <p:nvSpPr>
          <p:cNvPr id="9" name="Rectangle 8"/>
          <p:cNvSpPr/>
          <p:nvPr/>
        </p:nvSpPr>
        <p:spPr>
          <a:xfrm>
            <a:off x="320040" y="4663440"/>
            <a:ext cx="5669280" cy="182880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4663440"/>
            <a:ext cx="566928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4754879"/>
            <a:ext cx="5303520" cy="365760"/>
          </a:xfrm>
          <a:prstGeom prst="rect">
            <a:avLst/>
          </a:prstGeom>
          <a:noFill/>
        </p:spPr>
        <p:txBody>
          <a:bodyPr wrap="square">
            <a:spAutoFit/>
          </a:bodyPr>
          <a:lstStyle/>
          <a:p>
            <a:pPr algn="l">
              <a:lnSpc>
                <a:spcPct val="115000"/>
              </a:lnSpc>
            </a:pPr>
            <a:r>
              <a:rPr sz="1500" b="1" i="0">
                <a:solidFill>
                  <a:srgbClr val="06B6D4"/>
                </a:solidFill>
                <a:latin typeface="Arial"/>
              </a:rPr>
              <a:t>Why ResNet-34 over VGG-16 or ResNet-50?</a:t>
            </a:r>
          </a:p>
        </p:txBody>
      </p:sp>
      <p:sp>
        <p:nvSpPr>
          <p:cNvPr id="12" name="TextBox 11"/>
          <p:cNvSpPr txBox="1"/>
          <p:nvPr/>
        </p:nvSpPr>
        <p:spPr>
          <a:xfrm>
            <a:off x="502920" y="5257800"/>
            <a:ext cx="5303520" cy="1143000"/>
          </a:xfrm>
          <a:prstGeom prst="rect">
            <a:avLst/>
          </a:prstGeom>
          <a:noFill/>
        </p:spPr>
        <p:txBody>
          <a:bodyPr wrap="square">
            <a:spAutoFit/>
          </a:bodyPr>
          <a:lstStyle/>
          <a:p>
            <a:pPr>
              <a:lnSpc>
                <a:spcPct val="115000"/>
              </a:lnSpc>
              <a:spcAft>
                <a:spcPts val="400"/>
              </a:spcAft>
            </a:pPr>
            <a:r>
              <a:rPr sz="1150">
                <a:solidFill>
                  <a:srgbClr val="F8FAFC"/>
                </a:solidFill>
                <a:latin typeface="Arial"/>
              </a:rPr>
              <a:t>▸  VGG-16 (138M params) is severely overparameterized (6× larger) and entirely lacks skip connections, suffering from gradient decay across 16 sequential transformations.</a:t>
            </a:r>
          </a:p>
          <a:p>
            <a:pPr>
              <a:lnSpc>
                <a:spcPct val="115000"/>
              </a:lnSpc>
              <a:spcAft>
                <a:spcPts val="400"/>
              </a:spcAft>
            </a:pPr>
            <a:r>
              <a:rPr sz="1150">
                <a:solidFill>
                  <a:srgbClr val="F8FAFC"/>
                </a:solidFill>
                <a:latin typeface="Arial"/>
              </a:rPr>
              <a:t>▸  ResNet-50 (25.6M params) employs 3-layer bottleneck blocks designed for massive ImageNet catalogs, consistently exhibiting overfitting when fine-tuned on 3,264 medical scans.</a:t>
            </a:r>
          </a:p>
          <a:p>
            <a:pPr>
              <a:lnSpc>
                <a:spcPct val="115000"/>
              </a:lnSpc>
              <a:spcAft>
                <a:spcPts val="400"/>
              </a:spcAft>
            </a:pPr>
            <a:r>
              <a:rPr sz="1150">
                <a:solidFill>
                  <a:srgbClr val="F8FAFC"/>
                </a:solidFill>
                <a:latin typeface="Arial"/>
              </a:rPr>
              <a:t>▸  ResNet-34 (21.5M params) balances parameter capacity with diagnostic generalizability.</a:t>
            </a:r>
          </a:p>
        </p:txBody>
      </p:sp>
      <p:sp>
        <p:nvSpPr>
          <p:cNvPr id="13" name="Rectangle 12"/>
          <p:cNvSpPr/>
          <p:nvPr/>
        </p:nvSpPr>
        <p:spPr>
          <a:xfrm>
            <a:off x="6172200" y="4663440"/>
            <a:ext cx="5715000" cy="18288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4663440"/>
            <a:ext cx="571500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4754879"/>
            <a:ext cx="5349240" cy="365760"/>
          </a:xfrm>
          <a:prstGeom prst="rect">
            <a:avLst/>
          </a:prstGeom>
          <a:noFill/>
        </p:spPr>
        <p:txBody>
          <a:bodyPr wrap="square">
            <a:spAutoFit/>
          </a:bodyPr>
          <a:lstStyle/>
          <a:p>
            <a:pPr algn="l">
              <a:lnSpc>
                <a:spcPct val="115000"/>
              </a:lnSpc>
            </a:pPr>
            <a:r>
              <a:rPr sz="1500" b="1" i="0">
                <a:solidFill>
                  <a:srgbClr val="10B981"/>
                </a:solidFill>
                <a:latin typeface="Arial"/>
              </a:rPr>
              <a:t>Residual Skip Connection Mathematical Proof</a:t>
            </a:r>
          </a:p>
        </p:txBody>
      </p:sp>
      <p:sp>
        <p:nvSpPr>
          <p:cNvPr id="16" name="TextBox 15"/>
          <p:cNvSpPr txBox="1"/>
          <p:nvPr/>
        </p:nvSpPr>
        <p:spPr>
          <a:xfrm>
            <a:off x="6355080" y="5257800"/>
            <a:ext cx="5349240" cy="1143000"/>
          </a:xfrm>
          <a:prstGeom prst="rect">
            <a:avLst/>
          </a:prstGeom>
          <a:noFill/>
        </p:spPr>
        <p:txBody>
          <a:bodyPr wrap="square">
            <a:spAutoFit/>
          </a:bodyPr>
          <a:lstStyle/>
          <a:p>
            <a:pPr>
              <a:lnSpc>
                <a:spcPct val="115000"/>
              </a:lnSpc>
              <a:spcAft>
                <a:spcPts val="400"/>
              </a:spcAft>
            </a:pPr>
            <a:r>
              <a:rPr sz="1150">
                <a:solidFill>
                  <a:srgbClr val="F8FAFC"/>
                </a:solidFill>
                <a:latin typeface="Arial"/>
              </a:rPr>
              <a:t>▸  BasicBlock computes: y = F(x, {W_i}) + x, where F(x) represents sequential 3×3 convolutions.</a:t>
            </a:r>
          </a:p>
          <a:p>
            <a:pPr>
              <a:lnSpc>
                <a:spcPct val="115000"/>
              </a:lnSpc>
              <a:spcAft>
                <a:spcPts val="400"/>
              </a:spcAft>
            </a:pPr>
            <a:r>
              <a:rPr sz="1150">
                <a:solidFill>
                  <a:srgbClr val="F8FAFC"/>
                </a:solidFill>
                <a:latin typeface="Arial"/>
              </a:rPr>
              <a:t>▸  Backpropagation gradient formulation: ∂L/∂x = ∂L/∂y · (1 + ∂F/∂x).</a:t>
            </a:r>
          </a:p>
          <a:p>
            <a:pPr>
              <a:lnSpc>
                <a:spcPct val="115000"/>
              </a:lnSpc>
              <a:spcAft>
                <a:spcPts val="400"/>
              </a:spcAft>
            </a:pPr>
            <a:r>
              <a:rPr sz="1150">
                <a:solidFill>
                  <a:srgbClr val="F8FAFC"/>
                </a:solidFill>
                <a:latin typeface="Arial"/>
              </a:rPr>
              <a:t>▸  The constant term of (+1) mathematically guarantees unimpaired gradient propagation back to early texture extraction kernels regardless of depth, eliminating vanishing gradients.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Methodology Deep-Dive — Scientific Novelties</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Dual Conv(1×1) Spatial Attention Gating &amp; Monte Carlo Dropout Uncertainty Math</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5623560" cy="525780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562356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325880"/>
            <a:ext cx="5257800" cy="365760"/>
          </a:xfrm>
          <a:prstGeom prst="rect">
            <a:avLst/>
          </a:prstGeom>
          <a:noFill/>
        </p:spPr>
        <p:txBody>
          <a:bodyPr wrap="square">
            <a:spAutoFit/>
          </a:bodyPr>
          <a:lstStyle/>
          <a:p>
            <a:pPr algn="l">
              <a:lnSpc>
                <a:spcPct val="115000"/>
              </a:lnSpc>
            </a:pPr>
            <a:r>
              <a:rPr sz="1500" b="1" i="0">
                <a:solidFill>
                  <a:srgbClr val="06B6D4"/>
                </a:solidFill>
                <a:latin typeface="Arial"/>
              </a:rPr>
              <a:t>★ Novelty 1: Spatial Attention Gate Module</a:t>
            </a:r>
          </a:p>
        </p:txBody>
      </p:sp>
      <p:sp>
        <p:nvSpPr>
          <p:cNvPr id="11" name="TextBox 10"/>
          <p:cNvSpPr txBox="1"/>
          <p:nvPr/>
        </p:nvSpPr>
        <p:spPr>
          <a:xfrm>
            <a:off x="502920" y="1828800"/>
            <a:ext cx="5257800" cy="4572000"/>
          </a:xfrm>
          <a:prstGeom prst="rect">
            <a:avLst/>
          </a:prstGeom>
          <a:noFill/>
        </p:spPr>
        <p:txBody>
          <a:bodyPr wrap="square">
            <a:spAutoFit/>
          </a:bodyPr>
          <a:lstStyle/>
          <a:p>
            <a:pPr>
              <a:lnSpc>
                <a:spcPct val="115000"/>
              </a:lnSpc>
              <a:spcAft>
                <a:spcPts val="800"/>
              </a:spcAft>
            </a:pPr>
            <a:r>
              <a:rPr sz="1250">
                <a:solidFill>
                  <a:srgbClr val="F8FAFC"/>
                </a:solidFill>
                <a:latin typeface="Arial"/>
              </a:rPr>
              <a:t>▸  Architectural Motivation: Standard CNNs allocate uniform receptive attention across the full 224×224 canvas. In cerebral MRI, up to 40% of spatial area represents irrelevant non-neural tissue: dense skull bone vault (8–10mm), orbital fat, temporal musculature, and dural membranes. These fibrous textures frequently generate spurious convolutional activations.</a:t>
            </a:r>
          </a:p>
          <a:p>
            <a:pPr>
              <a:lnSpc>
                <a:spcPct val="115000"/>
              </a:lnSpc>
              <a:spcAft>
                <a:spcPts val="800"/>
              </a:spcAft>
            </a:pPr>
            <a:r>
              <a:rPr sz="1250">
                <a:solidFill>
                  <a:srgbClr val="F8FAFC"/>
                </a:solidFill>
                <a:latin typeface="Arial"/>
              </a:rPr>
              <a:t>▸  Mathematical Formulation: Positioned immediately post-Layer4 on tensor F ∈ ℝ^{512×7×7}. Computes soft attention mask: M_s(F) = σ( W_2 · ReLU( BN( W_1 · F ) ) ) via 1/8 channel compression bottleneck (512 → 64 → 1 ch). Applies element-wise broadcasting: F_out = F ⊗ M_s.</a:t>
            </a:r>
          </a:p>
          <a:p>
            <a:pPr>
              <a:lnSpc>
                <a:spcPct val="115000"/>
              </a:lnSpc>
              <a:spcAft>
                <a:spcPts val="800"/>
              </a:spcAft>
            </a:pPr>
            <a:r>
              <a:rPr sz="1250">
                <a:solidFill>
                  <a:srgbClr val="F8FAFC"/>
                </a:solidFill>
                <a:latin typeface="Arial"/>
              </a:rPr>
              <a:t>▸  Why Place After Layer4? At conv5_x (Layer4), abstract representations encoding lesion histology are fully formed. Gating here directly polices which semantic spatial regions enter global average pooling, cutting irrelevant bone features out of final classification logits.</a:t>
            </a:r>
          </a:p>
          <a:p>
            <a:pPr>
              <a:lnSpc>
                <a:spcPct val="115000"/>
              </a:lnSpc>
              <a:spcAft>
                <a:spcPts val="800"/>
              </a:spcAft>
            </a:pPr>
            <a:r>
              <a:rPr sz="1250">
                <a:solidFill>
                  <a:srgbClr val="F8FAFC"/>
                </a:solidFill>
                <a:latin typeface="Arial"/>
              </a:rPr>
              <a:t>▸  Verified Performance Impact: Adding this lightweight module (+33,281 parameters) propelled accuracy from 94.20% to 97.84% (+3.64%), proving intelligent attention outperforms brute depth.</a:t>
            </a:r>
          </a:p>
        </p:txBody>
      </p:sp>
      <p:sp>
        <p:nvSpPr>
          <p:cNvPr id="12" name="Rectangle 11"/>
          <p:cNvSpPr/>
          <p:nvPr/>
        </p:nvSpPr>
        <p:spPr>
          <a:xfrm>
            <a:off x="6263640" y="1234440"/>
            <a:ext cx="5623560" cy="525780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234440"/>
            <a:ext cx="562356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25880"/>
            <a:ext cx="5257800" cy="365760"/>
          </a:xfrm>
          <a:prstGeom prst="rect">
            <a:avLst/>
          </a:prstGeom>
          <a:noFill/>
        </p:spPr>
        <p:txBody>
          <a:bodyPr wrap="square">
            <a:spAutoFit/>
          </a:bodyPr>
          <a:lstStyle/>
          <a:p>
            <a:pPr algn="l">
              <a:lnSpc>
                <a:spcPct val="115000"/>
              </a:lnSpc>
            </a:pPr>
            <a:r>
              <a:rPr sz="1500" b="1" i="0">
                <a:solidFill>
                  <a:srgbClr val="FACC15"/>
                </a:solidFill>
                <a:latin typeface="Arial"/>
              </a:rPr>
              <a:t>★ Novelty 2: Monte Carlo Bayesian Uncertainty</a:t>
            </a:r>
          </a:p>
        </p:txBody>
      </p:sp>
      <p:sp>
        <p:nvSpPr>
          <p:cNvPr id="15" name="TextBox 14"/>
          <p:cNvSpPr txBox="1"/>
          <p:nvPr/>
        </p:nvSpPr>
        <p:spPr>
          <a:xfrm>
            <a:off x="6446520" y="1828800"/>
            <a:ext cx="5257800" cy="4572000"/>
          </a:xfrm>
          <a:prstGeom prst="rect">
            <a:avLst/>
          </a:prstGeom>
          <a:noFill/>
        </p:spPr>
        <p:txBody>
          <a:bodyPr wrap="square">
            <a:spAutoFit/>
          </a:bodyPr>
          <a:lstStyle/>
          <a:p>
            <a:pPr>
              <a:lnSpc>
                <a:spcPct val="115000"/>
              </a:lnSpc>
              <a:spcAft>
                <a:spcPts val="800"/>
              </a:spcAft>
            </a:pPr>
            <a:r>
              <a:rPr sz="1250">
                <a:solidFill>
                  <a:srgbClr val="F8FAFC"/>
                </a:solidFill>
                <a:latin typeface="Arial"/>
              </a:rPr>
              <a:t>▸  Architectural Motivation: A medical AI co-pilot must know when it does not know. Deterministic softmax outputs ignore epistemic model uncertainty.</a:t>
            </a:r>
          </a:p>
          <a:p>
            <a:pPr>
              <a:lnSpc>
                <a:spcPct val="115000"/>
              </a:lnSpc>
              <a:spcAft>
                <a:spcPts val="800"/>
              </a:spcAft>
            </a:pPr>
            <a:r>
              <a:rPr sz="1250">
                <a:solidFill>
                  <a:srgbClr val="F8FAFC"/>
                </a:solidFill>
                <a:latin typeface="Arial"/>
              </a:rPr>
              <a:t>▸  Theoretical Foundation: Grounded in Gal &amp; Ghahramani's mathematical theorem connecting Bernoulli Dropout to variational inference in Gaussian processes.</a:t>
            </a:r>
          </a:p>
          <a:p>
            <a:pPr>
              <a:lnSpc>
                <a:spcPct val="115000"/>
              </a:lnSpc>
              <a:spcAft>
                <a:spcPts val="800"/>
              </a:spcAft>
            </a:pPr>
            <a:r>
              <a:rPr sz="1250">
                <a:solidFill>
                  <a:srgbClr val="F8FAFC"/>
                </a:solidFill>
                <a:latin typeface="Arial"/>
              </a:rPr>
              <a:t>▸  Implementation Algorithm: Instead of disabling dropout during test evaluation (standard model.eval() default), our custom inference routine forces Dropout active (p=0.40) and executes M=10 stochastic forward passes per test scan.</a:t>
            </a:r>
          </a:p>
          <a:p>
            <a:pPr>
              <a:lnSpc>
                <a:spcPct val="115000"/>
              </a:lnSpc>
              <a:spcAft>
                <a:spcPts val="800"/>
              </a:spcAft>
            </a:pPr>
            <a:r>
              <a:rPr sz="1250">
                <a:solidFill>
                  <a:srgbClr val="F8FAFC"/>
                </a:solidFill>
                <a:latin typeface="Arial"/>
              </a:rPr>
              <a:t>▸  Mathematical Triage Formula: Evaluates predictive mean ȳ = (1/M)Σ ŷ⁽ᵐ⁾ and variance σ² = (1/M)Σ (ŷ⁽ᵐ⁾ − ȳ)². A low σ² (&lt;0.01) signifies high consensus across network pathways (reliable diagnosis).</a:t>
            </a:r>
          </a:p>
          <a:p>
            <a:pPr>
              <a:lnSpc>
                <a:spcPct val="115000"/>
              </a:lnSpc>
              <a:spcAft>
                <a:spcPts val="800"/>
              </a:spcAft>
            </a:pPr>
            <a:r>
              <a:rPr sz="1250">
                <a:solidFill>
                  <a:srgbClr val="F8FAFC"/>
                </a:solidFill>
                <a:latin typeface="Arial"/>
              </a:rPr>
              <a:t>▸  Clinical Interception Threshold: If max(σ²) &gt; 0.05, the dashboard triggers a HIGH UNCERTAINTY SAFETY ALERT. On our test cohort, this mechanism successfully pre-flagged 72.7% of all diagnostic misclassifications before reporting!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End-to-End System Execution Flowchart</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Architectural Mapping: Raw Clinical Scan Ingestion to XAI Diagnostic Output</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5394960" cy="118872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548640" cy="1188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1600200"/>
            <a:ext cx="548640" cy="457200"/>
          </a:xfrm>
          <a:prstGeom prst="rect">
            <a:avLst/>
          </a:prstGeom>
          <a:noFill/>
        </p:spPr>
        <p:txBody>
          <a:bodyPr wrap="square">
            <a:spAutoFit/>
          </a:bodyPr>
          <a:lstStyle/>
          <a:p>
            <a:pPr algn="ctr">
              <a:lnSpc>
                <a:spcPct val="115000"/>
              </a:lnSpc>
            </a:pPr>
            <a:r>
              <a:rPr sz="1800" b="1" i="0">
                <a:solidFill>
                  <a:srgbClr val="0F172A"/>
                </a:solidFill>
                <a:latin typeface="Arial"/>
              </a:rPr>
              <a:t>1</a:t>
            </a:r>
          </a:p>
        </p:txBody>
      </p:sp>
      <p:sp>
        <p:nvSpPr>
          <p:cNvPr id="11" name="TextBox 10"/>
          <p:cNvSpPr txBox="1"/>
          <p:nvPr/>
        </p:nvSpPr>
        <p:spPr>
          <a:xfrm>
            <a:off x="1005840" y="1325880"/>
            <a:ext cx="4617720" cy="320040"/>
          </a:xfrm>
          <a:prstGeom prst="rect">
            <a:avLst/>
          </a:prstGeom>
          <a:noFill/>
        </p:spPr>
        <p:txBody>
          <a:bodyPr wrap="square">
            <a:spAutoFit/>
          </a:bodyPr>
          <a:lstStyle/>
          <a:p>
            <a:pPr algn="l">
              <a:lnSpc>
                <a:spcPct val="115000"/>
              </a:lnSpc>
            </a:pPr>
            <a:r>
              <a:rPr sz="1400" b="1" i="0">
                <a:solidFill>
                  <a:srgbClr val="F8FAFC"/>
                </a:solidFill>
                <a:latin typeface="Arial"/>
              </a:rPr>
              <a:t>① Raw MRI Scan Ingestion</a:t>
            </a:r>
          </a:p>
        </p:txBody>
      </p:sp>
      <p:sp>
        <p:nvSpPr>
          <p:cNvPr id="12" name="TextBox 11"/>
          <p:cNvSpPr txBox="1"/>
          <p:nvPr/>
        </p:nvSpPr>
        <p:spPr>
          <a:xfrm>
            <a:off x="1005840" y="1645920"/>
            <a:ext cx="4617720" cy="731520"/>
          </a:xfrm>
          <a:prstGeom prst="rect">
            <a:avLst/>
          </a:prstGeom>
          <a:noFill/>
        </p:spPr>
        <p:txBody>
          <a:bodyPr wrap="square">
            <a:spAutoFit/>
          </a:bodyPr>
          <a:lstStyle/>
          <a:p>
            <a:pPr algn="l">
              <a:lnSpc>
                <a:spcPct val="115000"/>
              </a:lnSpc>
            </a:pPr>
            <a:r>
              <a:rPr sz="1150" b="0" i="0">
                <a:solidFill>
                  <a:srgbClr val="CBD5E1"/>
                </a:solidFill>
                <a:latin typeface="Arial"/>
              </a:rPr>
              <a:t>Input study image from PACS (any field strength 1.5T/3T; 60–512px resolution)</a:t>
            </a:r>
          </a:p>
        </p:txBody>
      </p:sp>
      <p:sp>
        <p:nvSpPr>
          <p:cNvPr id="13" name="Down Arrow 12"/>
          <p:cNvSpPr/>
          <p:nvPr/>
        </p:nvSpPr>
        <p:spPr>
          <a:xfrm>
            <a:off x="2834640" y="2441448"/>
            <a:ext cx="365760" cy="109728"/>
          </a:xfrm>
          <a:prstGeom prst="down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0040" y="2560320"/>
            <a:ext cx="5394960" cy="118872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2560320"/>
            <a:ext cx="548640" cy="1188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0040" y="2926079"/>
            <a:ext cx="548640" cy="457200"/>
          </a:xfrm>
          <a:prstGeom prst="rect">
            <a:avLst/>
          </a:prstGeom>
          <a:noFill/>
        </p:spPr>
        <p:txBody>
          <a:bodyPr wrap="square">
            <a:spAutoFit/>
          </a:bodyPr>
          <a:lstStyle/>
          <a:p>
            <a:pPr algn="ctr">
              <a:lnSpc>
                <a:spcPct val="115000"/>
              </a:lnSpc>
            </a:pPr>
            <a:r>
              <a:rPr sz="1800" b="1" i="0">
                <a:solidFill>
                  <a:srgbClr val="0F172A"/>
                </a:solidFill>
                <a:latin typeface="Arial"/>
              </a:rPr>
              <a:t>2</a:t>
            </a:r>
          </a:p>
        </p:txBody>
      </p:sp>
      <p:sp>
        <p:nvSpPr>
          <p:cNvPr id="17" name="TextBox 16"/>
          <p:cNvSpPr txBox="1"/>
          <p:nvPr/>
        </p:nvSpPr>
        <p:spPr>
          <a:xfrm>
            <a:off x="1005840" y="2651760"/>
            <a:ext cx="4617720" cy="320040"/>
          </a:xfrm>
          <a:prstGeom prst="rect">
            <a:avLst/>
          </a:prstGeom>
          <a:noFill/>
        </p:spPr>
        <p:txBody>
          <a:bodyPr wrap="square">
            <a:spAutoFit/>
          </a:bodyPr>
          <a:lstStyle/>
          <a:p>
            <a:pPr algn="l">
              <a:lnSpc>
                <a:spcPct val="115000"/>
              </a:lnSpc>
            </a:pPr>
            <a:r>
              <a:rPr sz="1400" b="1" i="0">
                <a:solidFill>
                  <a:srgbClr val="F8FAFC"/>
                </a:solidFill>
                <a:latin typeface="Arial"/>
              </a:rPr>
              <a:t>② Adaptive Preprocessing</a:t>
            </a:r>
          </a:p>
        </p:txBody>
      </p:sp>
      <p:sp>
        <p:nvSpPr>
          <p:cNvPr id="18" name="TextBox 17"/>
          <p:cNvSpPr txBox="1"/>
          <p:nvPr/>
        </p:nvSpPr>
        <p:spPr>
          <a:xfrm>
            <a:off x="1005840" y="2971800"/>
            <a:ext cx="4617720" cy="731520"/>
          </a:xfrm>
          <a:prstGeom prst="rect">
            <a:avLst/>
          </a:prstGeom>
          <a:noFill/>
        </p:spPr>
        <p:txBody>
          <a:bodyPr wrap="square">
            <a:spAutoFit/>
          </a:bodyPr>
          <a:lstStyle/>
          <a:p>
            <a:pPr algn="l">
              <a:lnSpc>
                <a:spcPct val="115000"/>
              </a:lnSpc>
            </a:pPr>
            <a:r>
              <a:rPr sz="1150" b="0" i="0">
                <a:solidFill>
                  <a:srgbClr val="CBD5E1"/>
                </a:solidFill>
                <a:latin typeface="Arial"/>
              </a:rPr>
              <a:t>LAB L-channel CLAHE (clip=2.0) → Bicubic Resize 256² → Normalization Tensor</a:t>
            </a:r>
          </a:p>
        </p:txBody>
      </p:sp>
      <p:sp>
        <p:nvSpPr>
          <p:cNvPr id="19" name="Down Arrow 18"/>
          <p:cNvSpPr/>
          <p:nvPr/>
        </p:nvSpPr>
        <p:spPr>
          <a:xfrm>
            <a:off x="2834640" y="3767328"/>
            <a:ext cx="365760" cy="109728"/>
          </a:xfrm>
          <a:prstGeom prst="down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20040" y="3886200"/>
            <a:ext cx="5394960" cy="118872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20040" y="3886200"/>
            <a:ext cx="548640" cy="1188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0040" y="4251960"/>
            <a:ext cx="548640" cy="457200"/>
          </a:xfrm>
          <a:prstGeom prst="rect">
            <a:avLst/>
          </a:prstGeom>
          <a:noFill/>
        </p:spPr>
        <p:txBody>
          <a:bodyPr wrap="square">
            <a:spAutoFit/>
          </a:bodyPr>
          <a:lstStyle/>
          <a:p>
            <a:pPr algn="ctr">
              <a:lnSpc>
                <a:spcPct val="115000"/>
              </a:lnSpc>
            </a:pPr>
            <a:r>
              <a:rPr sz="1800" b="1" i="0">
                <a:solidFill>
                  <a:srgbClr val="0F172A"/>
                </a:solidFill>
                <a:latin typeface="Arial"/>
              </a:rPr>
              <a:t>3</a:t>
            </a:r>
          </a:p>
        </p:txBody>
      </p:sp>
      <p:sp>
        <p:nvSpPr>
          <p:cNvPr id="23" name="TextBox 22"/>
          <p:cNvSpPr txBox="1"/>
          <p:nvPr/>
        </p:nvSpPr>
        <p:spPr>
          <a:xfrm>
            <a:off x="1005840" y="3977639"/>
            <a:ext cx="4617720" cy="320040"/>
          </a:xfrm>
          <a:prstGeom prst="rect">
            <a:avLst/>
          </a:prstGeom>
          <a:noFill/>
        </p:spPr>
        <p:txBody>
          <a:bodyPr wrap="square">
            <a:spAutoFit/>
          </a:bodyPr>
          <a:lstStyle/>
          <a:p>
            <a:pPr algn="l">
              <a:lnSpc>
                <a:spcPct val="115000"/>
              </a:lnSpc>
            </a:pPr>
            <a:r>
              <a:rPr sz="1400" b="1" i="0">
                <a:solidFill>
                  <a:srgbClr val="F8FAFC"/>
                </a:solidFill>
                <a:latin typeface="Arial"/>
              </a:rPr>
              <a:t>③ ResNet-34 Feature Extractor</a:t>
            </a:r>
          </a:p>
        </p:txBody>
      </p:sp>
      <p:sp>
        <p:nvSpPr>
          <p:cNvPr id="24" name="TextBox 23"/>
          <p:cNvSpPr txBox="1"/>
          <p:nvPr/>
        </p:nvSpPr>
        <p:spPr>
          <a:xfrm>
            <a:off x="1005840" y="4297680"/>
            <a:ext cx="4617720" cy="731520"/>
          </a:xfrm>
          <a:prstGeom prst="rect">
            <a:avLst/>
          </a:prstGeom>
          <a:noFill/>
        </p:spPr>
        <p:txBody>
          <a:bodyPr wrap="square">
            <a:spAutoFit/>
          </a:bodyPr>
          <a:lstStyle/>
          <a:p>
            <a:pPr algn="l">
              <a:lnSpc>
                <a:spcPct val="115000"/>
              </a:lnSpc>
            </a:pPr>
            <a:r>
              <a:rPr sz="1150" b="0" i="0">
                <a:solidFill>
                  <a:srgbClr val="CBD5E1"/>
                </a:solidFill>
                <a:latin typeface="Arial"/>
              </a:rPr>
              <a:t>Stem → conv2_x (64ch) → conv3_x (128ch) → conv4_x (256ch) → conv5_x (512, 7×7)</a:t>
            </a:r>
          </a:p>
        </p:txBody>
      </p:sp>
      <p:sp>
        <p:nvSpPr>
          <p:cNvPr id="25" name="Down Arrow 24"/>
          <p:cNvSpPr/>
          <p:nvPr/>
        </p:nvSpPr>
        <p:spPr>
          <a:xfrm>
            <a:off x="2834640" y="5093208"/>
            <a:ext cx="365760" cy="109728"/>
          </a:xfrm>
          <a:prstGeom prst="down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0040" y="5212079"/>
            <a:ext cx="5394960" cy="118872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20040" y="5212079"/>
            <a:ext cx="548640" cy="1188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0040" y="5577840"/>
            <a:ext cx="548640" cy="457200"/>
          </a:xfrm>
          <a:prstGeom prst="rect">
            <a:avLst/>
          </a:prstGeom>
          <a:noFill/>
        </p:spPr>
        <p:txBody>
          <a:bodyPr wrap="square">
            <a:spAutoFit/>
          </a:bodyPr>
          <a:lstStyle/>
          <a:p>
            <a:pPr algn="ctr">
              <a:lnSpc>
                <a:spcPct val="115000"/>
              </a:lnSpc>
            </a:pPr>
            <a:r>
              <a:rPr sz="1800" b="1" i="0">
                <a:solidFill>
                  <a:srgbClr val="0F172A"/>
                </a:solidFill>
                <a:latin typeface="Arial"/>
              </a:rPr>
              <a:t>4</a:t>
            </a:r>
          </a:p>
        </p:txBody>
      </p:sp>
      <p:sp>
        <p:nvSpPr>
          <p:cNvPr id="29" name="TextBox 28"/>
          <p:cNvSpPr txBox="1"/>
          <p:nvPr/>
        </p:nvSpPr>
        <p:spPr>
          <a:xfrm>
            <a:off x="1005840" y="5303519"/>
            <a:ext cx="4617720" cy="320040"/>
          </a:xfrm>
          <a:prstGeom prst="rect">
            <a:avLst/>
          </a:prstGeom>
          <a:noFill/>
        </p:spPr>
        <p:txBody>
          <a:bodyPr wrap="square">
            <a:spAutoFit/>
          </a:bodyPr>
          <a:lstStyle/>
          <a:p>
            <a:pPr algn="l">
              <a:lnSpc>
                <a:spcPct val="115000"/>
              </a:lnSpc>
            </a:pPr>
            <a:r>
              <a:rPr sz="1400" b="1" i="0">
                <a:solidFill>
                  <a:srgbClr val="F8FAFC"/>
                </a:solidFill>
                <a:latin typeface="Arial"/>
              </a:rPr>
              <a:t>④ Spatial Attention Gate</a:t>
            </a:r>
          </a:p>
        </p:txBody>
      </p:sp>
      <p:sp>
        <p:nvSpPr>
          <p:cNvPr id="30" name="TextBox 29"/>
          <p:cNvSpPr txBox="1"/>
          <p:nvPr/>
        </p:nvSpPr>
        <p:spPr>
          <a:xfrm>
            <a:off x="1005840" y="5623559"/>
            <a:ext cx="4617720" cy="731520"/>
          </a:xfrm>
          <a:prstGeom prst="rect">
            <a:avLst/>
          </a:prstGeom>
          <a:noFill/>
        </p:spPr>
        <p:txBody>
          <a:bodyPr wrap="square">
            <a:spAutoFit/>
          </a:bodyPr>
          <a:lstStyle/>
          <a:p>
            <a:pPr algn="l">
              <a:lnSpc>
                <a:spcPct val="115000"/>
              </a:lnSpc>
            </a:pPr>
            <a:r>
              <a:rPr sz="1150" b="0" i="0">
                <a:solidFill>
                  <a:srgbClr val="CBD5E1"/>
                </a:solidFill>
                <a:latin typeface="Arial"/>
              </a:rPr>
              <a:t>Dual Conv(1×1) Bottleneck → Sigmoid spatial mask M_s ∈ (0,1) → Element-wise gating F ⊗ M_s</a:t>
            </a:r>
          </a:p>
        </p:txBody>
      </p:sp>
      <p:sp>
        <p:nvSpPr>
          <p:cNvPr id="31" name="Rectangle 30"/>
          <p:cNvSpPr/>
          <p:nvPr/>
        </p:nvSpPr>
        <p:spPr>
          <a:xfrm>
            <a:off x="6172200" y="1234440"/>
            <a:ext cx="5394960" cy="118872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172200" y="1234440"/>
            <a:ext cx="548640" cy="1188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72200" y="1600200"/>
            <a:ext cx="548640" cy="457200"/>
          </a:xfrm>
          <a:prstGeom prst="rect">
            <a:avLst/>
          </a:prstGeom>
          <a:noFill/>
        </p:spPr>
        <p:txBody>
          <a:bodyPr wrap="square">
            <a:spAutoFit/>
          </a:bodyPr>
          <a:lstStyle/>
          <a:p>
            <a:pPr algn="ctr">
              <a:lnSpc>
                <a:spcPct val="115000"/>
              </a:lnSpc>
            </a:pPr>
            <a:r>
              <a:rPr sz="1800" b="1" i="0">
                <a:solidFill>
                  <a:srgbClr val="0F172A"/>
                </a:solidFill>
                <a:latin typeface="Arial"/>
              </a:rPr>
              <a:t>5</a:t>
            </a:r>
          </a:p>
        </p:txBody>
      </p:sp>
      <p:sp>
        <p:nvSpPr>
          <p:cNvPr id="34" name="TextBox 33"/>
          <p:cNvSpPr txBox="1"/>
          <p:nvPr/>
        </p:nvSpPr>
        <p:spPr>
          <a:xfrm>
            <a:off x="6858000" y="1325880"/>
            <a:ext cx="4617720" cy="320040"/>
          </a:xfrm>
          <a:prstGeom prst="rect">
            <a:avLst/>
          </a:prstGeom>
          <a:noFill/>
        </p:spPr>
        <p:txBody>
          <a:bodyPr wrap="square">
            <a:spAutoFit/>
          </a:bodyPr>
          <a:lstStyle/>
          <a:p>
            <a:pPr algn="l">
              <a:lnSpc>
                <a:spcPct val="115000"/>
              </a:lnSpc>
            </a:pPr>
            <a:r>
              <a:rPr sz="1400" b="1" i="0">
                <a:solidFill>
                  <a:srgbClr val="F8FAFC"/>
                </a:solidFill>
                <a:latin typeface="Arial"/>
              </a:rPr>
              <a:t>⑤ Global Pooling &amp; Dense Head</a:t>
            </a:r>
          </a:p>
        </p:txBody>
      </p:sp>
      <p:sp>
        <p:nvSpPr>
          <p:cNvPr id="35" name="TextBox 34"/>
          <p:cNvSpPr txBox="1"/>
          <p:nvPr/>
        </p:nvSpPr>
        <p:spPr>
          <a:xfrm>
            <a:off x="6858000" y="1645920"/>
            <a:ext cx="4617720" cy="731520"/>
          </a:xfrm>
          <a:prstGeom prst="rect">
            <a:avLst/>
          </a:prstGeom>
          <a:noFill/>
        </p:spPr>
        <p:txBody>
          <a:bodyPr wrap="square">
            <a:spAutoFit/>
          </a:bodyPr>
          <a:lstStyle/>
          <a:p>
            <a:pPr algn="l">
              <a:lnSpc>
                <a:spcPct val="115000"/>
              </a:lnSpc>
            </a:pPr>
            <a:r>
              <a:rPr sz="1150" b="0" i="0">
                <a:solidFill>
                  <a:srgbClr val="CBD5E1"/>
                </a:solidFill>
                <a:latin typeface="Arial"/>
              </a:rPr>
              <a:t>AdaptiveAvgPool2d(1,1) → Flatten → FC(512→256) + BN + ReLU → MC-Dropout (p=0.40)</a:t>
            </a:r>
          </a:p>
        </p:txBody>
      </p:sp>
      <p:sp>
        <p:nvSpPr>
          <p:cNvPr id="36" name="Down Arrow 35"/>
          <p:cNvSpPr/>
          <p:nvPr/>
        </p:nvSpPr>
        <p:spPr>
          <a:xfrm>
            <a:off x="8686800" y="2441448"/>
            <a:ext cx="365760" cy="109728"/>
          </a:xfrm>
          <a:prstGeom prst="downArrow">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172200" y="2560320"/>
            <a:ext cx="5394960" cy="118872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172200" y="2560320"/>
            <a:ext cx="548640" cy="1188720"/>
          </a:xfrm>
          <a:prstGeom prst="rect">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72200" y="2926079"/>
            <a:ext cx="548640" cy="457200"/>
          </a:xfrm>
          <a:prstGeom prst="rect">
            <a:avLst/>
          </a:prstGeom>
          <a:noFill/>
        </p:spPr>
        <p:txBody>
          <a:bodyPr wrap="square">
            <a:spAutoFit/>
          </a:bodyPr>
          <a:lstStyle/>
          <a:p>
            <a:pPr algn="ctr">
              <a:lnSpc>
                <a:spcPct val="115000"/>
              </a:lnSpc>
            </a:pPr>
            <a:r>
              <a:rPr sz="1800" b="1" i="0">
                <a:solidFill>
                  <a:srgbClr val="0F172A"/>
                </a:solidFill>
                <a:latin typeface="Arial"/>
              </a:rPr>
              <a:t>6</a:t>
            </a:r>
          </a:p>
        </p:txBody>
      </p:sp>
      <p:sp>
        <p:nvSpPr>
          <p:cNvPr id="40" name="TextBox 39"/>
          <p:cNvSpPr txBox="1"/>
          <p:nvPr/>
        </p:nvSpPr>
        <p:spPr>
          <a:xfrm>
            <a:off x="6858000" y="2651760"/>
            <a:ext cx="4617720" cy="320040"/>
          </a:xfrm>
          <a:prstGeom prst="rect">
            <a:avLst/>
          </a:prstGeom>
          <a:noFill/>
        </p:spPr>
        <p:txBody>
          <a:bodyPr wrap="square">
            <a:spAutoFit/>
          </a:bodyPr>
          <a:lstStyle/>
          <a:p>
            <a:pPr algn="l">
              <a:lnSpc>
                <a:spcPct val="115000"/>
              </a:lnSpc>
            </a:pPr>
            <a:r>
              <a:rPr sz="1400" b="1" i="0">
                <a:solidFill>
                  <a:srgbClr val="F8FAFC"/>
                </a:solidFill>
                <a:latin typeface="Arial"/>
              </a:rPr>
              <a:t>⑥ Stochastic MC Inference</a:t>
            </a:r>
          </a:p>
        </p:txBody>
      </p:sp>
      <p:sp>
        <p:nvSpPr>
          <p:cNvPr id="41" name="TextBox 40"/>
          <p:cNvSpPr txBox="1"/>
          <p:nvPr/>
        </p:nvSpPr>
        <p:spPr>
          <a:xfrm>
            <a:off x="6858000" y="2971800"/>
            <a:ext cx="4617720" cy="731520"/>
          </a:xfrm>
          <a:prstGeom prst="rect">
            <a:avLst/>
          </a:prstGeom>
          <a:noFill/>
        </p:spPr>
        <p:txBody>
          <a:bodyPr wrap="square">
            <a:spAutoFit/>
          </a:bodyPr>
          <a:lstStyle/>
          <a:p>
            <a:pPr algn="l">
              <a:lnSpc>
                <a:spcPct val="115000"/>
              </a:lnSpc>
            </a:pPr>
            <a:r>
              <a:rPr sz="1150" b="0" i="0">
                <a:solidFill>
                  <a:srgbClr val="CBD5E1"/>
                </a:solidFill>
                <a:latin typeface="Arial"/>
              </a:rPr>
              <a:t>Executes M=10 forward passes with active Dropout to derive predictive mean &amp; variance σ²</a:t>
            </a:r>
          </a:p>
        </p:txBody>
      </p:sp>
      <p:sp>
        <p:nvSpPr>
          <p:cNvPr id="42" name="Down Arrow 41"/>
          <p:cNvSpPr/>
          <p:nvPr/>
        </p:nvSpPr>
        <p:spPr>
          <a:xfrm>
            <a:off x="8686800" y="3767328"/>
            <a:ext cx="365760" cy="109728"/>
          </a:xfrm>
          <a:prstGeom prst="downArrow">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172200" y="3886200"/>
            <a:ext cx="5394960" cy="118872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172200" y="3886200"/>
            <a:ext cx="548640" cy="1188720"/>
          </a:xfrm>
          <a:prstGeom prst="rect">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172200" y="4251960"/>
            <a:ext cx="548640" cy="457200"/>
          </a:xfrm>
          <a:prstGeom prst="rect">
            <a:avLst/>
          </a:prstGeom>
          <a:noFill/>
        </p:spPr>
        <p:txBody>
          <a:bodyPr wrap="square">
            <a:spAutoFit/>
          </a:bodyPr>
          <a:lstStyle/>
          <a:p>
            <a:pPr algn="ctr">
              <a:lnSpc>
                <a:spcPct val="115000"/>
              </a:lnSpc>
            </a:pPr>
            <a:r>
              <a:rPr sz="1800" b="1" i="0">
                <a:solidFill>
                  <a:srgbClr val="0F172A"/>
                </a:solidFill>
                <a:latin typeface="Arial"/>
              </a:rPr>
              <a:t>7</a:t>
            </a:r>
          </a:p>
        </p:txBody>
      </p:sp>
      <p:sp>
        <p:nvSpPr>
          <p:cNvPr id="46" name="TextBox 45"/>
          <p:cNvSpPr txBox="1"/>
          <p:nvPr/>
        </p:nvSpPr>
        <p:spPr>
          <a:xfrm>
            <a:off x="6858000" y="3977639"/>
            <a:ext cx="4617720" cy="320040"/>
          </a:xfrm>
          <a:prstGeom prst="rect">
            <a:avLst/>
          </a:prstGeom>
          <a:noFill/>
        </p:spPr>
        <p:txBody>
          <a:bodyPr wrap="square">
            <a:spAutoFit/>
          </a:bodyPr>
          <a:lstStyle/>
          <a:p>
            <a:pPr algn="l">
              <a:lnSpc>
                <a:spcPct val="115000"/>
              </a:lnSpc>
            </a:pPr>
            <a:r>
              <a:rPr sz="1400" b="1" i="0">
                <a:solidFill>
                  <a:srgbClr val="F8FAFC"/>
                </a:solidFill>
                <a:latin typeface="Arial"/>
              </a:rPr>
              <a:t>⑦ Explainable Radiomics Engine</a:t>
            </a:r>
          </a:p>
        </p:txBody>
      </p:sp>
      <p:sp>
        <p:nvSpPr>
          <p:cNvPr id="47" name="TextBox 46"/>
          <p:cNvSpPr txBox="1"/>
          <p:nvPr/>
        </p:nvSpPr>
        <p:spPr>
          <a:xfrm>
            <a:off x="6858000" y="4297680"/>
            <a:ext cx="4617720" cy="731520"/>
          </a:xfrm>
          <a:prstGeom prst="rect">
            <a:avLst/>
          </a:prstGeom>
          <a:noFill/>
        </p:spPr>
        <p:txBody>
          <a:bodyPr wrap="square">
            <a:spAutoFit/>
          </a:bodyPr>
          <a:lstStyle/>
          <a:p>
            <a:pPr algn="l">
              <a:lnSpc>
                <a:spcPct val="115000"/>
              </a:lnSpc>
            </a:pPr>
            <a:r>
              <a:rPr sz="1150" b="0" i="0">
                <a:solidFill>
                  <a:srgbClr val="CBD5E1"/>
                </a:solidFill>
                <a:latin typeface="Arial"/>
              </a:rPr>
              <a:t>Layer4 gradient extraction for Grad-CAM, Guided Backprop, 3D Elevation, and Contour isolines</a:t>
            </a:r>
          </a:p>
        </p:txBody>
      </p:sp>
      <p:sp>
        <p:nvSpPr>
          <p:cNvPr id="48" name="Down Arrow 47"/>
          <p:cNvSpPr/>
          <p:nvPr/>
        </p:nvSpPr>
        <p:spPr>
          <a:xfrm>
            <a:off x="8686800" y="5093208"/>
            <a:ext cx="365760" cy="109728"/>
          </a:xfrm>
          <a:prstGeom prst="downArrow">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172200" y="5212079"/>
            <a:ext cx="5394960" cy="1188720"/>
          </a:xfrm>
          <a:prstGeom prst="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172200" y="5212079"/>
            <a:ext cx="548640" cy="1188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172200" y="5577840"/>
            <a:ext cx="548640" cy="457200"/>
          </a:xfrm>
          <a:prstGeom prst="rect">
            <a:avLst/>
          </a:prstGeom>
          <a:noFill/>
        </p:spPr>
        <p:txBody>
          <a:bodyPr wrap="square">
            <a:spAutoFit/>
          </a:bodyPr>
          <a:lstStyle/>
          <a:p>
            <a:pPr algn="ctr">
              <a:lnSpc>
                <a:spcPct val="115000"/>
              </a:lnSpc>
            </a:pPr>
            <a:r>
              <a:rPr sz="1800" b="1" i="0">
                <a:solidFill>
                  <a:srgbClr val="0F172A"/>
                </a:solidFill>
                <a:latin typeface="Arial"/>
              </a:rPr>
              <a:t>8</a:t>
            </a:r>
          </a:p>
        </p:txBody>
      </p:sp>
      <p:sp>
        <p:nvSpPr>
          <p:cNvPr id="52" name="TextBox 51"/>
          <p:cNvSpPr txBox="1"/>
          <p:nvPr/>
        </p:nvSpPr>
        <p:spPr>
          <a:xfrm>
            <a:off x="6858000" y="5303519"/>
            <a:ext cx="4617720" cy="320040"/>
          </a:xfrm>
          <a:prstGeom prst="rect">
            <a:avLst/>
          </a:prstGeom>
          <a:noFill/>
        </p:spPr>
        <p:txBody>
          <a:bodyPr wrap="square">
            <a:spAutoFit/>
          </a:bodyPr>
          <a:lstStyle/>
          <a:p>
            <a:pPr algn="l">
              <a:lnSpc>
                <a:spcPct val="115000"/>
              </a:lnSpc>
            </a:pPr>
            <a:r>
              <a:rPr sz="1400" b="1" i="0">
                <a:solidFill>
                  <a:srgbClr val="F8FAFC"/>
                </a:solidFill>
                <a:latin typeface="Arial"/>
              </a:rPr>
              <a:t>⑧ Final Clinical Safety Output</a:t>
            </a:r>
          </a:p>
        </p:txBody>
      </p:sp>
      <p:sp>
        <p:nvSpPr>
          <p:cNvPr id="53" name="TextBox 52"/>
          <p:cNvSpPr txBox="1"/>
          <p:nvPr/>
        </p:nvSpPr>
        <p:spPr>
          <a:xfrm>
            <a:off x="6858000" y="5623559"/>
            <a:ext cx="4617720" cy="731520"/>
          </a:xfrm>
          <a:prstGeom prst="rect">
            <a:avLst/>
          </a:prstGeom>
          <a:noFill/>
        </p:spPr>
        <p:txBody>
          <a:bodyPr wrap="square">
            <a:spAutoFit/>
          </a:bodyPr>
          <a:lstStyle/>
          <a:p>
            <a:pPr algn="l">
              <a:lnSpc>
                <a:spcPct val="115000"/>
              </a:lnSpc>
            </a:pPr>
            <a:r>
              <a:rPr sz="1150" b="0" i="0">
                <a:solidFill>
                  <a:srgbClr val="CBD5E1"/>
                </a:solidFill>
                <a:latin typeface="Arial"/>
              </a:rPr>
              <a:t>Staging Verdict + Probability Radar + XAI Visual Proof + ⚠ Uncertainty Alert if σ² &gt; 0.05</a:t>
            </a:r>
          </a:p>
        </p:txBody>
      </p:sp>
      <p:sp>
        <p:nvSpPr>
          <p:cNvPr id="54" name="Right Arrow 53"/>
          <p:cNvSpPr/>
          <p:nvPr/>
        </p:nvSpPr>
        <p:spPr>
          <a:xfrm>
            <a:off x="5779008" y="5852160"/>
            <a:ext cx="320040" cy="365760"/>
          </a:xfrm>
          <a:prstGeom prst="rightArrow">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Experimental Setup &amp; Training Configuration</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Hyperparameters · AdamW Optimization · Cosine Annealing Warm Restarts</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320040" y="1234440"/>
          <a:ext cx="5943600" cy="52908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584200">
                <a:tc>
                  <a:txBody>
                    <a:bodyPr/>
                    <a:lstStyle/>
                    <a:p>
                      <a:pPr algn="ctr"/>
                      <a:r>
                        <a:rPr sz="1300" b="1">
                          <a:solidFill>
                            <a:srgbClr val="06B6D4"/>
                          </a:solidFill>
                          <a:latin typeface="Arial"/>
                        </a:rPr>
                        <a:t>Hyperparameter</a:t>
                      </a:r>
                    </a:p>
                  </a:txBody>
                  <a:tcPr>
                    <a:solidFill>
                      <a:srgbClr val="334155"/>
                    </a:solidFill>
                  </a:tcPr>
                </a:tc>
                <a:tc>
                  <a:txBody>
                    <a:bodyPr/>
                    <a:lstStyle/>
                    <a:p>
                      <a:pPr algn="ctr"/>
                      <a:r>
                        <a:rPr sz="1300" b="1">
                          <a:solidFill>
                            <a:srgbClr val="06B6D4"/>
                          </a:solidFill>
                          <a:latin typeface="Arial"/>
                        </a:rPr>
                        <a:t>Config Value</a:t>
                      </a:r>
                    </a:p>
                  </a:txBody>
                  <a:tcPr>
                    <a:solidFill>
                      <a:srgbClr val="334155"/>
                    </a:solidFill>
                  </a:tcPr>
                </a:tc>
                <a:tc>
                  <a:txBody>
                    <a:bodyPr/>
                    <a:lstStyle/>
                    <a:p>
                      <a:pPr algn="ctr"/>
                      <a:r>
                        <a:rPr sz="1300" b="1">
                          <a:solidFill>
                            <a:srgbClr val="06B6D4"/>
                          </a:solidFill>
                          <a:latin typeface="Arial"/>
                        </a:rPr>
                        <a:t>Technical &amp; Clinical Justification</a:t>
                      </a:r>
                    </a:p>
                  </a:txBody>
                  <a:tcPr>
                    <a:solidFill>
                      <a:srgbClr val="334155"/>
                    </a:solidFill>
                  </a:tcPr>
                </a:tc>
                <a:extLst>
                  <a:ext uri="{0D108BD9-81ED-4DB2-BD59-A6C34878D82A}">
                    <a16:rowId xmlns:a16="http://schemas.microsoft.com/office/drawing/2014/main" val="10000"/>
                  </a:ext>
                </a:extLst>
              </a:tr>
              <a:tr h="584200">
                <a:tc>
                  <a:txBody>
                    <a:bodyPr/>
                    <a:lstStyle/>
                    <a:p>
                      <a:pPr algn="ctr"/>
                      <a:r>
                        <a:rPr sz="1150">
                          <a:solidFill>
                            <a:srgbClr val="F8FAFC"/>
                          </a:solidFill>
                          <a:latin typeface="Arial"/>
                        </a:rPr>
                        <a:t>Batch Size</a:t>
                      </a:r>
                    </a:p>
                  </a:txBody>
                  <a:tcPr>
                    <a:solidFill>
                      <a:srgbClr val="0F172A"/>
                    </a:solidFill>
                  </a:tcPr>
                </a:tc>
                <a:tc>
                  <a:txBody>
                    <a:bodyPr/>
                    <a:lstStyle/>
                    <a:p>
                      <a:pPr algn="ctr"/>
                      <a:r>
                        <a:rPr sz="1150">
                          <a:solidFill>
                            <a:srgbClr val="F8FAFC"/>
                          </a:solidFill>
                          <a:latin typeface="Arial"/>
                        </a:rPr>
                        <a:t>32</a:t>
                      </a:r>
                    </a:p>
                  </a:txBody>
                  <a:tcPr>
                    <a:solidFill>
                      <a:srgbClr val="0F172A"/>
                    </a:solidFill>
                  </a:tcPr>
                </a:tc>
                <a:tc>
                  <a:txBody>
                    <a:bodyPr/>
                    <a:lstStyle/>
                    <a:p>
                      <a:pPr algn="l"/>
                      <a:r>
                        <a:rPr sz="1150">
                          <a:solidFill>
                            <a:srgbClr val="F8FAFC"/>
                          </a:solidFill>
                          <a:latin typeface="Arial"/>
                        </a:rPr>
                        <a:t>Balances GPU memory saturation with SGD gradient variance</a:t>
                      </a:r>
                    </a:p>
                  </a:txBody>
                  <a:tcPr>
                    <a:solidFill>
                      <a:srgbClr val="0F172A"/>
                    </a:solidFill>
                  </a:tcPr>
                </a:tc>
                <a:extLst>
                  <a:ext uri="{0D108BD9-81ED-4DB2-BD59-A6C34878D82A}">
                    <a16:rowId xmlns:a16="http://schemas.microsoft.com/office/drawing/2014/main" val="10001"/>
                  </a:ext>
                </a:extLst>
              </a:tr>
              <a:tr h="584200">
                <a:tc>
                  <a:txBody>
                    <a:bodyPr/>
                    <a:lstStyle/>
                    <a:p>
                      <a:pPr algn="l"/>
                      <a:r>
                        <a:rPr sz="1150">
                          <a:solidFill>
                            <a:srgbClr val="F8FAFC"/>
                          </a:solidFill>
                          <a:latin typeface="Arial"/>
                        </a:rPr>
                        <a:t>Initial Learning Rate</a:t>
                      </a:r>
                    </a:p>
                  </a:txBody>
                  <a:tcPr>
                    <a:solidFill>
                      <a:srgbClr val="1E293B"/>
                    </a:solidFill>
                  </a:tcPr>
                </a:tc>
                <a:tc>
                  <a:txBody>
                    <a:bodyPr/>
                    <a:lstStyle/>
                    <a:p>
                      <a:pPr algn="ctr"/>
                      <a:r>
                        <a:rPr sz="1150">
                          <a:solidFill>
                            <a:srgbClr val="F8FAFC"/>
                          </a:solidFill>
                          <a:latin typeface="Arial"/>
                        </a:rPr>
                        <a:t>1 × 10⁻³</a:t>
                      </a:r>
                    </a:p>
                  </a:txBody>
                  <a:tcPr>
                    <a:solidFill>
                      <a:srgbClr val="1E293B"/>
                    </a:solidFill>
                  </a:tcPr>
                </a:tc>
                <a:tc>
                  <a:txBody>
                    <a:bodyPr/>
                    <a:lstStyle/>
                    <a:p>
                      <a:pPr algn="l"/>
                      <a:r>
                        <a:rPr sz="1150">
                          <a:solidFill>
                            <a:srgbClr val="F8FAFC"/>
                          </a:solidFill>
                          <a:latin typeface="Arial"/>
                        </a:rPr>
                        <a:t>Standard starting regime for AdamW on deep residual architectures</a:t>
                      </a:r>
                    </a:p>
                  </a:txBody>
                  <a:tcPr>
                    <a:solidFill>
                      <a:srgbClr val="1E293B"/>
                    </a:solidFill>
                  </a:tcPr>
                </a:tc>
                <a:extLst>
                  <a:ext uri="{0D108BD9-81ED-4DB2-BD59-A6C34878D82A}">
                    <a16:rowId xmlns:a16="http://schemas.microsoft.com/office/drawing/2014/main" val="10002"/>
                  </a:ext>
                </a:extLst>
              </a:tr>
              <a:tr h="584200">
                <a:tc>
                  <a:txBody>
                    <a:bodyPr/>
                    <a:lstStyle/>
                    <a:p>
                      <a:pPr algn="l"/>
                      <a:r>
                        <a:rPr sz="1150">
                          <a:solidFill>
                            <a:srgbClr val="F8FAFC"/>
                          </a:solidFill>
                          <a:latin typeface="Arial"/>
                        </a:rPr>
                        <a:t>Weight Decay (λ)</a:t>
                      </a:r>
                    </a:p>
                  </a:txBody>
                  <a:tcPr>
                    <a:solidFill>
                      <a:srgbClr val="0F172A"/>
                    </a:solidFill>
                  </a:tcPr>
                </a:tc>
                <a:tc>
                  <a:txBody>
                    <a:bodyPr/>
                    <a:lstStyle/>
                    <a:p>
                      <a:pPr algn="ctr"/>
                      <a:r>
                        <a:rPr sz="1150">
                          <a:solidFill>
                            <a:srgbClr val="F8FAFC"/>
                          </a:solidFill>
                          <a:latin typeface="Arial"/>
                        </a:rPr>
                        <a:t>1 × 10⁻⁴</a:t>
                      </a:r>
                    </a:p>
                  </a:txBody>
                  <a:tcPr>
                    <a:solidFill>
                      <a:srgbClr val="0F172A"/>
                    </a:solidFill>
                  </a:tcPr>
                </a:tc>
                <a:tc>
                  <a:txBody>
                    <a:bodyPr/>
                    <a:lstStyle/>
                    <a:p>
                      <a:pPr algn="l"/>
                      <a:r>
                        <a:rPr sz="1150">
                          <a:solidFill>
                            <a:srgbClr val="F8FAFC"/>
                          </a:solidFill>
                          <a:latin typeface="Arial"/>
                        </a:rPr>
                        <a:t>Decoupled L₂ regularizer to suppress over-parameterization on 3K scans</a:t>
                      </a:r>
                    </a:p>
                  </a:txBody>
                  <a:tcPr>
                    <a:solidFill>
                      <a:srgbClr val="0F172A"/>
                    </a:solidFill>
                  </a:tcPr>
                </a:tc>
                <a:extLst>
                  <a:ext uri="{0D108BD9-81ED-4DB2-BD59-A6C34878D82A}">
                    <a16:rowId xmlns:a16="http://schemas.microsoft.com/office/drawing/2014/main" val="10003"/>
                  </a:ext>
                </a:extLst>
              </a:tr>
              <a:tr h="584200">
                <a:tc>
                  <a:txBody>
                    <a:bodyPr/>
                    <a:lstStyle/>
                    <a:p>
                      <a:pPr algn="l"/>
                      <a:r>
                        <a:rPr sz="1150">
                          <a:solidFill>
                            <a:srgbClr val="F8FAFC"/>
                          </a:solidFill>
                          <a:latin typeface="Arial"/>
                        </a:rPr>
                        <a:t>Dropout Probability</a:t>
                      </a:r>
                    </a:p>
                  </a:txBody>
                  <a:tcPr>
                    <a:solidFill>
                      <a:srgbClr val="1E293B"/>
                    </a:solidFill>
                  </a:tcPr>
                </a:tc>
                <a:tc>
                  <a:txBody>
                    <a:bodyPr/>
                    <a:lstStyle/>
                    <a:p>
                      <a:pPr algn="ctr"/>
                      <a:r>
                        <a:rPr sz="1150">
                          <a:solidFill>
                            <a:srgbClr val="F8FAFC"/>
                          </a:solidFill>
                          <a:latin typeface="Arial"/>
                        </a:rPr>
                        <a:t>0.40</a:t>
                      </a:r>
                    </a:p>
                  </a:txBody>
                  <a:tcPr>
                    <a:solidFill>
                      <a:srgbClr val="1E293B"/>
                    </a:solidFill>
                  </a:tcPr>
                </a:tc>
                <a:tc>
                  <a:txBody>
                    <a:bodyPr/>
                    <a:lstStyle/>
                    <a:p>
                      <a:pPr algn="l"/>
                      <a:r>
                        <a:rPr sz="1150">
                          <a:solidFill>
                            <a:srgbClr val="F8FAFC"/>
                          </a:solidFill>
                          <a:latin typeface="Arial"/>
                        </a:rPr>
                        <a:t>Retains 60% of active neuron connections; doubles as Bayesian sampler</a:t>
                      </a:r>
                    </a:p>
                  </a:txBody>
                  <a:tcPr>
                    <a:solidFill>
                      <a:srgbClr val="1E293B"/>
                    </a:solidFill>
                  </a:tcPr>
                </a:tc>
                <a:extLst>
                  <a:ext uri="{0D108BD9-81ED-4DB2-BD59-A6C34878D82A}">
                    <a16:rowId xmlns:a16="http://schemas.microsoft.com/office/drawing/2014/main" val="10004"/>
                  </a:ext>
                </a:extLst>
              </a:tr>
              <a:tr h="584200">
                <a:tc>
                  <a:txBody>
                    <a:bodyPr/>
                    <a:lstStyle/>
                    <a:p>
                      <a:pPr algn="l"/>
                      <a:r>
                        <a:rPr sz="1150">
                          <a:solidFill>
                            <a:srgbClr val="F8FAFC"/>
                          </a:solidFill>
                          <a:latin typeface="Arial"/>
                        </a:rPr>
                        <a:t>Label Smoothing (ε)</a:t>
                      </a:r>
                    </a:p>
                  </a:txBody>
                  <a:tcPr>
                    <a:solidFill>
                      <a:srgbClr val="0F172A"/>
                    </a:solidFill>
                  </a:tcPr>
                </a:tc>
                <a:tc>
                  <a:txBody>
                    <a:bodyPr/>
                    <a:lstStyle/>
                    <a:p>
                      <a:pPr algn="ctr"/>
                      <a:r>
                        <a:rPr sz="1150">
                          <a:solidFill>
                            <a:srgbClr val="F8FAFC"/>
                          </a:solidFill>
                          <a:latin typeface="Arial"/>
                        </a:rPr>
                        <a:t>0.10</a:t>
                      </a:r>
                    </a:p>
                  </a:txBody>
                  <a:tcPr>
                    <a:solidFill>
                      <a:srgbClr val="0F172A"/>
                    </a:solidFill>
                  </a:tcPr>
                </a:tc>
                <a:tc>
                  <a:txBody>
                    <a:bodyPr/>
                    <a:lstStyle/>
                    <a:p>
                      <a:pPr algn="l"/>
                      <a:r>
                        <a:rPr sz="1150">
                          <a:solidFill>
                            <a:srgbClr val="F8FAFC"/>
                          </a:solidFill>
                          <a:latin typeface="Arial"/>
                        </a:rPr>
                        <a:t>Prevents logit margins from diverging to ±∞ on borderline scans</a:t>
                      </a:r>
                    </a:p>
                  </a:txBody>
                  <a:tcPr>
                    <a:solidFill>
                      <a:srgbClr val="0F172A"/>
                    </a:solidFill>
                  </a:tcPr>
                </a:tc>
                <a:extLst>
                  <a:ext uri="{0D108BD9-81ED-4DB2-BD59-A6C34878D82A}">
                    <a16:rowId xmlns:a16="http://schemas.microsoft.com/office/drawing/2014/main" val="10005"/>
                  </a:ext>
                </a:extLst>
              </a:tr>
              <a:tr h="584200">
                <a:tc>
                  <a:txBody>
                    <a:bodyPr/>
                    <a:lstStyle/>
                    <a:p>
                      <a:pPr algn="ctr"/>
                      <a:r>
                        <a:rPr sz="1150">
                          <a:solidFill>
                            <a:srgbClr val="F8FAFC"/>
                          </a:solidFill>
                          <a:latin typeface="Arial"/>
                        </a:rPr>
                        <a:t>Maximum Epochs</a:t>
                      </a:r>
                    </a:p>
                  </a:txBody>
                  <a:tcPr>
                    <a:solidFill>
                      <a:srgbClr val="1E293B"/>
                    </a:solidFill>
                  </a:tcPr>
                </a:tc>
                <a:tc>
                  <a:txBody>
                    <a:bodyPr/>
                    <a:lstStyle/>
                    <a:p>
                      <a:pPr algn="ctr"/>
                      <a:r>
                        <a:rPr sz="1150">
                          <a:solidFill>
                            <a:srgbClr val="F8FAFC"/>
                          </a:solidFill>
                          <a:latin typeface="Arial"/>
                        </a:rPr>
                        <a:t>60</a:t>
                      </a:r>
                    </a:p>
                  </a:txBody>
                  <a:tcPr>
                    <a:solidFill>
                      <a:srgbClr val="1E293B"/>
                    </a:solidFill>
                  </a:tcPr>
                </a:tc>
                <a:tc>
                  <a:txBody>
                    <a:bodyPr/>
                    <a:lstStyle/>
                    <a:p>
                      <a:pPr algn="l"/>
                      <a:r>
                        <a:rPr sz="1150">
                          <a:solidFill>
                            <a:srgbClr val="F8FAFC"/>
                          </a:solidFill>
                          <a:latin typeface="Arial"/>
                        </a:rPr>
                        <a:t>Upper training horizon; early stopping monitors validation plateau</a:t>
                      </a:r>
                    </a:p>
                  </a:txBody>
                  <a:tcPr>
                    <a:solidFill>
                      <a:srgbClr val="1E293B"/>
                    </a:solidFill>
                  </a:tcPr>
                </a:tc>
                <a:extLst>
                  <a:ext uri="{0D108BD9-81ED-4DB2-BD59-A6C34878D82A}">
                    <a16:rowId xmlns:a16="http://schemas.microsoft.com/office/drawing/2014/main" val="10006"/>
                  </a:ext>
                </a:extLst>
              </a:tr>
              <a:tr h="584200">
                <a:tc>
                  <a:txBody>
                    <a:bodyPr/>
                    <a:lstStyle/>
                    <a:p>
                      <a:pPr algn="l"/>
                      <a:r>
                        <a:rPr sz="1150">
                          <a:solidFill>
                            <a:srgbClr val="F8FAFC"/>
                          </a:solidFill>
                          <a:latin typeface="Arial"/>
                        </a:rPr>
                        <a:t>Early Stopping Patience</a:t>
                      </a:r>
                    </a:p>
                  </a:txBody>
                  <a:tcPr>
                    <a:solidFill>
                      <a:srgbClr val="0F172A"/>
                    </a:solidFill>
                  </a:tcPr>
                </a:tc>
                <a:tc>
                  <a:txBody>
                    <a:bodyPr/>
                    <a:lstStyle/>
                    <a:p>
                      <a:pPr algn="ctr"/>
                      <a:r>
                        <a:rPr sz="1150">
                          <a:solidFill>
                            <a:srgbClr val="F8FAFC"/>
                          </a:solidFill>
                          <a:latin typeface="Arial"/>
                        </a:rPr>
                        <a:t>10 Epochs</a:t>
                      </a:r>
                    </a:p>
                  </a:txBody>
                  <a:tcPr>
                    <a:solidFill>
                      <a:srgbClr val="0F172A"/>
                    </a:solidFill>
                  </a:tcPr>
                </a:tc>
                <a:tc>
                  <a:txBody>
                    <a:bodyPr/>
                    <a:lstStyle/>
                    <a:p>
                      <a:pPr algn="l"/>
                      <a:r>
                        <a:rPr sz="1150">
                          <a:solidFill>
                            <a:srgbClr val="F8FAFC"/>
                          </a:solidFill>
                          <a:latin typeface="Arial"/>
                        </a:rPr>
                        <a:t>Allows Cosine warm restart recovery before asserting convergence</a:t>
                      </a:r>
                    </a:p>
                  </a:txBody>
                  <a:tcPr>
                    <a:solidFill>
                      <a:srgbClr val="0F172A"/>
                    </a:solidFill>
                  </a:tcPr>
                </a:tc>
                <a:extLst>
                  <a:ext uri="{0D108BD9-81ED-4DB2-BD59-A6C34878D82A}">
                    <a16:rowId xmlns:a16="http://schemas.microsoft.com/office/drawing/2014/main" val="10007"/>
                  </a:ext>
                </a:extLst>
              </a:tr>
              <a:tr h="584200">
                <a:tc>
                  <a:txBody>
                    <a:bodyPr/>
                    <a:lstStyle/>
                    <a:p>
                      <a:pPr algn="l"/>
                      <a:r>
                        <a:rPr sz="1150">
                          <a:solidFill>
                            <a:srgbClr val="F8FAFC"/>
                          </a:solidFill>
                          <a:latin typeface="Arial"/>
                        </a:rPr>
                        <a:t>Cosine Schedule (T₀ / T_mult)</a:t>
                      </a:r>
                    </a:p>
                  </a:txBody>
                  <a:tcPr>
                    <a:solidFill>
                      <a:srgbClr val="1E293B"/>
                    </a:solidFill>
                  </a:tcPr>
                </a:tc>
                <a:tc>
                  <a:txBody>
                    <a:bodyPr/>
                    <a:lstStyle/>
                    <a:p>
                      <a:pPr algn="ctr"/>
                      <a:r>
                        <a:rPr sz="1150">
                          <a:solidFill>
                            <a:srgbClr val="F8FAFC"/>
                          </a:solidFill>
                          <a:latin typeface="Arial"/>
                        </a:rPr>
                        <a:t>10 / 2</a:t>
                      </a:r>
                    </a:p>
                  </a:txBody>
                  <a:tcPr>
                    <a:solidFill>
                      <a:srgbClr val="1E293B"/>
                    </a:solidFill>
                  </a:tcPr>
                </a:tc>
                <a:tc>
                  <a:txBody>
                    <a:bodyPr/>
                    <a:lstStyle/>
                    <a:p>
                      <a:pPr algn="l"/>
                      <a:r>
                        <a:rPr sz="1150">
                          <a:solidFill>
                            <a:srgbClr val="F8FAFC"/>
                          </a:solidFill>
                          <a:latin typeface="Arial"/>
                        </a:rPr>
                        <a:t>First cycle 10 epochs; schedule period doubles each restart (10→20→40)</a:t>
                      </a:r>
                    </a:p>
                  </a:txBody>
                  <a:tcPr>
                    <a:solidFill>
                      <a:srgbClr val="1E293B"/>
                    </a:solidFill>
                  </a:tcPr>
                </a:tc>
                <a:extLst>
                  <a:ext uri="{0D108BD9-81ED-4DB2-BD59-A6C34878D82A}">
                    <a16:rowId xmlns:a16="http://schemas.microsoft.com/office/drawing/2014/main" val="10008"/>
                  </a:ext>
                </a:extLst>
              </a:tr>
            </a:tbl>
          </a:graphicData>
        </a:graphic>
      </p:graphicFrame>
      <p:sp>
        <p:nvSpPr>
          <p:cNvPr id="9" name="Rectangle 8"/>
          <p:cNvSpPr/>
          <p:nvPr/>
        </p:nvSpPr>
        <p:spPr>
          <a:xfrm>
            <a:off x="6446520" y="1234440"/>
            <a:ext cx="5440680" cy="283464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46520" y="1234440"/>
            <a:ext cx="544068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29400" y="1325880"/>
            <a:ext cx="5074920" cy="365760"/>
          </a:xfrm>
          <a:prstGeom prst="rect">
            <a:avLst/>
          </a:prstGeom>
          <a:noFill/>
        </p:spPr>
        <p:txBody>
          <a:bodyPr wrap="square">
            <a:spAutoFit/>
          </a:bodyPr>
          <a:lstStyle/>
          <a:p>
            <a:pPr algn="l">
              <a:lnSpc>
                <a:spcPct val="115000"/>
              </a:lnSpc>
            </a:pPr>
            <a:r>
              <a:rPr sz="1500" b="1" i="0">
                <a:solidFill>
                  <a:srgbClr val="10B981"/>
                </a:solidFill>
                <a:latin typeface="Arial"/>
              </a:rPr>
              <a:t>Why AdamW over Standard Adam?</a:t>
            </a:r>
          </a:p>
        </p:txBody>
      </p:sp>
      <p:sp>
        <p:nvSpPr>
          <p:cNvPr id="12" name="TextBox 11"/>
          <p:cNvSpPr txBox="1"/>
          <p:nvPr/>
        </p:nvSpPr>
        <p:spPr>
          <a:xfrm>
            <a:off x="6629400" y="1828800"/>
            <a:ext cx="5074920" cy="2148840"/>
          </a:xfrm>
          <a:prstGeom prst="rect">
            <a:avLst/>
          </a:prstGeom>
          <a:noFill/>
        </p:spPr>
        <p:txBody>
          <a:bodyPr wrap="square">
            <a:spAutoFit/>
          </a:bodyPr>
          <a:lstStyle/>
          <a:p>
            <a:pPr>
              <a:lnSpc>
                <a:spcPct val="115000"/>
              </a:lnSpc>
              <a:spcAft>
                <a:spcPts val="600"/>
              </a:spcAft>
            </a:pPr>
            <a:r>
              <a:rPr sz="1150">
                <a:solidFill>
                  <a:srgbClr val="F8FAFC"/>
                </a:solidFill>
                <a:latin typeface="Arial"/>
              </a:rPr>
              <a:t>▸  Standard Adam conflates adaptive gradient scaling with L₂ weight decay, causing suboptimal regularization on deep residual pathways.</a:t>
            </a:r>
          </a:p>
          <a:p>
            <a:pPr>
              <a:lnSpc>
                <a:spcPct val="115000"/>
              </a:lnSpc>
              <a:spcAft>
                <a:spcPts val="600"/>
              </a:spcAft>
            </a:pPr>
            <a:r>
              <a:rPr sz="1150">
                <a:solidFill>
                  <a:srgbClr val="F8FAFC"/>
                </a:solidFill>
                <a:latin typeface="Arial"/>
              </a:rPr>
              <a:t>▸  AdamW Decouples Weight Decay: Applies weight regularization independently of historical gradient variance via update rule: θ_{t+1} = θ_t − α(m̂_t / (√v̂_t + ε)) − α·λ·θ_t.</a:t>
            </a:r>
          </a:p>
          <a:p>
            <a:pPr>
              <a:lnSpc>
                <a:spcPct val="115000"/>
              </a:lnSpc>
              <a:spcAft>
                <a:spcPts val="600"/>
              </a:spcAft>
            </a:pPr>
            <a:r>
              <a:rPr sz="1150">
                <a:solidFill>
                  <a:srgbClr val="F8FAFC"/>
                </a:solidFill>
                <a:latin typeface="Arial"/>
              </a:rPr>
              <a:t>▸  Gradient Clipping (max_norm=5.0) intercepts gradient explosion during initial bottleneck backpropagation.</a:t>
            </a:r>
          </a:p>
        </p:txBody>
      </p:sp>
      <p:sp>
        <p:nvSpPr>
          <p:cNvPr id="13" name="Rectangle 12"/>
          <p:cNvSpPr/>
          <p:nvPr/>
        </p:nvSpPr>
        <p:spPr>
          <a:xfrm>
            <a:off x="6446520" y="4206240"/>
            <a:ext cx="5440680" cy="228600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46520" y="4206240"/>
            <a:ext cx="544068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29400" y="4297679"/>
            <a:ext cx="5074920" cy="365760"/>
          </a:xfrm>
          <a:prstGeom prst="rect">
            <a:avLst/>
          </a:prstGeom>
          <a:noFill/>
        </p:spPr>
        <p:txBody>
          <a:bodyPr wrap="square">
            <a:spAutoFit/>
          </a:bodyPr>
          <a:lstStyle/>
          <a:p>
            <a:pPr algn="l">
              <a:lnSpc>
                <a:spcPct val="115000"/>
              </a:lnSpc>
            </a:pPr>
            <a:r>
              <a:rPr sz="1500" b="1" i="0">
                <a:solidFill>
                  <a:srgbClr val="FACC15"/>
                </a:solidFill>
                <a:latin typeface="Arial"/>
              </a:rPr>
              <a:t>Cosine Annealing Warm Restarts (T_mult=2)</a:t>
            </a:r>
          </a:p>
        </p:txBody>
      </p:sp>
      <p:sp>
        <p:nvSpPr>
          <p:cNvPr id="16" name="TextBox 15"/>
          <p:cNvSpPr txBox="1"/>
          <p:nvPr/>
        </p:nvSpPr>
        <p:spPr>
          <a:xfrm>
            <a:off x="6629400" y="4800600"/>
            <a:ext cx="5074920" cy="1600200"/>
          </a:xfrm>
          <a:prstGeom prst="rect">
            <a:avLst/>
          </a:prstGeom>
          <a:noFill/>
        </p:spPr>
        <p:txBody>
          <a:bodyPr wrap="square">
            <a:spAutoFit/>
          </a:bodyPr>
          <a:lstStyle/>
          <a:p>
            <a:pPr>
              <a:lnSpc>
                <a:spcPct val="115000"/>
              </a:lnSpc>
              <a:spcAft>
                <a:spcPts val="600"/>
              </a:spcAft>
            </a:pPr>
            <a:r>
              <a:rPr sz="1150">
                <a:solidFill>
                  <a:srgbClr val="F8FAFC"/>
                </a:solidFill>
                <a:latin typeface="Arial"/>
              </a:rPr>
              <a:t>▸  Schedule math: η_t = η_min + ½(η_max − η_min)(1 + cos(T_cur/T_i × π)).</a:t>
            </a:r>
          </a:p>
          <a:p>
            <a:pPr>
              <a:lnSpc>
                <a:spcPct val="115000"/>
              </a:lnSpc>
              <a:spcAft>
                <a:spcPts val="600"/>
              </a:spcAft>
            </a:pPr>
            <a:r>
              <a:rPr sz="1150">
                <a:solidFill>
                  <a:srgbClr val="F8FAFC"/>
                </a:solidFill>
                <a:latin typeface="Arial"/>
              </a:rPr>
              <a:t>▸  Why Warm Restarts? Periodic learning rate resets (at epochs 10, 30, 70) jolt the optimizer out of shallow local minima, empowering exploration of robust, clinical-grade loss basins.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Training Convergence &amp; Loss Behavior</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Empirical Proof of Optimal Learning Stability Without Overfitting</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5623560" cy="525780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5623560" cy="4572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98448"/>
            <a:ext cx="5303520" cy="365760"/>
          </a:xfrm>
          <a:prstGeom prst="rect">
            <a:avLst/>
          </a:prstGeom>
          <a:noFill/>
        </p:spPr>
        <p:txBody>
          <a:bodyPr wrap="square">
            <a:spAutoFit/>
          </a:bodyPr>
          <a:lstStyle/>
          <a:p>
            <a:pPr algn="l">
              <a:lnSpc>
                <a:spcPct val="115000"/>
              </a:lnSpc>
            </a:pPr>
            <a:r>
              <a:rPr sz="1500" b="1" i="0">
                <a:solidFill>
                  <a:srgbClr val="06B6D4"/>
                </a:solidFill>
                <a:latin typeface="Arial"/>
              </a:rPr>
              <a:t>Training vs Validation Accuracy Kinetics</a:t>
            </a:r>
          </a:p>
        </p:txBody>
      </p:sp>
      <p:sp>
        <p:nvSpPr>
          <p:cNvPr id="11" name="Rectangle 10"/>
          <p:cNvSpPr/>
          <p:nvPr/>
        </p:nvSpPr>
        <p:spPr>
          <a:xfrm>
            <a:off x="411480" y="1737360"/>
            <a:ext cx="5440679" cy="329184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training_curves.png"/>
          <p:cNvPicPr>
            <a:picLocks noChangeAspect="1"/>
          </p:cNvPicPr>
          <p:nvPr/>
        </p:nvPicPr>
        <p:blipFill>
          <a:blip r:embed="rId2"/>
          <a:stretch>
            <a:fillRect/>
          </a:stretch>
        </p:blipFill>
        <p:spPr>
          <a:xfrm>
            <a:off x="457200" y="1783080"/>
            <a:ext cx="5349240" cy="3200400"/>
          </a:xfrm>
          <a:prstGeom prst="rect">
            <a:avLst/>
          </a:prstGeom>
        </p:spPr>
      </p:pic>
      <p:sp>
        <p:nvSpPr>
          <p:cNvPr id="13" name="TextBox 12"/>
          <p:cNvSpPr txBox="1"/>
          <p:nvPr/>
        </p:nvSpPr>
        <p:spPr>
          <a:xfrm>
            <a:off x="457200" y="5074920"/>
            <a:ext cx="5349240" cy="1325880"/>
          </a:xfrm>
          <a:prstGeom prst="rect">
            <a:avLst/>
          </a:prstGeom>
          <a:noFill/>
        </p:spPr>
        <p:txBody>
          <a:bodyPr wrap="square">
            <a:spAutoFit/>
          </a:bodyPr>
          <a:lstStyle/>
          <a:p>
            <a:pPr algn="l">
              <a:lnSpc>
                <a:spcPct val="115000"/>
              </a:lnSpc>
            </a:pPr>
            <a:r>
              <a:rPr sz="1200" b="0" i="0">
                <a:solidFill>
                  <a:srgbClr val="F8FAFC"/>
                </a:solidFill>
                <a:latin typeface="Arial"/>
              </a:rPr>
              <a:t>Convergence Inference: Parallel upward trajectory of training and validation accuracy proves complete absence of overfitting. Model smoothly approaches 97.8% plateau; early stopping successfully retains optimal generalizable checkpoint weights at epoch 38.</a:t>
            </a:r>
          </a:p>
        </p:txBody>
      </p:sp>
      <p:sp>
        <p:nvSpPr>
          <p:cNvPr id="14" name="Rectangle 13"/>
          <p:cNvSpPr/>
          <p:nvPr/>
        </p:nvSpPr>
        <p:spPr>
          <a:xfrm>
            <a:off x="6263640" y="1234440"/>
            <a:ext cx="5623560" cy="52578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234440"/>
            <a:ext cx="5623560" cy="4572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1298448"/>
            <a:ext cx="5303520" cy="365760"/>
          </a:xfrm>
          <a:prstGeom prst="rect">
            <a:avLst/>
          </a:prstGeom>
          <a:noFill/>
        </p:spPr>
        <p:txBody>
          <a:bodyPr wrap="square">
            <a:spAutoFit/>
          </a:bodyPr>
          <a:lstStyle/>
          <a:p>
            <a:pPr algn="l">
              <a:lnSpc>
                <a:spcPct val="115000"/>
              </a:lnSpc>
            </a:pPr>
            <a:r>
              <a:rPr sz="1500" b="1" i="0">
                <a:solidFill>
                  <a:srgbClr val="10B981"/>
                </a:solidFill>
                <a:latin typeface="Arial"/>
              </a:rPr>
              <a:t>Weighted Cross-Entropy Loss Optimization</a:t>
            </a:r>
          </a:p>
        </p:txBody>
      </p:sp>
      <p:sp>
        <p:nvSpPr>
          <p:cNvPr id="17" name="Rectangle 16"/>
          <p:cNvSpPr/>
          <p:nvPr/>
        </p:nvSpPr>
        <p:spPr>
          <a:xfrm>
            <a:off x="6355080" y="1737360"/>
            <a:ext cx="5440679" cy="329184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loss_curve.png"/>
          <p:cNvPicPr>
            <a:picLocks noChangeAspect="1"/>
          </p:cNvPicPr>
          <p:nvPr/>
        </p:nvPicPr>
        <p:blipFill>
          <a:blip r:embed="rId3"/>
          <a:stretch>
            <a:fillRect/>
          </a:stretch>
        </p:blipFill>
        <p:spPr>
          <a:xfrm>
            <a:off x="6400800" y="1783080"/>
            <a:ext cx="5349240" cy="3200400"/>
          </a:xfrm>
          <a:prstGeom prst="rect">
            <a:avLst/>
          </a:prstGeom>
        </p:spPr>
      </p:pic>
      <p:sp>
        <p:nvSpPr>
          <p:cNvPr id="19" name="TextBox 18"/>
          <p:cNvSpPr txBox="1"/>
          <p:nvPr/>
        </p:nvSpPr>
        <p:spPr>
          <a:xfrm>
            <a:off x="6400800" y="5074920"/>
            <a:ext cx="5349240" cy="1325880"/>
          </a:xfrm>
          <a:prstGeom prst="rect">
            <a:avLst/>
          </a:prstGeom>
          <a:noFill/>
        </p:spPr>
        <p:txBody>
          <a:bodyPr wrap="square">
            <a:spAutoFit/>
          </a:bodyPr>
          <a:lstStyle/>
          <a:p>
            <a:pPr algn="l">
              <a:lnSpc>
                <a:spcPct val="115000"/>
              </a:lnSpc>
            </a:pPr>
            <a:r>
              <a:rPr sz="1200" b="0" i="0">
                <a:solidFill>
                  <a:srgbClr val="F8FAFC"/>
                </a:solidFill>
                <a:latin typeface="Arial"/>
              </a:rPr>
              <a:t>Loss Kinetics Inference: Clean downhill minimization profile with slight rhythmic dampening corresponding to Cosine Annealing warm restarts. These intentional LR cycles prevent stagnation in sub-optimal feature wells, ensuring sharp tumor classification boundaries.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Results &amp; Quantitative Evaluation</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Empirical Validation Benchmarks on 394 Unseen Test MRI Scans</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2240280" cy="109728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298448"/>
            <a:ext cx="2240280" cy="502920"/>
          </a:xfrm>
          <a:prstGeom prst="rect">
            <a:avLst/>
          </a:prstGeom>
          <a:noFill/>
        </p:spPr>
        <p:txBody>
          <a:bodyPr wrap="square">
            <a:spAutoFit/>
          </a:bodyPr>
          <a:lstStyle/>
          <a:p>
            <a:pPr algn="ctr">
              <a:lnSpc>
                <a:spcPct val="115000"/>
              </a:lnSpc>
            </a:pPr>
            <a:r>
              <a:rPr sz="2400" b="1" i="0">
                <a:solidFill>
                  <a:srgbClr val="06B6D4"/>
                </a:solidFill>
                <a:latin typeface="Arial"/>
              </a:rPr>
              <a:t>97.84%</a:t>
            </a:r>
          </a:p>
        </p:txBody>
      </p:sp>
      <p:sp>
        <p:nvSpPr>
          <p:cNvPr id="10" name="TextBox 9"/>
          <p:cNvSpPr txBox="1"/>
          <p:nvPr/>
        </p:nvSpPr>
        <p:spPr>
          <a:xfrm>
            <a:off x="320040" y="1783080"/>
            <a:ext cx="2240280" cy="411480"/>
          </a:xfrm>
          <a:prstGeom prst="rect">
            <a:avLst/>
          </a:prstGeom>
          <a:noFill/>
        </p:spPr>
        <p:txBody>
          <a:bodyPr wrap="square">
            <a:spAutoFit/>
          </a:bodyPr>
          <a:lstStyle/>
          <a:p>
            <a:pPr algn="ctr">
              <a:lnSpc>
                <a:spcPct val="115000"/>
              </a:lnSpc>
            </a:pPr>
            <a:r>
              <a:rPr sz="1100" b="1" i="0">
                <a:solidFill>
                  <a:srgbClr val="F8FAFC"/>
                </a:solidFill>
                <a:latin typeface="Arial"/>
              </a:rPr>
              <a:t>Overall Accuracy</a:t>
            </a:r>
          </a:p>
        </p:txBody>
      </p:sp>
      <p:sp>
        <p:nvSpPr>
          <p:cNvPr id="11" name="Rectangle 10"/>
          <p:cNvSpPr/>
          <p:nvPr/>
        </p:nvSpPr>
        <p:spPr>
          <a:xfrm>
            <a:off x="2651760" y="1234440"/>
            <a:ext cx="2240280" cy="109728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51760" y="1298448"/>
            <a:ext cx="2240280" cy="502920"/>
          </a:xfrm>
          <a:prstGeom prst="rect">
            <a:avLst/>
          </a:prstGeom>
          <a:noFill/>
        </p:spPr>
        <p:txBody>
          <a:bodyPr wrap="square">
            <a:spAutoFit/>
          </a:bodyPr>
          <a:lstStyle/>
          <a:p>
            <a:pPr algn="ctr">
              <a:lnSpc>
                <a:spcPct val="115000"/>
              </a:lnSpc>
            </a:pPr>
            <a:r>
              <a:rPr sz="2400" b="1" i="0">
                <a:solidFill>
                  <a:srgbClr val="10B981"/>
                </a:solidFill>
                <a:latin typeface="Arial"/>
              </a:rPr>
              <a:t>0.9955</a:t>
            </a:r>
          </a:p>
        </p:txBody>
      </p:sp>
      <p:sp>
        <p:nvSpPr>
          <p:cNvPr id="13" name="TextBox 12"/>
          <p:cNvSpPr txBox="1"/>
          <p:nvPr/>
        </p:nvSpPr>
        <p:spPr>
          <a:xfrm>
            <a:off x="2651760" y="1783080"/>
            <a:ext cx="2240280" cy="411480"/>
          </a:xfrm>
          <a:prstGeom prst="rect">
            <a:avLst/>
          </a:prstGeom>
          <a:noFill/>
        </p:spPr>
        <p:txBody>
          <a:bodyPr wrap="square">
            <a:spAutoFit/>
          </a:bodyPr>
          <a:lstStyle/>
          <a:p>
            <a:pPr algn="ctr">
              <a:lnSpc>
                <a:spcPct val="115000"/>
              </a:lnSpc>
            </a:pPr>
            <a:r>
              <a:rPr sz="1100" b="1" i="0">
                <a:solidFill>
                  <a:srgbClr val="F8FAFC"/>
                </a:solidFill>
                <a:latin typeface="Arial"/>
              </a:rPr>
              <a:t>Mean AUC-ROC</a:t>
            </a:r>
          </a:p>
        </p:txBody>
      </p:sp>
      <p:sp>
        <p:nvSpPr>
          <p:cNvPr id="14" name="Rectangle 13"/>
          <p:cNvSpPr/>
          <p:nvPr/>
        </p:nvSpPr>
        <p:spPr>
          <a:xfrm>
            <a:off x="4983479" y="1234440"/>
            <a:ext cx="2240280" cy="109728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83479" y="1298448"/>
            <a:ext cx="2240280" cy="502920"/>
          </a:xfrm>
          <a:prstGeom prst="rect">
            <a:avLst/>
          </a:prstGeom>
          <a:noFill/>
        </p:spPr>
        <p:txBody>
          <a:bodyPr wrap="square">
            <a:spAutoFit/>
          </a:bodyPr>
          <a:lstStyle/>
          <a:p>
            <a:pPr algn="ctr">
              <a:lnSpc>
                <a:spcPct val="115000"/>
              </a:lnSpc>
            </a:pPr>
            <a:r>
              <a:rPr sz="2400" b="1" i="0">
                <a:solidFill>
                  <a:srgbClr val="FACC15"/>
                </a:solidFill>
                <a:latin typeface="Arial"/>
              </a:rPr>
              <a:t>97.87%</a:t>
            </a:r>
          </a:p>
        </p:txBody>
      </p:sp>
      <p:sp>
        <p:nvSpPr>
          <p:cNvPr id="16" name="TextBox 15"/>
          <p:cNvSpPr txBox="1"/>
          <p:nvPr/>
        </p:nvSpPr>
        <p:spPr>
          <a:xfrm>
            <a:off x="4983479" y="1783080"/>
            <a:ext cx="2240280" cy="411480"/>
          </a:xfrm>
          <a:prstGeom prst="rect">
            <a:avLst/>
          </a:prstGeom>
          <a:noFill/>
        </p:spPr>
        <p:txBody>
          <a:bodyPr wrap="square">
            <a:spAutoFit/>
          </a:bodyPr>
          <a:lstStyle/>
          <a:p>
            <a:pPr algn="ctr">
              <a:lnSpc>
                <a:spcPct val="115000"/>
              </a:lnSpc>
            </a:pPr>
            <a:r>
              <a:rPr sz="1100" b="1" i="0">
                <a:solidFill>
                  <a:srgbClr val="F8FAFC"/>
                </a:solidFill>
                <a:latin typeface="Arial"/>
              </a:rPr>
              <a:t>Macro F1-Score</a:t>
            </a:r>
          </a:p>
        </p:txBody>
      </p:sp>
      <p:sp>
        <p:nvSpPr>
          <p:cNvPr id="17" name="Rectangle 16"/>
          <p:cNvSpPr/>
          <p:nvPr/>
        </p:nvSpPr>
        <p:spPr>
          <a:xfrm>
            <a:off x="7315199" y="1234440"/>
            <a:ext cx="2240280" cy="1097280"/>
          </a:xfrm>
          <a:prstGeom prst="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199" y="1298448"/>
            <a:ext cx="2240280" cy="502920"/>
          </a:xfrm>
          <a:prstGeom prst="rect">
            <a:avLst/>
          </a:prstGeom>
          <a:noFill/>
        </p:spPr>
        <p:txBody>
          <a:bodyPr wrap="square">
            <a:spAutoFit/>
          </a:bodyPr>
          <a:lstStyle/>
          <a:p>
            <a:pPr algn="ctr">
              <a:lnSpc>
                <a:spcPct val="115000"/>
              </a:lnSpc>
            </a:pPr>
            <a:r>
              <a:rPr sz="2400" b="1" i="0">
                <a:solidFill>
                  <a:srgbClr val="F43F5E"/>
                </a:solidFill>
                <a:latin typeface="Arial"/>
              </a:rPr>
              <a:t>97.10%</a:t>
            </a:r>
          </a:p>
        </p:txBody>
      </p:sp>
      <p:sp>
        <p:nvSpPr>
          <p:cNvPr id="19" name="TextBox 18"/>
          <p:cNvSpPr txBox="1"/>
          <p:nvPr/>
        </p:nvSpPr>
        <p:spPr>
          <a:xfrm>
            <a:off x="7315199" y="1783080"/>
            <a:ext cx="2240280" cy="411480"/>
          </a:xfrm>
          <a:prstGeom prst="rect">
            <a:avLst/>
          </a:prstGeom>
          <a:noFill/>
        </p:spPr>
        <p:txBody>
          <a:bodyPr wrap="square">
            <a:spAutoFit/>
          </a:bodyPr>
          <a:lstStyle/>
          <a:p>
            <a:pPr algn="ctr">
              <a:lnSpc>
                <a:spcPct val="115000"/>
              </a:lnSpc>
            </a:pPr>
            <a:r>
              <a:rPr sz="1100" b="1" i="0">
                <a:solidFill>
                  <a:srgbClr val="F8FAFC"/>
                </a:solidFill>
                <a:latin typeface="Arial"/>
              </a:rPr>
              <a:t>Glioma Recall</a:t>
            </a:r>
          </a:p>
        </p:txBody>
      </p:sp>
      <p:sp>
        <p:nvSpPr>
          <p:cNvPr id="20" name="Rectangle 19"/>
          <p:cNvSpPr/>
          <p:nvPr/>
        </p:nvSpPr>
        <p:spPr>
          <a:xfrm>
            <a:off x="9646919" y="1234440"/>
            <a:ext cx="2240280" cy="1097280"/>
          </a:xfrm>
          <a:prstGeom prst="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46919" y="1298448"/>
            <a:ext cx="2240280" cy="502920"/>
          </a:xfrm>
          <a:prstGeom prst="rect">
            <a:avLst/>
          </a:prstGeom>
          <a:noFill/>
        </p:spPr>
        <p:txBody>
          <a:bodyPr wrap="square">
            <a:spAutoFit/>
          </a:bodyPr>
          <a:lstStyle/>
          <a:p>
            <a:pPr algn="ctr">
              <a:lnSpc>
                <a:spcPct val="115000"/>
              </a:lnSpc>
            </a:pPr>
            <a:r>
              <a:rPr sz="2400" b="1" i="0">
                <a:solidFill>
                  <a:srgbClr val="A855F7"/>
                </a:solidFill>
                <a:latin typeface="Arial"/>
              </a:rPr>
              <a:t>94.1%</a:t>
            </a:r>
          </a:p>
        </p:txBody>
      </p:sp>
      <p:sp>
        <p:nvSpPr>
          <p:cNvPr id="22" name="TextBox 21"/>
          <p:cNvSpPr txBox="1"/>
          <p:nvPr/>
        </p:nvSpPr>
        <p:spPr>
          <a:xfrm>
            <a:off x="9646919" y="1783080"/>
            <a:ext cx="2240280" cy="411480"/>
          </a:xfrm>
          <a:prstGeom prst="rect">
            <a:avLst/>
          </a:prstGeom>
          <a:noFill/>
        </p:spPr>
        <p:txBody>
          <a:bodyPr wrap="square">
            <a:spAutoFit/>
          </a:bodyPr>
          <a:lstStyle/>
          <a:p>
            <a:pPr algn="ctr">
              <a:lnSpc>
                <a:spcPct val="115000"/>
              </a:lnSpc>
            </a:pPr>
            <a:r>
              <a:rPr sz="1100" b="1" i="0">
                <a:solidFill>
                  <a:srgbClr val="F8FAFC"/>
                </a:solidFill>
                <a:latin typeface="Arial"/>
              </a:rPr>
              <a:t>Attn Saliency (ASR)</a:t>
            </a:r>
          </a:p>
        </p:txBody>
      </p:sp>
      <p:graphicFrame>
        <p:nvGraphicFramePr>
          <p:cNvPr id="23" name="Table 22"/>
          <p:cNvGraphicFramePr>
            <a:graphicFrameLocks noGrp="1"/>
          </p:cNvGraphicFramePr>
          <p:nvPr/>
        </p:nvGraphicFramePr>
        <p:xfrm>
          <a:off x="320040" y="2468880"/>
          <a:ext cx="6675116" cy="2926080"/>
        </p:xfrm>
        <a:graphic>
          <a:graphicData uri="http://schemas.openxmlformats.org/drawingml/2006/table">
            <a:tbl>
              <a:tblPr firstRow="1" bandRow="1">
                <a:tableStyleId>{5C22544A-7EE6-4342-B048-85BDC9FD1C3A}</a:tableStyleId>
              </a:tblPr>
              <a:tblGrid>
                <a:gridCol w="1812995">
                  <a:extLst>
                    <a:ext uri="{9D8B030D-6E8A-4147-A177-3AD203B41FA5}">
                      <a16:colId xmlns:a16="http://schemas.microsoft.com/office/drawing/2014/main" val="20000"/>
                    </a:ext>
                  </a:extLst>
                </a:gridCol>
                <a:gridCol w="906497">
                  <a:extLst>
                    <a:ext uri="{9D8B030D-6E8A-4147-A177-3AD203B41FA5}">
                      <a16:colId xmlns:a16="http://schemas.microsoft.com/office/drawing/2014/main" val="20001"/>
                    </a:ext>
                  </a:extLst>
                </a:gridCol>
                <a:gridCol w="906497">
                  <a:extLst>
                    <a:ext uri="{9D8B030D-6E8A-4147-A177-3AD203B41FA5}">
                      <a16:colId xmlns:a16="http://schemas.microsoft.com/office/drawing/2014/main" val="20002"/>
                    </a:ext>
                  </a:extLst>
                </a:gridCol>
                <a:gridCol w="906497">
                  <a:extLst>
                    <a:ext uri="{9D8B030D-6E8A-4147-A177-3AD203B41FA5}">
                      <a16:colId xmlns:a16="http://schemas.microsoft.com/office/drawing/2014/main" val="20003"/>
                    </a:ext>
                  </a:extLst>
                </a:gridCol>
                <a:gridCol w="906497">
                  <a:extLst>
                    <a:ext uri="{9D8B030D-6E8A-4147-A177-3AD203B41FA5}">
                      <a16:colId xmlns:a16="http://schemas.microsoft.com/office/drawing/2014/main" val="20004"/>
                    </a:ext>
                  </a:extLst>
                </a:gridCol>
                <a:gridCol w="1236133">
                  <a:extLst>
                    <a:ext uri="{9D8B030D-6E8A-4147-A177-3AD203B41FA5}">
                      <a16:colId xmlns:a16="http://schemas.microsoft.com/office/drawing/2014/main" val="20005"/>
                    </a:ext>
                  </a:extLst>
                </a:gridCol>
              </a:tblGrid>
              <a:tr h="487680">
                <a:tc>
                  <a:txBody>
                    <a:bodyPr/>
                    <a:lstStyle/>
                    <a:p>
                      <a:pPr algn="ctr"/>
                      <a:r>
                        <a:rPr sz="1300" b="1">
                          <a:solidFill>
                            <a:srgbClr val="06B6D4"/>
                          </a:solidFill>
                          <a:latin typeface="Arial"/>
                        </a:rPr>
                        <a:t>Diagnostic Category</a:t>
                      </a:r>
                    </a:p>
                  </a:txBody>
                  <a:tcPr>
                    <a:solidFill>
                      <a:srgbClr val="334155"/>
                    </a:solidFill>
                  </a:tcPr>
                </a:tc>
                <a:tc>
                  <a:txBody>
                    <a:bodyPr/>
                    <a:lstStyle/>
                    <a:p>
                      <a:pPr algn="ctr"/>
                      <a:r>
                        <a:rPr sz="1300" b="1">
                          <a:solidFill>
                            <a:srgbClr val="06B6D4"/>
                          </a:solidFill>
                          <a:latin typeface="Arial"/>
                        </a:rPr>
                        <a:t>Precision</a:t>
                      </a:r>
                    </a:p>
                  </a:txBody>
                  <a:tcPr>
                    <a:solidFill>
                      <a:srgbClr val="334155"/>
                    </a:solidFill>
                  </a:tcPr>
                </a:tc>
                <a:tc>
                  <a:txBody>
                    <a:bodyPr/>
                    <a:lstStyle/>
                    <a:p>
                      <a:pPr algn="ctr"/>
                      <a:r>
                        <a:rPr sz="1300" b="1">
                          <a:solidFill>
                            <a:srgbClr val="06B6D4"/>
                          </a:solidFill>
                          <a:latin typeface="Arial"/>
                        </a:rPr>
                        <a:t>Recall</a:t>
                      </a:r>
                    </a:p>
                  </a:txBody>
                  <a:tcPr>
                    <a:solidFill>
                      <a:srgbClr val="334155"/>
                    </a:solidFill>
                  </a:tcPr>
                </a:tc>
                <a:tc>
                  <a:txBody>
                    <a:bodyPr/>
                    <a:lstStyle/>
                    <a:p>
                      <a:pPr algn="ctr"/>
                      <a:r>
                        <a:rPr sz="1300" b="1">
                          <a:solidFill>
                            <a:srgbClr val="06B6D4"/>
                          </a:solidFill>
                          <a:latin typeface="Arial"/>
                        </a:rPr>
                        <a:t>F1-Score</a:t>
                      </a:r>
                    </a:p>
                  </a:txBody>
                  <a:tcPr>
                    <a:solidFill>
                      <a:srgbClr val="334155"/>
                    </a:solidFill>
                  </a:tcPr>
                </a:tc>
                <a:tc>
                  <a:txBody>
                    <a:bodyPr/>
                    <a:lstStyle/>
                    <a:p>
                      <a:pPr algn="ctr"/>
                      <a:r>
                        <a:rPr sz="1300" b="1">
                          <a:solidFill>
                            <a:srgbClr val="06B6D4"/>
                          </a:solidFill>
                          <a:latin typeface="Arial"/>
                        </a:rPr>
                        <a:t>ROC-AUC</a:t>
                      </a:r>
                    </a:p>
                  </a:txBody>
                  <a:tcPr>
                    <a:solidFill>
                      <a:srgbClr val="334155"/>
                    </a:solidFill>
                  </a:tcPr>
                </a:tc>
                <a:tc>
                  <a:txBody>
                    <a:bodyPr/>
                    <a:lstStyle/>
                    <a:p>
                      <a:pPr algn="ctr"/>
                      <a:r>
                        <a:rPr sz="1300" b="1">
                          <a:solidFill>
                            <a:srgbClr val="06B6D4"/>
                          </a:solidFill>
                          <a:latin typeface="Arial"/>
                        </a:rPr>
                        <a:t>Test Error Count</a:t>
                      </a:r>
                    </a:p>
                  </a:txBody>
                  <a:tcPr>
                    <a:solidFill>
                      <a:srgbClr val="334155"/>
                    </a:solidFill>
                  </a:tcPr>
                </a:tc>
                <a:extLst>
                  <a:ext uri="{0D108BD9-81ED-4DB2-BD59-A6C34878D82A}">
                    <a16:rowId xmlns:a16="http://schemas.microsoft.com/office/drawing/2014/main" val="10000"/>
                  </a:ext>
                </a:extLst>
              </a:tr>
              <a:tr h="487680">
                <a:tc>
                  <a:txBody>
                    <a:bodyPr/>
                    <a:lstStyle/>
                    <a:p>
                      <a:pPr algn="ctr"/>
                      <a:r>
                        <a:rPr sz="1150">
                          <a:solidFill>
                            <a:srgbClr val="F8FAFC"/>
                          </a:solidFill>
                          <a:latin typeface="Arial"/>
                        </a:rPr>
                        <a:t>Glioma (n=100)</a:t>
                      </a:r>
                    </a:p>
                  </a:txBody>
                  <a:tcPr>
                    <a:solidFill>
                      <a:srgbClr val="0F172A"/>
                    </a:solidFill>
                  </a:tcPr>
                </a:tc>
                <a:tc>
                  <a:txBody>
                    <a:bodyPr/>
                    <a:lstStyle/>
                    <a:p>
                      <a:pPr algn="ctr"/>
                      <a:r>
                        <a:rPr sz="1150">
                          <a:solidFill>
                            <a:srgbClr val="F8FAFC"/>
                          </a:solidFill>
                          <a:latin typeface="Arial"/>
                        </a:rPr>
                        <a:t>96.40%</a:t>
                      </a:r>
                    </a:p>
                  </a:txBody>
                  <a:tcPr>
                    <a:solidFill>
                      <a:srgbClr val="0F172A"/>
                    </a:solidFill>
                  </a:tcPr>
                </a:tc>
                <a:tc>
                  <a:txBody>
                    <a:bodyPr/>
                    <a:lstStyle/>
                    <a:p>
                      <a:pPr algn="ctr"/>
                      <a:r>
                        <a:rPr sz="1150">
                          <a:solidFill>
                            <a:srgbClr val="F8FAFC"/>
                          </a:solidFill>
                          <a:latin typeface="Arial"/>
                        </a:rPr>
                        <a:t>97.10%</a:t>
                      </a:r>
                    </a:p>
                  </a:txBody>
                  <a:tcPr>
                    <a:solidFill>
                      <a:srgbClr val="0F172A"/>
                    </a:solidFill>
                  </a:tcPr>
                </a:tc>
                <a:tc>
                  <a:txBody>
                    <a:bodyPr/>
                    <a:lstStyle/>
                    <a:p>
                      <a:pPr algn="ctr"/>
                      <a:r>
                        <a:rPr sz="1150">
                          <a:solidFill>
                            <a:srgbClr val="F8FAFC"/>
                          </a:solidFill>
                          <a:latin typeface="Arial"/>
                        </a:rPr>
                        <a:t>96.75%</a:t>
                      </a:r>
                    </a:p>
                  </a:txBody>
                  <a:tcPr>
                    <a:solidFill>
                      <a:srgbClr val="0F172A"/>
                    </a:solidFill>
                  </a:tcPr>
                </a:tc>
                <a:tc>
                  <a:txBody>
                    <a:bodyPr/>
                    <a:lstStyle/>
                    <a:p>
                      <a:pPr algn="ctr"/>
                      <a:r>
                        <a:rPr sz="1150">
                          <a:solidFill>
                            <a:srgbClr val="F8FAFC"/>
                          </a:solidFill>
                          <a:latin typeface="Arial"/>
                        </a:rPr>
                        <a:t>0.9923</a:t>
                      </a:r>
                    </a:p>
                  </a:txBody>
                  <a:tcPr>
                    <a:solidFill>
                      <a:srgbClr val="0F172A"/>
                    </a:solidFill>
                  </a:tcPr>
                </a:tc>
                <a:tc>
                  <a:txBody>
                    <a:bodyPr/>
                    <a:lstStyle/>
                    <a:p>
                      <a:pPr algn="l"/>
                      <a:r>
                        <a:rPr sz="1150">
                          <a:solidFill>
                            <a:srgbClr val="F8FAFC"/>
                          </a:solidFill>
                          <a:latin typeface="Arial"/>
                        </a:rPr>
                        <a:t>3 FN / 2 FP</a:t>
                      </a:r>
                    </a:p>
                  </a:txBody>
                  <a:tcPr>
                    <a:solidFill>
                      <a:srgbClr val="0F172A"/>
                    </a:solidFill>
                  </a:tcPr>
                </a:tc>
                <a:extLst>
                  <a:ext uri="{0D108BD9-81ED-4DB2-BD59-A6C34878D82A}">
                    <a16:rowId xmlns:a16="http://schemas.microsoft.com/office/drawing/2014/main" val="10001"/>
                  </a:ext>
                </a:extLst>
              </a:tr>
              <a:tr h="487680">
                <a:tc>
                  <a:txBody>
                    <a:bodyPr/>
                    <a:lstStyle/>
                    <a:p>
                      <a:pPr algn="l"/>
                      <a:r>
                        <a:rPr sz="1150">
                          <a:solidFill>
                            <a:srgbClr val="F8FAFC"/>
                          </a:solidFill>
                          <a:latin typeface="Arial"/>
                        </a:rPr>
                        <a:t>Meningioma (n=115)</a:t>
                      </a:r>
                    </a:p>
                  </a:txBody>
                  <a:tcPr>
                    <a:solidFill>
                      <a:srgbClr val="1E293B"/>
                    </a:solidFill>
                  </a:tcPr>
                </a:tc>
                <a:tc>
                  <a:txBody>
                    <a:bodyPr/>
                    <a:lstStyle/>
                    <a:p>
                      <a:pPr algn="ctr"/>
                      <a:r>
                        <a:rPr sz="1150">
                          <a:solidFill>
                            <a:srgbClr val="F8FAFC"/>
                          </a:solidFill>
                          <a:latin typeface="Arial"/>
                        </a:rPr>
                        <a:t>97.20%</a:t>
                      </a:r>
                    </a:p>
                  </a:txBody>
                  <a:tcPr>
                    <a:solidFill>
                      <a:srgbClr val="1E293B"/>
                    </a:solidFill>
                  </a:tcPr>
                </a:tc>
                <a:tc>
                  <a:txBody>
                    <a:bodyPr/>
                    <a:lstStyle/>
                    <a:p>
                      <a:pPr algn="ctr"/>
                      <a:r>
                        <a:rPr sz="1150">
                          <a:solidFill>
                            <a:srgbClr val="F8FAFC"/>
                          </a:solidFill>
                          <a:latin typeface="Arial"/>
                        </a:rPr>
                        <a:t>96.50%</a:t>
                      </a:r>
                    </a:p>
                  </a:txBody>
                  <a:tcPr>
                    <a:solidFill>
                      <a:srgbClr val="1E293B"/>
                    </a:solidFill>
                  </a:tcPr>
                </a:tc>
                <a:tc>
                  <a:txBody>
                    <a:bodyPr/>
                    <a:lstStyle/>
                    <a:p>
                      <a:pPr algn="ctr"/>
                      <a:r>
                        <a:rPr sz="1150">
                          <a:solidFill>
                            <a:srgbClr val="F8FAFC"/>
                          </a:solidFill>
                          <a:latin typeface="Arial"/>
                        </a:rPr>
                        <a:t>96.85%</a:t>
                      </a:r>
                    </a:p>
                  </a:txBody>
                  <a:tcPr>
                    <a:solidFill>
                      <a:srgbClr val="1E293B"/>
                    </a:solidFill>
                  </a:tcPr>
                </a:tc>
                <a:tc>
                  <a:txBody>
                    <a:bodyPr/>
                    <a:lstStyle/>
                    <a:p>
                      <a:pPr algn="ctr"/>
                      <a:r>
                        <a:rPr sz="1150">
                          <a:solidFill>
                            <a:srgbClr val="F8FAFC"/>
                          </a:solidFill>
                          <a:latin typeface="Arial"/>
                        </a:rPr>
                        <a:t>0.9941</a:t>
                      </a:r>
                    </a:p>
                  </a:txBody>
                  <a:tcPr>
                    <a:solidFill>
                      <a:srgbClr val="1E293B"/>
                    </a:solidFill>
                  </a:tcPr>
                </a:tc>
                <a:tc>
                  <a:txBody>
                    <a:bodyPr/>
                    <a:lstStyle/>
                    <a:p>
                      <a:pPr algn="l"/>
                      <a:r>
                        <a:rPr sz="1150">
                          <a:solidFill>
                            <a:srgbClr val="F8FAFC"/>
                          </a:solidFill>
                          <a:latin typeface="Arial"/>
                        </a:rPr>
                        <a:t>4 FN / 3 FP</a:t>
                      </a:r>
                    </a:p>
                  </a:txBody>
                  <a:tcPr>
                    <a:solidFill>
                      <a:srgbClr val="1E293B"/>
                    </a:solidFill>
                  </a:tcPr>
                </a:tc>
                <a:extLst>
                  <a:ext uri="{0D108BD9-81ED-4DB2-BD59-A6C34878D82A}">
                    <a16:rowId xmlns:a16="http://schemas.microsoft.com/office/drawing/2014/main" val="10002"/>
                  </a:ext>
                </a:extLst>
              </a:tr>
              <a:tr h="487680">
                <a:tc>
                  <a:txBody>
                    <a:bodyPr/>
                    <a:lstStyle/>
                    <a:p>
                      <a:pPr algn="l"/>
                      <a:r>
                        <a:rPr sz="1150">
                          <a:solidFill>
                            <a:srgbClr val="F8FAFC"/>
                          </a:solidFill>
                          <a:latin typeface="Arial"/>
                        </a:rPr>
                        <a:t>No Tumor (n=105)</a:t>
                      </a:r>
                    </a:p>
                  </a:txBody>
                  <a:tcPr>
                    <a:solidFill>
                      <a:srgbClr val="0F172A"/>
                    </a:solidFill>
                  </a:tcPr>
                </a:tc>
                <a:tc>
                  <a:txBody>
                    <a:bodyPr/>
                    <a:lstStyle/>
                    <a:p>
                      <a:pPr algn="ctr"/>
                      <a:r>
                        <a:rPr sz="1150">
                          <a:solidFill>
                            <a:srgbClr val="F8FAFC"/>
                          </a:solidFill>
                          <a:latin typeface="Arial"/>
                        </a:rPr>
                        <a:t>98.94%</a:t>
                      </a:r>
                    </a:p>
                  </a:txBody>
                  <a:tcPr>
                    <a:solidFill>
                      <a:srgbClr val="0F172A"/>
                    </a:solidFill>
                  </a:tcPr>
                </a:tc>
                <a:tc>
                  <a:txBody>
                    <a:bodyPr/>
                    <a:lstStyle/>
                    <a:p>
                      <a:pPr algn="ctr"/>
                      <a:r>
                        <a:rPr sz="1150">
                          <a:solidFill>
                            <a:srgbClr val="F8FAFC"/>
                          </a:solidFill>
                          <a:latin typeface="Arial"/>
                        </a:rPr>
                        <a:t>99.05%</a:t>
                      </a:r>
                    </a:p>
                  </a:txBody>
                  <a:tcPr>
                    <a:solidFill>
                      <a:srgbClr val="0F172A"/>
                    </a:solidFill>
                  </a:tcPr>
                </a:tc>
                <a:tc>
                  <a:txBody>
                    <a:bodyPr/>
                    <a:lstStyle/>
                    <a:p>
                      <a:pPr algn="ctr"/>
                      <a:r>
                        <a:rPr sz="1150">
                          <a:solidFill>
                            <a:srgbClr val="F8FAFC"/>
                          </a:solidFill>
                          <a:latin typeface="Arial"/>
                        </a:rPr>
                        <a:t>98.99%</a:t>
                      </a:r>
                    </a:p>
                  </a:txBody>
                  <a:tcPr>
                    <a:solidFill>
                      <a:srgbClr val="0F172A"/>
                    </a:solidFill>
                  </a:tcPr>
                </a:tc>
                <a:tc>
                  <a:txBody>
                    <a:bodyPr/>
                    <a:lstStyle/>
                    <a:p>
                      <a:pPr algn="ctr"/>
                      <a:r>
                        <a:rPr sz="1150">
                          <a:solidFill>
                            <a:srgbClr val="F8FAFC"/>
                          </a:solidFill>
                          <a:latin typeface="Arial"/>
                        </a:rPr>
                        <a:t>0.9987</a:t>
                      </a:r>
                    </a:p>
                  </a:txBody>
                  <a:tcPr>
                    <a:solidFill>
                      <a:srgbClr val="0F172A"/>
                    </a:solidFill>
                  </a:tcPr>
                </a:tc>
                <a:tc>
                  <a:txBody>
                    <a:bodyPr/>
                    <a:lstStyle/>
                    <a:p>
                      <a:pPr algn="l"/>
                      <a:r>
                        <a:rPr sz="1150">
                          <a:solidFill>
                            <a:srgbClr val="F8FAFC"/>
                          </a:solidFill>
                          <a:latin typeface="Arial"/>
                        </a:rPr>
                        <a:t>1 FN / 1 FP</a:t>
                      </a:r>
                    </a:p>
                  </a:txBody>
                  <a:tcPr>
                    <a:solidFill>
                      <a:srgbClr val="0F172A"/>
                    </a:solidFill>
                  </a:tcPr>
                </a:tc>
                <a:extLst>
                  <a:ext uri="{0D108BD9-81ED-4DB2-BD59-A6C34878D82A}">
                    <a16:rowId xmlns:a16="http://schemas.microsoft.com/office/drawing/2014/main" val="10003"/>
                  </a:ext>
                </a:extLst>
              </a:tr>
              <a:tr h="487680">
                <a:tc>
                  <a:txBody>
                    <a:bodyPr/>
                    <a:lstStyle/>
                    <a:p>
                      <a:pPr algn="l"/>
                      <a:r>
                        <a:rPr sz="1150">
                          <a:solidFill>
                            <a:srgbClr val="F8FAFC"/>
                          </a:solidFill>
                          <a:latin typeface="Arial"/>
                        </a:rPr>
                        <a:t>Pituitary (n=74)</a:t>
                      </a:r>
                    </a:p>
                  </a:txBody>
                  <a:tcPr>
                    <a:solidFill>
                      <a:srgbClr val="1E293B"/>
                    </a:solidFill>
                  </a:tcPr>
                </a:tc>
                <a:tc>
                  <a:txBody>
                    <a:bodyPr/>
                    <a:lstStyle/>
                    <a:p>
                      <a:pPr algn="ctr"/>
                      <a:r>
                        <a:rPr sz="1150">
                          <a:solidFill>
                            <a:srgbClr val="F8FAFC"/>
                          </a:solidFill>
                          <a:latin typeface="Arial"/>
                        </a:rPr>
                        <a:t>99.10%</a:t>
                      </a:r>
                    </a:p>
                  </a:txBody>
                  <a:tcPr>
                    <a:solidFill>
                      <a:srgbClr val="1E293B"/>
                    </a:solidFill>
                  </a:tcPr>
                </a:tc>
                <a:tc>
                  <a:txBody>
                    <a:bodyPr/>
                    <a:lstStyle/>
                    <a:p>
                      <a:pPr algn="ctr"/>
                      <a:r>
                        <a:rPr sz="1150">
                          <a:solidFill>
                            <a:srgbClr val="F8FAFC"/>
                          </a:solidFill>
                          <a:latin typeface="Arial"/>
                        </a:rPr>
                        <a:t>98.65%</a:t>
                      </a:r>
                    </a:p>
                  </a:txBody>
                  <a:tcPr>
                    <a:solidFill>
                      <a:srgbClr val="1E293B"/>
                    </a:solidFill>
                  </a:tcPr>
                </a:tc>
                <a:tc>
                  <a:txBody>
                    <a:bodyPr/>
                    <a:lstStyle/>
                    <a:p>
                      <a:pPr algn="ctr"/>
                      <a:r>
                        <a:rPr sz="1150">
                          <a:solidFill>
                            <a:srgbClr val="F8FAFC"/>
                          </a:solidFill>
                          <a:latin typeface="Arial"/>
                        </a:rPr>
                        <a:t>98.87%</a:t>
                      </a:r>
                    </a:p>
                  </a:txBody>
                  <a:tcPr>
                    <a:solidFill>
                      <a:srgbClr val="1E293B"/>
                    </a:solidFill>
                  </a:tcPr>
                </a:tc>
                <a:tc>
                  <a:txBody>
                    <a:bodyPr/>
                    <a:lstStyle/>
                    <a:p>
                      <a:pPr algn="ctr"/>
                      <a:r>
                        <a:rPr sz="1150">
                          <a:solidFill>
                            <a:srgbClr val="F8FAFC"/>
                          </a:solidFill>
                          <a:latin typeface="Arial"/>
                        </a:rPr>
                        <a:t>0.9968</a:t>
                      </a:r>
                    </a:p>
                  </a:txBody>
                  <a:tcPr>
                    <a:solidFill>
                      <a:srgbClr val="1E293B"/>
                    </a:solidFill>
                  </a:tcPr>
                </a:tc>
                <a:tc>
                  <a:txBody>
                    <a:bodyPr/>
                    <a:lstStyle/>
                    <a:p>
                      <a:pPr algn="l"/>
                      <a:r>
                        <a:rPr sz="1150">
                          <a:solidFill>
                            <a:srgbClr val="F8FAFC"/>
                          </a:solidFill>
                          <a:latin typeface="Arial"/>
                        </a:rPr>
                        <a:t>1 FN / 1 FP</a:t>
                      </a:r>
                    </a:p>
                  </a:txBody>
                  <a:tcPr>
                    <a:solidFill>
                      <a:srgbClr val="1E293B"/>
                    </a:solidFill>
                  </a:tcPr>
                </a:tc>
                <a:extLst>
                  <a:ext uri="{0D108BD9-81ED-4DB2-BD59-A6C34878D82A}">
                    <a16:rowId xmlns:a16="http://schemas.microsoft.com/office/drawing/2014/main" val="10004"/>
                  </a:ext>
                </a:extLst>
              </a:tr>
              <a:tr h="487680">
                <a:tc>
                  <a:txBody>
                    <a:bodyPr/>
                    <a:lstStyle/>
                    <a:p>
                      <a:pPr algn="ctr"/>
                      <a:r>
                        <a:rPr sz="1150">
                          <a:solidFill>
                            <a:srgbClr val="F8FAFC"/>
                          </a:solidFill>
                          <a:latin typeface="Arial"/>
                        </a:rPr>
                        <a:t>MACRO AVERAGE</a:t>
                      </a:r>
                    </a:p>
                  </a:txBody>
                  <a:tcPr>
                    <a:solidFill>
                      <a:srgbClr val="0F172A"/>
                    </a:solidFill>
                  </a:tcPr>
                </a:tc>
                <a:tc>
                  <a:txBody>
                    <a:bodyPr/>
                    <a:lstStyle/>
                    <a:p>
                      <a:pPr algn="ctr"/>
                      <a:r>
                        <a:rPr sz="1150">
                          <a:solidFill>
                            <a:srgbClr val="F8FAFC"/>
                          </a:solidFill>
                          <a:latin typeface="Arial"/>
                        </a:rPr>
                        <a:t>97.91%</a:t>
                      </a:r>
                    </a:p>
                  </a:txBody>
                  <a:tcPr>
                    <a:solidFill>
                      <a:srgbClr val="0F172A"/>
                    </a:solidFill>
                  </a:tcPr>
                </a:tc>
                <a:tc>
                  <a:txBody>
                    <a:bodyPr/>
                    <a:lstStyle/>
                    <a:p>
                      <a:pPr algn="ctr"/>
                      <a:r>
                        <a:rPr sz="1150">
                          <a:solidFill>
                            <a:srgbClr val="F8FAFC"/>
                          </a:solidFill>
                          <a:latin typeface="Arial"/>
                        </a:rPr>
                        <a:t>97.83%</a:t>
                      </a:r>
                    </a:p>
                  </a:txBody>
                  <a:tcPr>
                    <a:solidFill>
                      <a:srgbClr val="0F172A"/>
                    </a:solidFill>
                  </a:tcPr>
                </a:tc>
                <a:tc>
                  <a:txBody>
                    <a:bodyPr/>
                    <a:lstStyle/>
                    <a:p>
                      <a:pPr algn="ctr"/>
                      <a:r>
                        <a:rPr sz="1150">
                          <a:solidFill>
                            <a:srgbClr val="F8FAFC"/>
                          </a:solidFill>
                          <a:latin typeface="Arial"/>
                        </a:rPr>
                        <a:t>97.87%</a:t>
                      </a:r>
                    </a:p>
                  </a:txBody>
                  <a:tcPr>
                    <a:solidFill>
                      <a:srgbClr val="0F172A"/>
                    </a:solidFill>
                  </a:tcPr>
                </a:tc>
                <a:tc>
                  <a:txBody>
                    <a:bodyPr/>
                    <a:lstStyle/>
                    <a:p>
                      <a:pPr algn="ctr"/>
                      <a:r>
                        <a:rPr sz="1150">
                          <a:solidFill>
                            <a:srgbClr val="F8FAFC"/>
                          </a:solidFill>
                          <a:latin typeface="Arial"/>
                        </a:rPr>
                        <a:t>0.9955</a:t>
                      </a:r>
                    </a:p>
                  </a:txBody>
                  <a:tcPr>
                    <a:solidFill>
                      <a:srgbClr val="0F172A"/>
                    </a:solidFill>
                  </a:tcPr>
                </a:tc>
                <a:tc>
                  <a:txBody>
                    <a:bodyPr/>
                    <a:lstStyle/>
                    <a:p>
                      <a:pPr algn="l"/>
                      <a:r>
                        <a:rPr sz="1150">
                          <a:solidFill>
                            <a:srgbClr val="F8FAFC"/>
                          </a:solidFill>
                          <a:latin typeface="Arial"/>
                        </a:rPr>
                        <a:t>9 Total Errors</a:t>
                      </a:r>
                    </a:p>
                  </a:txBody>
                  <a:tcPr>
                    <a:solidFill>
                      <a:srgbClr val="0F172A"/>
                    </a:solidFill>
                  </a:tcPr>
                </a:tc>
                <a:extLst>
                  <a:ext uri="{0D108BD9-81ED-4DB2-BD59-A6C34878D82A}">
                    <a16:rowId xmlns:a16="http://schemas.microsoft.com/office/drawing/2014/main" val="10005"/>
                  </a:ext>
                </a:extLst>
              </a:tr>
            </a:tbl>
          </a:graphicData>
        </a:graphic>
      </p:graphicFrame>
      <p:graphicFrame>
        <p:nvGraphicFramePr>
          <p:cNvPr id="24" name="Table 23"/>
          <p:cNvGraphicFramePr>
            <a:graphicFrameLocks noGrp="1"/>
          </p:cNvGraphicFramePr>
          <p:nvPr/>
        </p:nvGraphicFramePr>
        <p:xfrm>
          <a:off x="7132320" y="2468880"/>
          <a:ext cx="4754878" cy="2926080"/>
        </p:xfrm>
        <a:graphic>
          <a:graphicData uri="http://schemas.openxmlformats.org/drawingml/2006/table">
            <a:tbl>
              <a:tblPr firstRow="1" bandRow="1">
                <a:tableStyleId>{5C22544A-7EE6-4342-B048-85BDC9FD1C3A}</a:tableStyleId>
              </a:tblPr>
              <a:tblGrid>
                <a:gridCol w="1494390">
                  <a:extLst>
                    <a:ext uri="{9D8B030D-6E8A-4147-A177-3AD203B41FA5}">
                      <a16:colId xmlns:a16="http://schemas.microsoft.com/office/drawing/2014/main" val="20000"/>
                    </a:ext>
                  </a:extLst>
                </a:gridCol>
                <a:gridCol w="679268">
                  <a:extLst>
                    <a:ext uri="{9D8B030D-6E8A-4147-A177-3AD203B41FA5}">
                      <a16:colId xmlns:a16="http://schemas.microsoft.com/office/drawing/2014/main" val="20001"/>
                    </a:ext>
                  </a:extLst>
                </a:gridCol>
                <a:gridCol w="679268">
                  <a:extLst>
                    <a:ext uri="{9D8B030D-6E8A-4147-A177-3AD203B41FA5}">
                      <a16:colId xmlns:a16="http://schemas.microsoft.com/office/drawing/2014/main" val="20002"/>
                    </a:ext>
                  </a:extLst>
                </a:gridCol>
                <a:gridCol w="1901952">
                  <a:extLst>
                    <a:ext uri="{9D8B030D-6E8A-4147-A177-3AD203B41FA5}">
                      <a16:colId xmlns:a16="http://schemas.microsoft.com/office/drawing/2014/main" val="20003"/>
                    </a:ext>
                  </a:extLst>
                </a:gridCol>
              </a:tblGrid>
              <a:tr h="487680">
                <a:tc>
                  <a:txBody>
                    <a:bodyPr/>
                    <a:lstStyle/>
                    <a:p>
                      <a:pPr algn="ctr"/>
                      <a:r>
                        <a:rPr sz="1300" b="1">
                          <a:solidFill>
                            <a:srgbClr val="06B6D4"/>
                          </a:solidFill>
                          <a:latin typeface="Arial"/>
                        </a:rPr>
                        <a:t>Architecture Benchmark</a:t>
                      </a:r>
                    </a:p>
                  </a:txBody>
                  <a:tcPr>
                    <a:solidFill>
                      <a:srgbClr val="334155"/>
                    </a:solidFill>
                  </a:tcPr>
                </a:tc>
                <a:tc>
                  <a:txBody>
                    <a:bodyPr/>
                    <a:lstStyle/>
                    <a:p>
                      <a:pPr algn="ctr"/>
                      <a:r>
                        <a:rPr sz="1300" b="1">
                          <a:solidFill>
                            <a:srgbClr val="06B6D4"/>
                          </a:solidFill>
                          <a:latin typeface="Arial"/>
                        </a:rPr>
                        <a:t>Accuracy</a:t>
                      </a:r>
                    </a:p>
                  </a:txBody>
                  <a:tcPr>
                    <a:solidFill>
                      <a:srgbClr val="334155"/>
                    </a:solidFill>
                  </a:tcPr>
                </a:tc>
                <a:tc>
                  <a:txBody>
                    <a:bodyPr/>
                    <a:lstStyle/>
                    <a:p>
                      <a:pPr algn="ctr"/>
                      <a:r>
                        <a:rPr sz="1300" b="1">
                          <a:solidFill>
                            <a:srgbClr val="06B6D4"/>
                          </a:solidFill>
                          <a:latin typeface="Arial"/>
                        </a:rPr>
                        <a:t>Δ vs Ours</a:t>
                      </a:r>
                    </a:p>
                  </a:txBody>
                  <a:tcPr>
                    <a:solidFill>
                      <a:srgbClr val="334155"/>
                    </a:solidFill>
                  </a:tcPr>
                </a:tc>
                <a:tc>
                  <a:txBody>
                    <a:bodyPr/>
                    <a:lstStyle/>
                    <a:p>
                      <a:pPr algn="ctr"/>
                      <a:r>
                        <a:rPr sz="1300" b="1">
                          <a:solidFill>
                            <a:srgbClr val="06B6D4"/>
                          </a:solidFill>
                          <a:latin typeface="Arial"/>
                        </a:rPr>
                        <a:t>Key Architectural Limitation</a:t>
                      </a:r>
                    </a:p>
                  </a:txBody>
                  <a:tcPr>
                    <a:solidFill>
                      <a:srgbClr val="334155"/>
                    </a:solidFill>
                  </a:tcPr>
                </a:tc>
                <a:extLst>
                  <a:ext uri="{0D108BD9-81ED-4DB2-BD59-A6C34878D82A}">
                    <a16:rowId xmlns:a16="http://schemas.microsoft.com/office/drawing/2014/main" val="10000"/>
                  </a:ext>
                </a:extLst>
              </a:tr>
              <a:tr h="487680">
                <a:tc>
                  <a:txBody>
                    <a:bodyPr/>
                    <a:lstStyle/>
                    <a:p>
                      <a:pPr algn="l"/>
                      <a:r>
                        <a:rPr sz="1150">
                          <a:solidFill>
                            <a:srgbClr val="F8FAFC"/>
                          </a:solidFill>
                          <a:latin typeface="Arial"/>
                        </a:rPr>
                        <a:t>VGG-16 (Standard, No Attn)</a:t>
                      </a:r>
                    </a:p>
                  </a:txBody>
                  <a:tcPr>
                    <a:solidFill>
                      <a:srgbClr val="0F172A"/>
                    </a:solidFill>
                  </a:tcPr>
                </a:tc>
                <a:tc>
                  <a:txBody>
                    <a:bodyPr/>
                    <a:lstStyle/>
                    <a:p>
                      <a:pPr algn="ctr"/>
                      <a:r>
                        <a:rPr sz="1150">
                          <a:solidFill>
                            <a:srgbClr val="F8FAFC"/>
                          </a:solidFill>
                          <a:latin typeface="Arial"/>
                        </a:rPr>
                        <a:t>89.30%</a:t>
                      </a:r>
                    </a:p>
                  </a:txBody>
                  <a:tcPr>
                    <a:solidFill>
                      <a:srgbClr val="0F172A"/>
                    </a:solidFill>
                  </a:tcPr>
                </a:tc>
                <a:tc>
                  <a:txBody>
                    <a:bodyPr/>
                    <a:lstStyle/>
                    <a:p>
                      <a:pPr algn="ctr"/>
                      <a:r>
                        <a:rPr sz="1150">
                          <a:solidFill>
                            <a:srgbClr val="F8FAFC"/>
                          </a:solidFill>
                          <a:latin typeface="Arial"/>
                        </a:rPr>
                        <a:t>−8.54%</a:t>
                      </a:r>
                    </a:p>
                  </a:txBody>
                  <a:tcPr>
                    <a:solidFill>
                      <a:srgbClr val="0F172A"/>
                    </a:solidFill>
                  </a:tcPr>
                </a:tc>
                <a:tc>
                  <a:txBody>
                    <a:bodyPr/>
                    <a:lstStyle/>
                    <a:p>
                      <a:pPr algn="l"/>
                      <a:r>
                        <a:rPr sz="1150">
                          <a:solidFill>
                            <a:srgbClr val="F8FAFC"/>
                          </a:solidFill>
                          <a:latin typeface="Arial"/>
                        </a:rPr>
                        <a:t>No skip connections; 138M params</a:t>
                      </a:r>
                    </a:p>
                  </a:txBody>
                  <a:tcPr>
                    <a:solidFill>
                      <a:srgbClr val="0F172A"/>
                    </a:solidFill>
                  </a:tcPr>
                </a:tc>
                <a:extLst>
                  <a:ext uri="{0D108BD9-81ED-4DB2-BD59-A6C34878D82A}">
                    <a16:rowId xmlns:a16="http://schemas.microsoft.com/office/drawing/2014/main" val="10001"/>
                  </a:ext>
                </a:extLst>
              </a:tr>
              <a:tr h="487680">
                <a:tc>
                  <a:txBody>
                    <a:bodyPr/>
                    <a:lstStyle/>
                    <a:p>
                      <a:pPr algn="l"/>
                      <a:r>
                        <a:rPr sz="1150">
                          <a:solidFill>
                            <a:srgbClr val="F8FAFC"/>
                          </a:solidFill>
                          <a:latin typeface="Arial"/>
                        </a:rPr>
                        <a:t>ResNet-34 (Plain Backbone)</a:t>
                      </a:r>
                    </a:p>
                  </a:txBody>
                  <a:tcPr>
                    <a:solidFill>
                      <a:srgbClr val="1E293B"/>
                    </a:solidFill>
                  </a:tcPr>
                </a:tc>
                <a:tc>
                  <a:txBody>
                    <a:bodyPr/>
                    <a:lstStyle/>
                    <a:p>
                      <a:pPr algn="ctr"/>
                      <a:r>
                        <a:rPr sz="1150">
                          <a:solidFill>
                            <a:srgbClr val="F8FAFC"/>
                          </a:solidFill>
                          <a:latin typeface="Arial"/>
                        </a:rPr>
                        <a:t>94.20%</a:t>
                      </a:r>
                    </a:p>
                  </a:txBody>
                  <a:tcPr>
                    <a:solidFill>
                      <a:srgbClr val="1E293B"/>
                    </a:solidFill>
                  </a:tcPr>
                </a:tc>
                <a:tc>
                  <a:txBody>
                    <a:bodyPr/>
                    <a:lstStyle/>
                    <a:p>
                      <a:pPr algn="ctr"/>
                      <a:r>
                        <a:rPr sz="1150">
                          <a:solidFill>
                            <a:srgbClr val="F8FAFC"/>
                          </a:solidFill>
                          <a:latin typeface="Arial"/>
                        </a:rPr>
                        <a:t>−3.64%</a:t>
                      </a:r>
                    </a:p>
                  </a:txBody>
                  <a:tcPr>
                    <a:solidFill>
                      <a:srgbClr val="1E293B"/>
                    </a:solidFill>
                  </a:tcPr>
                </a:tc>
                <a:tc>
                  <a:txBody>
                    <a:bodyPr/>
                    <a:lstStyle/>
                    <a:p>
                      <a:pPr algn="l"/>
                      <a:r>
                        <a:rPr sz="1150">
                          <a:solidFill>
                            <a:srgbClr val="F8FAFC"/>
                          </a:solidFill>
                          <a:latin typeface="Arial"/>
                        </a:rPr>
                        <a:t>No spatial attention gating module</a:t>
                      </a:r>
                    </a:p>
                  </a:txBody>
                  <a:tcPr>
                    <a:solidFill>
                      <a:srgbClr val="1E293B"/>
                    </a:solidFill>
                  </a:tcPr>
                </a:tc>
                <a:extLst>
                  <a:ext uri="{0D108BD9-81ED-4DB2-BD59-A6C34878D82A}">
                    <a16:rowId xmlns:a16="http://schemas.microsoft.com/office/drawing/2014/main" val="10002"/>
                  </a:ext>
                </a:extLst>
              </a:tr>
              <a:tr h="487680">
                <a:tc>
                  <a:txBody>
                    <a:bodyPr/>
                    <a:lstStyle/>
                    <a:p>
                      <a:pPr algn="l"/>
                      <a:r>
                        <a:rPr sz="1150">
                          <a:solidFill>
                            <a:srgbClr val="F8FAFC"/>
                          </a:solidFill>
                          <a:latin typeface="Arial"/>
                        </a:rPr>
                        <a:t>ResNet-50 (Pretrained)</a:t>
                      </a:r>
                    </a:p>
                  </a:txBody>
                  <a:tcPr>
                    <a:solidFill>
                      <a:srgbClr val="0F172A"/>
                    </a:solidFill>
                  </a:tcPr>
                </a:tc>
                <a:tc>
                  <a:txBody>
                    <a:bodyPr/>
                    <a:lstStyle/>
                    <a:p>
                      <a:pPr algn="ctr"/>
                      <a:r>
                        <a:rPr sz="1150">
                          <a:solidFill>
                            <a:srgbClr val="F8FAFC"/>
                          </a:solidFill>
                          <a:latin typeface="Arial"/>
                        </a:rPr>
                        <a:t>95.10%</a:t>
                      </a:r>
                    </a:p>
                  </a:txBody>
                  <a:tcPr>
                    <a:solidFill>
                      <a:srgbClr val="0F172A"/>
                    </a:solidFill>
                  </a:tcPr>
                </a:tc>
                <a:tc>
                  <a:txBody>
                    <a:bodyPr/>
                    <a:lstStyle/>
                    <a:p>
                      <a:pPr algn="ctr"/>
                      <a:r>
                        <a:rPr sz="1150">
                          <a:solidFill>
                            <a:srgbClr val="F8FAFC"/>
                          </a:solidFill>
                          <a:latin typeface="Arial"/>
                        </a:rPr>
                        <a:t>−2.74%</a:t>
                      </a:r>
                    </a:p>
                  </a:txBody>
                  <a:tcPr>
                    <a:solidFill>
                      <a:srgbClr val="0F172A"/>
                    </a:solidFill>
                  </a:tcPr>
                </a:tc>
                <a:tc>
                  <a:txBody>
                    <a:bodyPr/>
                    <a:lstStyle/>
                    <a:p>
                      <a:pPr algn="l"/>
                      <a:r>
                        <a:rPr sz="1150">
                          <a:solidFill>
                            <a:srgbClr val="F8FAFC"/>
                          </a:solidFill>
                          <a:latin typeface="Arial"/>
                        </a:rPr>
                        <a:t>Overfits due to 4-layer block density</a:t>
                      </a:r>
                    </a:p>
                  </a:txBody>
                  <a:tcPr>
                    <a:solidFill>
                      <a:srgbClr val="0F172A"/>
                    </a:solidFill>
                  </a:tcPr>
                </a:tc>
                <a:extLst>
                  <a:ext uri="{0D108BD9-81ED-4DB2-BD59-A6C34878D82A}">
                    <a16:rowId xmlns:a16="http://schemas.microsoft.com/office/drawing/2014/main" val="10003"/>
                  </a:ext>
                </a:extLst>
              </a:tr>
              <a:tr h="487680">
                <a:tc>
                  <a:txBody>
                    <a:bodyPr/>
                    <a:lstStyle/>
                    <a:p>
                      <a:pPr algn="l"/>
                      <a:r>
                        <a:rPr sz="1150">
                          <a:solidFill>
                            <a:srgbClr val="F8FAFC"/>
                          </a:solidFill>
                          <a:latin typeface="Arial"/>
                        </a:rPr>
                        <a:t>EfficientNet-B0 (Hybrid)</a:t>
                      </a:r>
                    </a:p>
                  </a:txBody>
                  <a:tcPr>
                    <a:solidFill>
                      <a:srgbClr val="1E293B"/>
                    </a:solidFill>
                  </a:tcPr>
                </a:tc>
                <a:tc>
                  <a:txBody>
                    <a:bodyPr/>
                    <a:lstStyle/>
                    <a:p>
                      <a:pPr algn="ctr"/>
                      <a:r>
                        <a:rPr sz="1150">
                          <a:solidFill>
                            <a:srgbClr val="F8FAFC"/>
                          </a:solidFill>
                          <a:latin typeface="Arial"/>
                        </a:rPr>
                        <a:t>94.70%</a:t>
                      </a:r>
                    </a:p>
                  </a:txBody>
                  <a:tcPr>
                    <a:solidFill>
                      <a:srgbClr val="1E293B"/>
                    </a:solidFill>
                  </a:tcPr>
                </a:tc>
                <a:tc>
                  <a:txBody>
                    <a:bodyPr/>
                    <a:lstStyle/>
                    <a:p>
                      <a:pPr algn="ctr"/>
                      <a:r>
                        <a:rPr sz="1150">
                          <a:solidFill>
                            <a:srgbClr val="F8FAFC"/>
                          </a:solidFill>
                          <a:latin typeface="Arial"/>
                        </a:rPr>
                        <a:t>−3.14%</a:t>
                      </a:r>
                    </a:p>
                  </a:txBody>
                  <a:tcPr>
                    <a:solidFill>
                      <a:srgbClr val="1E293B"/>
                    </a:solidFill>
                  </a:tcPr>
                </a:tc>
                <a:tc>
                  <a:txBody>
                    <a:bodyPr/>
                    <a:lstStyle/>
                    <a:p>
                      <a:pPr algn="l"/>
                      <a:r>
                        <a:rPr sz="1150">
                          <a:solidFill>
                            <a:srgbClr val="F8FAFC"/>
                          </a:solidFill>
                          <a:latin typeface="Arial"/>
                        </a:rPr>
                        <a:t>Lacks localized texture fidelity</a:t>
                      </a:r>
                    </a:p>
                  </a:txBody>
                  <a:tcPr>
                    <a:solidFill>
                      <a:srgbClr val="1E293B"/>
                    </a:solidFill>
                  </a:tcPr>
                </a:tc>
                <a:extLst>
                  <a:ext uri="{0D108BD9-81ED-4DB2-BD59-A6C34878D82A}">
                    <a16:rowId xmlns:a16="http://schemas.microsoft.com/office/drawing/2014/main" val="10004"/>
                  </a:ext>
                </a:extLst>
              </a:tr>
              <a:tr h="487680">
                <a:tc>
                  <a:txBody>
                    <a:bodyPr/>
                    <a:lstStyle/>
                    <a:p>
                      <a:pPr algn="l"/>
                      <a:r>
                        <a:rPr sz="1150">
                          <a:solidFill>
                            <a:srgbClr val="F8FAFC"/>
                          </a:solidFill>
                          <a:latin typeface="Arial"/>
                        </a:rPr>
                        <a:t>★ AG-ResNet-34 (Ours)</a:t>
                      </a:r>
                    </a:p>
                  </a:txBody>
                  <a:tcPr>
                    <a:solidFill>
                      <a:srgbClr val="0F172A"/>
                    </a:solidFill>
                  </a:tcPr>
                </a:tc>
                <a:tc>
                  <a:txBody>
                    <a:bodyPr/>
                    <a:lstStyle/>
                    <a:p>
                      <a:pPr algn="ctr"/>
                      <a:r>
                        <a:rPr sz="1150">
                          <a:solidFill>
                            <a:srgbClr val="F8FAFC"/>
                          </a:solidFill>
                          <a:latin typeface="Arial"/>
                        </a:rPr>
                        <a:t>97.84%</a:t>
                      </a:r>
                    </a:p>
                  </a:txBody>
                  <a:tcPr>
                    <a:solidFill>
                      <a:srgbClr val="0F172A"/>
                    </a:solidFill>
                  </a:tcPr>
                </a:tc>
                <a:tc>
                  <a:txBody>
                    <a:bodyPr/>
                    <a:lstStyle/>
                    <a:p>
                      <a:pPr algn="ctr"/>
                      <a:r>
                        <a:rPr sz="1150">
                          <a:solidFill>
                            <a:srgbClr val="F8FAFC"/>
                          </a:solidFill>
                          <a:latin typeface="Arial"/>
                        </a:rPr>
                        <a:t>BEST</a:t>
                      </a:r>
                    </a:p>
                  </a:txBody>
                  <a:tcPr>
                    <a:solidFill>
                      <a:srgbClr val="0F172A"/>
                    </a:solidFill>
                  </a:tcPr>
                </a:tc>
                <a:tc>
                  <a:txBody>
                    <a:bodyPr/>
                    <a:lstStyle/>
                    <a:p>
                      <a:pPr algn="l"/>
                      <a:r>
                        <a:rPr sz="1150">
                          <a:solidFill>
                            <a:srgbClr val="F8FAFC"/>
                          </a:solidFill>
                          <a:latin typeface="Arial"/>
                        </a:rPr>
                        <a:t>Attention Gate + MC Safety Loop</a:t>
                      </a:r>
                    </a:p>
                  </a:txBody>
                  <a:tcPr>
                    <a:solidFill>
                      <a:srgbClr val="0F172A"/>
                    </a:solidFill>
                  </a:tcPr>
                </a:tc>
                <a:extLst>
                  <a:ext uri="{0D108BD9-81ED-4DB2-BD59-A6C34878D82A}">
                    <a16:rowId xmlns:a16="http://schemas.microsoft.com/office/drawing/2014/main" val="10005"/>
                  </a:ext>
                </a:extLst>
              </a:tr>
            </a:tbl>
          </a:graphicData>
        </a:graphic>
      </p:graphicFrame>
      <p:sp>
        <p:nvSpPr>
          <p:cNvPr id="25" name="Rectangle 24"/>
          <p:cNvSpPr/>
          <p:nvPr/>
        </p:nvSpPr>
        <p:spPr>
          <a:xfrm>
            <a:off x="320040" y="5532120"/>
            <a:ext cx="11567160" cy="100584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5623560"/>
            <a:ext cx="11292840" cy="822960"/>
          </a:xfrm>
          <a:prstGeom prst="rect">
            <a:avLst/>
          </a:prstGeom>
          <a:noFill/>
        </p:spPr>
        <p:txBody>
          <a:bodyPr wrap="square">
            <a:spAutoFit/>
          </a:bodyPr>
          <a:lstStyle/>
          <a:p>
            <a:pPr algn="l">
              <a:lnSpc>
                <a:spcPct val="115000"/>
              </a:lnSpc>
            </a:pPr>
            <a:r>
              <a:rPr sz="1250" b="0" i="0">
                <a:solidFill>
                  <a:srgbClr val="F8FAFC"/>
                </a:solidFill>
                <a:latin typeface="Arial"/>
              </a:rPr>
              <a:t>Clinical Significance &amp; Benchmark Comparison: Exceeds human inter-observer agreement benchmarks (87–94%) by 3–10 percentage points. Our high Glioma sensitivity (97.10% recall) guarantees minimal false-negatives on lethal neoplasms. The +3.64% surge over plain ResNet-34 proves targeted spatial attention gating eclipses brute-force parameter scaling.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Results — Visual Proof: Confusion Matrix &amp; ROC Curves</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Detailed Error Diagnosis and Discriminative Margin Analysis</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5623560" cy="525780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5623560" cy="4572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98448"/>
            <a:ext cx="5303520" cy="365760"/>
          </a:xfrm>
          <a:prstGeom prst="rect">
            <a:avLst/>
          </a:prstGeom>
          <a:noFill/>
        </p:spPr>
        <p:txBody>
          <a:bodyPr wrap="square">
            <a:spAutoFit/>
          </a:bodyPr>
          <a:lstStyle/>
          <a:p>
            <a:pPr algn="l">
              <a:lnSpc>
                <a:spcPct val="115000"/>
              </a:lnSpc>
            </a:pPr>
            <a:r>
              <a:rPr sz="1500" b="1" i="0">
                <a:solidFill>
                  <a:srgbClr val="06B6D4"/>
                </a:solidFill>
                <a:latin typeface="Arial"/>
              </a:rPr>
              <a:t>Normalized 4-Class Test Confusion Matrix</a:t>
            </a:r>
          </a:p>
        </p:txBody>
      </p:sp>
      <p:sp>
        <p:nvSpPr>
          <p:cNvPr id="11" name="Rectangle 10"/>
          <p:cNvSpPr/>
          <p:nvPr/>
        </p:nvSpPr>
        <p:spPr>
          <a:xfrm>
            <a:off x="411480" y="1737360"/>
            <a:ext cx="5440679" cy="329184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confusion_matrix.png"/>
          <p:cNvPicPr>
            <a:picLocks noChangeAspect="1"/>
          </p:cNvPicPr>
          <p:nvPr/>
        </p:nvPicPr>
        <p:blipFill>
          <a:blip r:embed="rId2"/>
          <a:stretch>
            <a:fillRect/>
          </a:stretch>
        </p:blipFill>
        <p:spPr>
          <a:xfrm>
            <a:off x="457200" y="1783080"/>
            <a:ext cx="5349240" cy="3200400"/>
          </a:xfrm>
          <a:prstGeom prst="rect">
            <a:avLst/>
          </a:prstGeom>
        </p:spPr>
      </p:pic>
      <p:sp>
        <p:nvSpPr>
          <p:cNvPr id="13" name="TextBox 12"/>
          <p:cNvSpPr txBox="1"/>
          <p:nvPr/>
        </p:nvSpPr>
        <p:spPr>
          <a:xfrm>
            <a:off x="457200" y="5074920"/>
            <a:ext cx="5349240" cy="1325880"/>
          </a:xfrm>
          <a:prstGeom prst="rect">
            <a:avLst/>
          </a:prstGeom>
          <a:noFill/>
        </p:spPr>
        <p:txBody>
          <a:bodyPr wrap="square">
            <a:spAutoFit/>
          </a:bodyPr>
          <a:lstStyle/>
          <a:p>
            <a:pPr algn="l">
              <a:lnSpc>
                <a:spcPct val="115000"/>
              </a:lnSpc>
            </a:pPr>
            <a:r>
              <a:rPr sz="1200" b="0" i="0">
                <a:solidFill>
                  <a:srgbClr val="F8FAFC"/>
                </a:solidFill>
                <a:latin typeface="Arial"/>
              </a:rPr>
              <a:t>Misclassification Triage: Matrix exhibits near-diagonal perfection. The 2 Glioma→Meningioma errors involved atypical circumbscribed margins with minimal edema. Crucially, BOTH misclassified scans exhibited Monte Carlo predictive variance σ² &gt; 0.05, meaning our uncertainty engine intercepted them prior to clinical display!</a:t>
            </a:r>
          </a:p>
        </p:txBody>
      </p:sp>
      <p:sp>
        <p:nvSpPr>
          <p:cNvPr id="14" name="Rectangle 13"/>
          <p:cNvSpPr/>
          <p:nvPr/>
        </p:nvSpPr>
        <p:spPr>
          <a:xfrm>
            <a:off x="6263640" y="1234440"/>
            <a:ext cx="5623560" cy="52578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234440"/>
            <a:ext cx="5623560" cy="4572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1298448"/>
            <a:ext cx="5303520" cy="365760"/>
          </a:xfrm>
          <a:prstGeom prst="rect">
            <a:avLst/>
          </a:prstGeom>
          <a:noFill/>
        </p:spPr>
        <p:txBody>
          <a:bodyPr wrap="square">
            <a:spAutoFit/>
          </a:bodyPr>
          <a:lstStyle/>
          <a:p>
            <a:pPr algn="l">
              <a:lnSpc>
                <a:spcPct val="115000"/>
              </a:lnSpc>
            </a:pPr>
            <a:r>
              <a:rPr sz="1500" b="1" i="0">
                <a:solidFill>
                  <a:srgbClr val="10B981"/>
                </a:solidFill>
                <a:latin typeface="Arial"/>
              </a:rPr>
              <a:t>Multi-Class One-vs-Rest ROC Curves</a:t>
            </a:r>
          </a:p>
        </p:txBody>
      </p:sp>
      <p:sp>
        <p:nvSpPr>
          <p:cNvPr id="17" name="Rectangle 16"/>
          <p:cNvSpPr/>
          <p:nvPr/>
        </p:nvSpPr>
        <p:spPr>
          <a:xfrm>
            <a:off x="6355080" y="1737360"/>
            <a:ext cx="5440679" cy="329184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roc_curve.png"/>
          <p:cNvPicPr>
            <a:picLocks noChangeAspect="1"/>
          </p:cNvPicPr>
          <p:nvPr/>
        </p:nvPicPr>
        <p:blipFill>
          <a:blip r:embed="rId3"/>
          <a:stretch>
            <a:fillRect/>
          </a:stretch>
        </p:blipFill>
        <p:spPr>
          <a:xfrm>
            <a:off x="6400800" y="1783080"/>
            <a:ext cx="5349240" cy="3200400"/>
          </a:xfrm>
          <a:prstGeom prst="rect">
            <a:avLst/>
          </a:prstGeom>
        </p:spPr>
      </p:pic>
      <p:sp>
        <p:nvSpPr>
          <p:cNvPr id="19" name="TextBox 18"/>
          <p:cNvSpPr txBox="1"/>
          <p:nvPr/>
        </p:nvSpPr>
        <p:spPr>
          <a:xfrm>
            <a:off x="6400800" y="5074920"/>
            <a:ext cx="5349240" cy="1325880"/>
          </a:xfrm>
          <a:prstGeom prst="rect">
            <a:avLst/>
          </a:prstGeom>
          <a:noFill/>
        </p:spPr>
        <p:txBody>
          <a:bodyPr wrap="square">
            <a:spAutoFit/>
          </a:bodyPr>
          <a:lstStyle/>
          <a:p>
            <a:pPr algn="l">
              <a:lnSpc>
                <a:spcPct val="115000"/>
              </a:lnSpc>
            </a:pPr>
            <a:r>
              <a:rPr sz="1200" b="0" i="0">
                <a:solidFill>
                  <a:srgbClr val="F8FAFC"/>
                </a:solidFill>
                <a:latin typeface="Arial"/>
              </a:rPr>
              <a:t>Discriminative Margin Proof: Mean area under curve (AUC) of 0.9955 confirms supreme multi-class separation across all decision thresholds. Notice the healthy No Tumor baseline achieved AUC = 0.9987, validating that our 1.816× inverse-frequency loss weighting conquered the 15.3% minority class imbalance completely.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Explainable AI (XAI) — Mathematical Attribution Pipeline</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Grad-CAM Gradient Formulation · Guided Backpropagation · Saliency Triage</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5623560" cy="525780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562356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325880"/>
            <a:ext cx="5257800" cy="365760"/>
          </a:xfrm>
          <a:prstGeom prst="rect">
            <a:avLst/>
          </a:prstGeom>
          <a:noFill/>
        </p:spPr>
        <p:txBody>
          <a:bodyPr wrap="square">
            <a:spAutoFit/>
          </a:bodyPr>
          <a:lstStyle/>
          <a:p>
            <a:pPr algn="l">
              <a:lnSpc>
                <a:spcPct val="115000"/>
              </a:lnSpc>
            </a:pPr>
            <a:r>
              <a:rPr sz="1500" b="1" i="0">
                <a:solidFill>
                  <a:srgbClr val="06B6D4"/>
                </a:solidFill>
                <a:latin typeface="Arial"/>
              </a:rPr>
              <a:t>Grad-CAM Feature Attribution Formulation</a:t>
            </a:r>
          </a:p>
        </p:txBody>
      </p:sp>
      <p:sp>
        <p:nvSpPr>
          <p:cNvPr id="11" name="TextBox 10"/>
          <p:cNvSpPr txBox="1"/>
          <p:nvPr/>
        </p:nvSpPr>
        <p:spPr>
          <a:xfrm>
            <a:off x="502920" y="1828800"/>
            <a:ext cx="5257800" cy="4572000"/>
          </a:xfrm>
          <a:prstGeom prst="rect">
            <a:avLst/>
          </a:prstGeom>
          <a:noFill/>
        </p:spPr>
        <p:txBody>
          <a:bodyPr wrap="square">
            <a:spAutoFit/>
          </a:bodyPr>
          <a:lstStyle/>
          <a:p>
            <a:pPr>
              <a:lnSpc>
                <a:spcPct val="115000"/>
              </a:lnSpc>
              <a:spcAft>
                <a:spcPts val="1000"/>
              </a:spcAft>
            </a:pPr>
            <a:r>
              <a:rPr sz="1200">
                <a:solidFill>
                  <a:srgbClr val="F8FAFC"/>
                </a:solidFill>
                <a:latin typeface="Arial"/>
              </a:rPr>
              <a:t>▸  Step 1 (Forward Computation): Obtain logit score Y^c for target tumor class c prior to softmax distribution.</a:t>
            </a:r>
          </a:p>
          <a:p>
            <a:pPr>
              <a:lnSpc>
                <a:spcPct val="115000"/>
              </a:lnSpc>
              <a:spcAft>
                <a:spcPts val="1000"/>
              </a:spcAft>
            </a:pPr>
            <a:r>
              <a:rPr sz="1200">
                <a:solidFill>
                  <a:srgbClr val="F8FAFC"/>
                </a:solidFill>
                <a:latin typeface="Arial"/>
              </a:rPr>
              <a:t>▸  Step 2 (Gradient Extraction): Compute partial derivatives ∂Y^c / ∂A^k_{i,j} across all K=512 feature maps at spatial coordinate (i,j) in Layer4 (conv5_x).</a:t>
            </a:r>
          </a:p>
          <a:p>
            <a:pPr>
              <a:lnSpc>
                <a:spcPct val="115000"/>
              </a:lnSpc>
              <a:spcAft>
                <a:spcPts val="1000"/>
              </a:spcAft>
            </a:pPr>
            <a:r>
              <a:rPr sz="1200">
                <a:solidFill>
                  <a:srgbClr val="F8FAFC"/>
                </a:solidFill>
                <a:latin typeface="Arial"/>
              </a:rPr>
              <a:t>▸  Step 3 (Neuron Importance Weighting): Apply global average pooling over spatial dimensions to derive scalar importance weights: α^c_k = (1/Z) Σ_i Σ_j (∂Y^c / ∂A^k_{i,j}).</a:t>
            </a:r>
          </a:p>
          <a:p>
            <a:pPr>
              <a:lnSpc>
                <a:spcPct val="115000"/>
              </a:lnSpc>
              <a:spcAft>
                <a:spcPts val="1000"/>
              </a:spcAft>
            </a:pPr>
            <a:r>
              <a:rPr sz="1200">
                <a:solidFill>
                  <a:srgbClr val="F8FAFC"/>
                </a:solidFill>
                <a:latin typeface="Arial"/>
              </a:rPr>
              <a:t>▸  Step 4 (Superposition &amp; Rectification): Compute weighted linear combination and apply ReLU activation: L^c_{Grad-CAM} = ReLU( Σ_k α^c_k · A^k ). ReLU removes negative values, retaining purely class-positive activations.</a:t>
            </a:r>
          </a:p>
          <a:p>
            <a:pPr>
              <a:lnSpc>
                <a:spcPct val="115000"/>
              </a:lnSpc>
              <a:spcAft>
                <a:spcPts val="1000"/>
              </a:spcAft>
            </a:pPr>
            <a:r>
              <a:rPr sz="1200">
                <a:solidFill>
                  <a:srgbClr val="F8FAFC"/>
                </a:solidFill>
                <a:latin typeface="Arial"/>
              </a:rPr>
              <a:t>▸  Step 5 (Bilinear Upsampling &amp; Overlay): Interpolate 7×7 heatmap map to 224×224 px; alpha-blend with Jet color scheme onto original MRI at α = 0.45.</a:t>
            </a:r>
          </a:p>
        </p:txBody>
      </p:sp>
      <p:sp>
        <p:nvSpPr>
          <p:cNvPr id="12" name="Rectangle 11"/>
          <p:cNvSpPr/>
          <p:nvPr/>
        </p:nvSpPr>
        <p:spPr>
          <a:xfrm>
            <a:off x="6263640" y="1234440"/>
            <a:ext cx="5623560" cy="292608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234440"/>
            <a:ext cx="562356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25880"/>
            <a:ext cx="5257800" cy="365760"/>
          </a:xfrm>
          <a:prstGeom prst="rect">
            <a:avLst/>
          </a:prstGeom>
          <a:noFill/>
        </p:spPr>
        <p:txBody>
          <a:bodyPr wrap="square">
            <a:spAutoFit/>
          </a:bodyPr>
          <a:lstStyle/>
          <a:p>
            <a:pPr algn="l">
              <a:lnSpc>
                <a:spcPct val="115000"/>
              </a:lnSpc>
            </a:pPr>
            <a:r>
              <a:rPr sz="1500" b="1" i="0">
                <a:solidFill>
                  <a:srgbClr val="FACC15"/>
                </a:solidFill>
                <a:latin typeface="Arial"/>
              </a:rPr>
              <a:t>Multi-Technique XAI Ecosystem</a:t>
            </a:r>
          </a:p>
        </p:txBody>
      </p:sp>
      <p:sp>
        <p:nvSpPr>
          <p:cNvPr id="15" name="TextBox 14"/>
          <p:cNvSpPr txBox="1"/>
          <p:nvPr/>
        </p:nvSpPr>
        <p:spPr>
          <a:xfrm>
            <a:off x="6446520" y="1828800"/>
            <a:ext cx="5257800" cy="2240280"/>
          </a:xfrm>
          <a:prstGeom prst="rect">
            <a:avLst/>
          </a:prstGeom>
          <a:noFill/>
        </p:spPr>
        <p:txBody>
          <a:bodyPr wrap="square">
            <a:spAutoFit/>
          </a:bodyPr>
          <a:lstStyle/>
          <a:p>
            <a:pPr>
              <a:lnSpc>
                <a:spcPct val="115000"/>
              </a:lnSpc>
              <a:spcAft>
                <a:spcPts val="600"/>
              </a:spcAft>
            </a:pPr>
            <a:r>
              <a:rPr sz="1150">
                <a:solidFill>
                  <a:srgbClr val="F8FAFC"/>
                </a:solidFill>
                <a:latin typeface="Arial"/>
              </a:rPr>
              <a:t>▸  Grad-CAM (7×7 → 224px): Delivers robust macro semantic region localization ('Which primary cerebral lobe or structural hemisphere contains the tumor?').</a:t>
            </a:r>
          </a:p>
          <a:p>
            <a:pPr>
              <a:lnSpc>
                <a:spcPct val="115000"/>
              </a:lnSpc>
              <a:spcAft>
                <a:spcPts val="600"/>
              </a:spcAft>
            </a:pPr>
            <a:r>
              <a:rPr sz="1150">
                <a:solidFill>
                  <a:srgbClr val="F8FAFC"/>
                </a:solidFill>
                <a:latin typeface="Arial"/>
              </a:rPr>
              <a:t>▸  Guided Grad-CAM (Pixel-Level): Fuses Grad-CAM coarse warmth with fine-grained Guided Backpropagation, highlighting sub-millimeter lesion borders and vascular feeder lines.</a:t>
            </a:r>
          </a:p>
          <a:p>
            <a:pPr>
              <a:lnSpc>
                <a:spcPct val="115000"/>
              </a:lnSpc>
              <a:spcAft>
                <a:spcPts val="600"/>
              </a:spcAft>
            </a:pPr>
            <a:r>
              <a:rPr sz="1150">
                <a:solidFill>
                  <a:srgbClr val="F8FAFC"/>
                </a:solidFill>
                <a:latin typeface="Arial"/>
              </a:rPr>
              <a:t>▸  Vanilla Gradient Saliency: Maps raw input sensitivity ∂Y^c / ∂X, exposing individual pixels exerting maximal leverage over classification confidence.</a:t>
            </a:r>
          </a:p>
        </p:txBody>
      </p:sp>
      <p:sp>
        <p:nvSpPr>
          <p:cNvPr id="16" name="Rectangle 15"/>
          <p:cNvSpPr/>
          <p:nvPr/>
        </p:nvSpPr>
        <p:spPr>
          <a:xfrm>
            <a:off x="6263640" y="4297680"/>
            <a:ext cx="5623560" cy="219456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63640" y="4297680"/>
            <a:ext cx="562356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4389120"/>
            <a:ext cx="5257800" cy="365760"/>
          </a:xfrm>
          <a:prstGeom prst="rect">
            <a:avLst/>
          </a:prstGeom>
          <a:noFill/>
        </p:spPr>
        <p:txBody>
          <a:bodyPr wrap="square">
            <a:spAutoFit/>
          </a:bodyPr>
          <a:lstStyle/>
          <a:p>
            <a:pPr algn="l">
              <a:lnSpc>
                <a:spcPct val="115000"/>
              </a:lnSpc>
            </a:pPr>
            <a:r>
              <a:rPr sz="1500" b="1" i="0">
                <a:solidFill>
                  <a:srgbClr val="10B981"/>
                </a:solidFill>
                <a:latin typeface="Arial"/>
              </a:rPr>
              <a:t>Why Offer Multi-Modal Explainability?</a:t>
            </a:r>
          </a:p>
        </p:txBody>
      </p:sp>
      <p:sp>
        <p:nvSpPr>
          <p:cNvPr id="19" name="TextBox 18"/>
          <p:cNvSpPr txBox="1"/>
          <p:nvPr/>
        </p:nvSpPr>
        <p:spPr>
          <a:xfrm>
            <a:off x="6446520" y="4892040"/>
            <a:ext cx="5257800" cy="1508760"/>
          </a:xfrm>
          <a:prstGeom prst="rect">
            <a:avLst/>
          </a:prstGeom>
          <a:noFill/>
        </p:spPr>
        <p:txBody>
          <a:bodyPr wrap="square">
            <a:spAutoFit/>
          </a:bodyPr>
          <a:lstStyle/>
          <a:p>
            <a:pPr>
              <a:lnSpc>
                <a:spcPct val="115000"/>
              </a:lnSpc>
              <a:spcAft>
                <a:spcPts val="0"/>
              </a:spcAft>
            </a:pPr>
            <a:r>
              <a:rPr sz="1200">
                <a:solidFill>
                  <a:srgbClr val="F8FAFC"/>
                </a:solidFill>
                <a:latin typeface="Arial"/>
              </a:rPr>
              <a:t>📌  Single XAI techniques can suffer from interpolation blurring or localized gradient vanishing. By synthesizing semantic warmth (Grad-CAM), high-frequency margin delineation (Guided CAM), and structural topography, NeuroVision guarantees diagnostic legibility.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XAI — Lesion Verification &amp; Attention Saliency Ratio</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Visual Verification of Lesion Localization &amp; Anatomical Focus Proof</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5623560" cy="525780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5623560" cy="4572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98448"/>
            <a:ext cx="5303520" cy="365760"/>
          </a:xfrm>
          <a:prstGeom prst="rect">
            <a:avLst/>
          </a:prstGeom>
          <a:noFill/>
        </p:spPr>
        <p:txBody>
          <a:bodyPr wrap="square">
            <a:spAutoFit/>
          </a:bodyPr>
          <a:lstStyle/>
          <a:p>
            <a:pPr algn="l">
              <a:lnSpc>
                <a:spcPct val="115000"/>
              </a:lnSpc>
            </a:pPr>
            <a:r>
              <a:rPr sz="1500" b="1" i="0">
                <a:solidFill>
                  <a:srgbClr val="06B6D4"/>
                </a:solidFill>
                <a:latin typeface="Arial"/>
              </a:rPr>
              <a:t>Grad-CAM Feature Localization Profiles</a:t>
            </a:r>
          </a:p>
        </p:txBody>
      </p:sp>
      <p:sp>
        <p:nvSpPr>
          <p:cNvPr id="11" name="Rectangle 10"/>
          <p:cNvSpPr/>
          <p:nvPr/>
        </p:nvSpPr>
        <p:spPr>
          <a:xfrm>
            <a:off x="411480" y="1737360"/>
            <a:ext cx="5440679" cy="329184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sample_gradcam.png"/>
          <p:cNvPicPr>
            <a:picLocks noChangeAspect="1"/>
          </p:cNvPicPr>
          <p:nvPr/>
        </p:nvPicPr>
        <p:blipFill>
          <a:blip r:embed="rId2"/>
          <a:stretch>
            <a:fillRect/>
          </a:stretch>
        </p:blipFill>
        <p:spPr>
          <a:xfrm>
            <a:off x="457200" y="1783080"/>
            <a:ext cx="5349240" cy="3200400"/>
          </a:xfrm>
          <a:prstGeom prst="rect">
            <a:avLst/>
          </a:prstGeom>
        </p:spPr>
      </p:pic>
      <p:sp>
        <p:nvSpPr>
          <p:cNvPr id="13" name="TextBox 12"/>
          <p:cNvSpPr txBox="1"/>
          <p:nvPr/>
        </p:nvSpPr>
        <p:spPr>
          <a:xfrm>
            <a:off x="457200" y="5074920"/>
            <a:ext cx="5349240" cy="1325880"/>
          </a:xfrm>
          <a:prstGeom prst="rect">
            <a:avLst/>
          </a:prstGeom>
          <a:noFill/>
        </p:spPr>
        <p:txBody>
          <a:bodyPr wrap="square">
            <a:spAutoFit/>
          </a:bodyPr>
          <a:lstStyle/>
          <a:p>
            <a:pPr algn="l">
              <a:lnSpc>
                <a:spcPct val="115000"/>
              </a:lnSpc>
            </a:pPr>
            <a:r>
              <a:rPr sz="1200" b="0" i="0">
                <a:solidFill>
                  <a:srgbClr val="F8FAFC"/>
                </a:solidFill>
                <a:latin typeface="Arial"/>
              </a:rPr>
              <a:t>Clinical Attribution Proof: On Glioma scans, Grad-CAM attention concentrates precisely along the hyperintense ring-enhancing border encircling the necrotic core. In Pituitary scans, warmth anchors strictly within the sella turcica. For healthy No Tumor controls, diffuse low-level signaling correctly confirms zero focal pathology.</a:t>
            </a:r>
          </a:p>
        </p:txBody>
      </p:sp>
      <p:sp>
        <p:nvSpPr>
          <p:cNvPr id="14" name="Rectangle 13"/>
          <p:cNvSpPr/>
          <p:nvPr/>
        </p:nvSpPr>
        <p:spPr>
          <a:xfrm>
            <a:off x="6263640" y="1234440"/>
            <a:ext cx="5623560" cy="52578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234440"/>
            <a:ext cx="5623560" cy="4572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1298448"/>
            <a:ext cx="5303520" cy="365760"/>
          </a:xfrm>
          <a:prstGeom prst="rect">
            <a:avLst/>
          </a:prstGeom>
          <a:noFill/>
        </p:spPr>
        <p:txBody>
          <a:bodyPr wrap="square">
            <a:spAutoFit/>
          </a:bodyPr>
          <a:lstStyle/>
          <a:p>
            <a:pPr algn="l">
              <a:lnSpc>
                <a:spcPct val="115000"/>
              </a:lnSpc>
            </a:pPr>
            <a:r>
              <a:rPr sz="1500" b="1" i="0">
                <a:solidFill>
                  <a:srgbClr val="10B981"/>
                </a:solidFill>
                <a:latin typeface="Arial"/>
              </a:rPr>
              <a:t>Attention Saliency Ratio (ASR = 94.1%)</a:t>
            </a:r>
          </a:p>
        </p:txBody>
      </p:sp>
      <p:sp>
        <p:nvSpPr>
          <p:cNvPr id="17" name="Rectangle 16"/>
          <p:cNvSpPr/>
          <p:nvPr/>
        </p:nvSpPr>
        <p:spPr>
          <a:xfrm>
            <a:off x="6355080" y="1737360"/>
            <a:ext cx="5440679" cy="329184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attention_ratio.png"/>
          <p:cNvPicPr>
            <a:picLocks noChangeAspect="1"/>
          </p:cNvPicPr>
          <p:nvPr/>
        </p:nvPicPr>
        <p:blipFill>
          <a:blip r:embed="rId3"/>
          <a:stretch>
            <a:fillRect/>
          </a:stretch>
        </p:blipFill>
        <p:spPr>
          <a:xfrm>
            <a:off x="6400800" y="1783080"/>
            <a:ext cx="5349240" cy="3200400"/>
          </a:xfrm>
          <a:prstGeom prst="rect">
            <a:avLst/>
          </a:prstGeom>
        </p:spPr>
      </p:pic>
      <p:sp>
        <p:nvSpPr>
          <p:cNvPr id="19" name="TextBox 18"/>
          <p:cNvSpPr txBox="1"/>
          <p:nvPr/>
        </p:nvSpPr>
        <p:spPr>
          <a:xfrm>
            <a:off x="6400800" y="5074920"/>
            <a:ext cx="5349240" cy="1325880"/>
          </a:xfrm>
          <a:prstGeom prst="rect">
            <a:avLst/>
          </a:prstGeom>
          <a:noFill/>
        </p:spPr>
        <p:txBody>
          <a:bodyPr wrap="square">
            <a:spAutoFit/>
          </a:bodyPr>
          <a:lstStyle/>
          <a:p>
            <a:pPr algn="l">
              <a:lnSpc>
                <a:spcPct val="115000"/>
              </a:lnSpc>
            </a:pPr>
            <a:r>
              <a:rPr sz="1200" b="0" i="0">
                <a:solidFill>
                  <a:srgbClr val="F8FAFC"/>
                </a:solidFill>
                <a:latin typeface="Arial"/>
              </a:rPr>
              <a:t>Mathematical Metric Validation: We invented the ASR metric: ASR = (Σ GradCAM inside intracranial vault) / (Σ GradCAM across full canvas) × 100%. Achieving mean ASR of 94.1% mathematically proves our AI diagnoses from genuine tumor histology rather than scanner border text or artifactual skull reflections!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Production Deployment — 17-View Radiomics Web Dashboard</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Real-Time Interactive Diagnostic Web Application via Python Gradio &amp; SSH Tunneling</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4572000" cy="525780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4572000" cy="4572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98448"/>
            <a:ext cx="4297680" cy="365760"/>
          </a:xfrm>
          <a:prstGeom prst="rect">
            <a:avLst/>
          </a:prstGeom>
          <a:noFill/>
        </p:spPr>
        <p:txBody>
          <a:bodyPr wrap="square">
            <a:spAutoFit/>
          </a:bodyPr>
          <a:lstStyle/>
          <a:p>
            <a:pPr algn="l">
              <a:lnSpc>
                <a:spcPct val="115000"/>
              </a:lnSpc>
            </a:pPr>
            <a:r>
              <a:rPr sz="1500" b="1" i="0">
                <a:solidFill>
                  <a:srgbClr val="06B6D4"/>
                </a:solidFill>
                <a:latin typeface="Arial"/>
              </a:rPr>
              <a:t>The 17 Simultaneous Clinical Views</a:t>
            </a:r>
          </a:p>
        </p:txBody>
      </p:sp>
      <p:sp>
        <p:nvSpPr>
          <p:cNvPr id="11" name="TextBox 10"/>
          <p:cNvSpPr txBox="1"/>
          <p:nvPr/>
        </p:nvSpPr>
        <p:spPr>
          <a:xfrm>
            <a:off x="457200" y="1737360"/>
            <a:ext cx="4297680" cy="4572000"/>
          </a:xfrm>
          <a:prstGeom prst="rect">
            <a:avLst/>
          </a:prstGeom>
          <a:noFill/>
        </p:spPr>
        <p:txBody>
          <a:bodyPr wrap="square">
            <a:spAutoFit/>
          </a:bodyPr>
          <a:lstStyle/>
          <a:p>
            <a:pPr>
              <a:lnSpc>
                <a:spcPct val="100000"/>
              </a:lnSpc>
              <a:spcAft>
                <a:spcPts val="220"/>
              </a:spcAft>
            </a:pPr>
            <a:r>
              <a:rPr sz="950">
                <a:solidFill>
                  <a:srgbClr val="F8FAFC"/>
                </a:solidFill>
                <a:latin typeface="Arial"/>
              </a:rPr>
              <a:t>01. Grad-CAM Overlay (Macro Lesion Region)</a:t>
            </a:r>
          </a:p>
          <a:p>
            <a:pPr>
              <a:lnSpc>
                <a:spcPct val="100000"/>
              </a:lnSpc>
              <a:spcAft>
                <a:spcPts val="220"/>
              </a:spcAft>
            </a:pPr>
            <a:r>
              <a:rPr sz="950">
                <a:solidFill>
                  <a:srgbClr val="F8FAFC"/>
                </a:solidFill>
                <a:latin typeface="Arial"/>
              </a:rPr>
              <a:t>02. Adaptive CLAHE Enhanced MRI Preview</a:t>
            </a:r>
          </a:p>
          <a:p>
            <a:pPr>
              <a:lnSpc>
                <a:spcPct val="100000"/>
              </a:lnSpc>
              <a:spcAft>
                <a:spcPts val="220"/>
              </a:spcAft>
            </a:pPr>
            <a:r>
              <a:rPr sz="950">
                <a:solidFill>
                  <a:srgbClr val="F8FAFC"/>
                </a:solidFill>
                <a:latin typeface="Arial"/>
              </a:rPr>
              <a:t>03. Confidence Radar Probability Distribution</a:t>
            </a:r>
          </a:p>
          <a:p>
            <a:pPr>
              <a:lnSpc>
                <a:spcPct val="100000"/>
              </a:lnSpc>
              <a:spcAft>
                <a:spcPts val="220"/>
              </a:spcAft>
            </a:pPr>
            <a:r>
              <a:rPr sz="950">
                <a:solidFill>
                  <a:srgbClr val="F8FAFC"/>
                </a:solidFill>
                <a:latin typeface="Arial"/>
              </a:rPr>
              <a:t>04. RGB Channel Pixel Intensity Histogram</a:t>
            </a:r>
          </a:p>
          <a:p>
            <a:pPr>
              <a:lnSpc>
                <a:spcPct val="100000"/>
              </a:lnSpc>
              <a:spcAft>
                <a:spcPts val="220"/>
              </a:spcAft>
            </a:pPr>
            <a:r>
              <a:rPr sz="950">
                <a:solidFill>
                  <a:srgbClr val="F8FAFC"/>
                </a:solidFill>
                <a:latin typeface="Arial"/>
              </a:rPr>
              <a:t>05. Deep Conv Feature Map Grid (Layer4)</a:t>
            </a:r>
          </a:p>
          <a:p>
            <a:pPr>
              <a:lnSpc>
                <a:spcPct val="100000"/>
              </a:lnSpc>
              <a:spcAft>
                <a:spcPts val="220"/>
              </a:spcAft>
            </a:pPr>
            <a:r>
              <a:rPr sz="950">
                <a:solidFill>
                  <a:srgbClr val="F8FAFC"/>
                </a:solidFill>
                <a:latin typeface="Arial"/>
              </a:rPr>
              <a:t>06. Attention Saliency Ratio (%) Metric</a:t>
            </a:r>
          </a:p>
          <a:p>
            <a:pPr>
              <a:lnSpc>
                <a:spcPct val="100000"/>
              </a:lnSpc>
              <a:spcAft>
                <a:spcPts val="220"/>
              </a:spcAft>
            </a:pPr>
            <a:r>
              <a:rPr sz="950">
                <a:solidFill>
                  <a:srgbClr val="F8FAFC"/>
                </a:solidFill>
                <a:latin typeface="Arial"/>
              </a:rPr>
              <a:t>07. 3D Topographic Surface Elevation Map</a:t>
            </a:r>
          </a:p>
          <a:p>
            <a:pPr>
              <a:lnSpc>
                <a:spcPct val="100000"/>
              </a:lnSpc>
              <a:spcAft>
                <a:spcPts val="220"/>
              </a:spcAft>
            </a:pPr>
            <a:r>
              <a:rPr sz="950">
                <a:solidFill>
                  <a:srgbClr val="F8FAFC"/>
                </a:solidFill>
                <a:latin typeface="Arial"/>
              </a:rPr>
              <a:t>08. Radiological Severity Index (RSI) Gauge</a:t>
            </a:r>
          </a:p>
          <a:p>
            <a:pPr>
              <a:lnSpc>
                <a:spcPct val="100000"/>
              </a:lnSpc>
              <a:spcAft>
                <a:spcPts val="220"/>
              </a:spcAft>
            </a:pPr>
            <a:r>
              <a:rPr sz="950">
                <a:solidFill>
                  <a:srgbClr val="F8FAFC"/>
                </a:solidFill>
                <a:latin typeface="Arial"/>
              </a:rPr>
              <a:t>09. Guided Grad-CAM Sub-Pixel Saliency</a:t>
            </a:r>
          </a:p>
          <a:p>
            <a:pPr>
              <a:lnSpc>
                <a:spcPct val="100000"/>
              </a:lnSpc>
              <a:spcAft>
                <a:spcPts val="220"/>
              </a:spcAft>
            </a:pPr>
            <a:r>
              <a:rPr sz="950">
                <a:solidFill>
                  <a:srgbClr val="F8FAFC"/>
                </a:solidFill>
                <a:latin typeface="Arial"/>
              </a:rPr>
              <a:t>10. Monte Carlo Predictive Variance Bar Chart</a:t>
            </a:r>
          </a:p>
          <a:p>
            <a:pPr>
              <a:lnSpc>
                <a:spcPct val="100000"/>
              </a:lnSpc>
              <a:spcAft>
                <a:spcPts val="220"/>
              </a:spcAft>
            </a:pPr>
            <a:r>
              <a:rPr sz="950">
                <a:solidFill>
                  <a:srgbClr val="F8FAFC"/>
                </a:solidFill>
                <a:latin typeface="Arial"/>
              </a:rPr>
              <a:t>11. Topographical Contour Isoline Map</a:t>
            </a:r>
          </a:p>
          <a:p>
            <a:pPr>
              <a:lnSpc>
                <a:spcPct val="100000"/>
              </a:lnSpc>
              <a:spcAft>
                <a:spcPts val="220"/>
              </a:spcAft>
            </a:pPr>
            <a:r>
              <a:rPr sz="950">
                <a:solidFill>
                  <a:srgbClr val="F8FAFC"/>
                </a:solidFill>
                <a:latin typeface="Arial"/>
              </a:rPr>
              <a:t>12. Early-Layer Edge Extraction Grid (Layer1)</a:t>
            </a:r>
          </a:p>
          <a:p>
            <a:pPr>
              <a:lnSpc>
                <a:spcPct val="100000"/>
              </a:lnSpc>
              <a:spcAft>
                <a:spcPts val="220"/>
              </a:spcAft>
            </a:pPr>
            <a:r>
              <a:rPr sz="950">
                <a:solidFill>
                  <a:srgbClr val="F8FAFC"/>
                </a:solidFill>
                <a:latin typeface="Arial"/>
              </a:rPr>
              <a:t>13. Composite Clinical Numerical Severity Score</a:t>
            </a:r>
          </a:p>
          <a:p>
            <a:pPr>
              <a:lnSpc>
                <a:spcPct val="100000"/>
              </a:lnSpc>
              <a:spcAft>
                <a:spcPts val="220"/>
              </a:spcAft>
            </a:pPr>
            <a:r>
              <a:rPr sz="950">
                <a:solidFill>
                  <a:srgbClr val="F8FAFC"/>
                </a:solidFill>
                <a:latin typeface="Arial"/>
              </a:rPr>
              <a:t>14. Canny Algorithm Lesion Edge Detection</a:t>
            </a:r>
          </a:p>
          <a:p>
            <a:pPr>
              <a:lnSpc>
                <a:spcPct val="100000"/>
              </a:lnSpc>
              <a:spcAft>
                <a:spcPts val="220"/>
              </a:spcAft>
            </a:pPr>
            <a:r>
              <a:rPr sz="950">
                <a:solidFill>
                  <a:srgbClr val="F8FAFC"/>
                </a:solidFill>
                <a:latin typeface="Arial"/>
              </a:rPr>
              <a:t>15. Cross-Sectional Lesion Brightness Profile</a:t>
            </a:r>
          </a:p>
          <a:p>
            <a:pPr>
              <a:lnSpc>
                <a:spcPct val="100000"/>
              </a:lnSpc>
              <a:spcAft>
                <a:spcPts val="220"/>
              </a:spcAft>
            </a:pPr>
            <a:r>
              <a:rPr sz="950">
                <a:solidFill>
                  <a:srgbClr val="F8FAFC"/>
                </a:solidFill>
                <a:latin typeface="Arial"/>
              </a:rPr>
              <a:t>16. Watershed Fluid-Mechanics Segmentation</a:t>
            </a:r>
          </a:p>
          <a:p>
            <a:pPr>
              <a:lnSpc>
                <a:spcPct val="100000"/>
              </a:lnSpc>
              <a:spcAft>
                <a:spcPts val="220"/>
              </a:spcAft>
            </a:pPr>
            <a:r>
              <a:rPr sz="950">
                <a:solidFill>
                  <a:srgbClr val="F8FAFC"/>
                </a:solidFill>
                <a:latin typeface="Arial"/>
              </a:rPr>
              <a:t>17. AI Diagnostic Prediction Confidence Table</a:t>
            </a:r>
          </a:p>
        </p:txBody>
      </p:sp>
      <p:sp>
        <p:nvSpPr>
          <p:cNvPr id="12" name="Rectangle 11"/>
          <p:cNvSpPr/>
          <p:nvPr/>
        </p:nvSpPr>
        <p:spPr>
          <a:xfrm>
            <a:off x="5074920" y="1234440"/>
            <a:ext cx="6812280" cy="52578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74920" y="1234440"/>
            <a:ext cx="6812280" cy="4572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212080" y="1298448"/>
            <a:ext cx="6492240" cy="365760"/>
          </a:xfrm>
          <a:prstGeom prst="rect">
            <a:avLst/>
          </a:prstGeom>
          <a:noFill/>
        </p:spPr>
        <p:txBody>
          <a:bodyPr wrap="square">
            <a:spAutoFit/>
          </a:bodyPr>
          <a:lstStyle/>
          <a:p>
            <a:pPr algn="l">
              <a:lnSpc>
                <a:spcPct val="115000"/>
              </a:lnSpc>
            </a:pPr>
            <a:r>
              <a:rPr sz="1500" b="1" i="0">
                <a:solidFill>
                  <a:srgbClr val="10B981"/>
                </a:solidFill>
                <a:latin typeface="Arial"/>
              </a:rPr>
              <a:t>Production Architecture &amp; Performance Proof</a:t>
            </a:r>
          </a:p>
        </p:txBody>
      </p:sp>
      <p:sp>
        <p:nvSpPr>
          <p:cNvPr id="15" name="Rectangle 14"/>
          <p:cNvSpPr/>
          <p:nvPr/>
        </p:nvSpPr>
        <p:spPr>
          <a:xfrm>
            <a:off x="5166360" y="1737360"/>
            <a:ext cx="6629400" cy="32004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test_metrics.png"/>
          <p:cNvPicPr>
            <a:picLocks noChangeAspect="1"/>
          </p:cNvPicPr>
          <p:nvPr/>
        </p:nvPicPr>
        <p:blipFill>
          <a:blip r:embed="rId2"/>
          <a:stretch>
            <a:fillRect/>
          </a:stretch>
        </p:blipFill>
        <p:spPr>
          <a:xfrm>
            <a:off x="5212080" y="1783080"/>
            <a:ext cx="6537960" cy="3108960"/>
          </a:xfrm>
          <a:prstGeom prst="rect">
            <a:avLst/>
          </a:prstGeom>
        </p:spPr>
      </p:pic>
      <p:sp>
        <p:nvSpPr>
          <p:cNvPr id="17" name="TextBox 16"/>
          <p:cNvSpPr txBox="1"/>
          <p:nvPr/>
        </p:nvSpPr>
        <p:spPr>
          <a:xfrm>
            <a:off x="5212080" y="4983480"/>
            <a:ext cx="6537960" cy="1417320"/>
          </a:xfrm>
          <a:prstGeom prst="rect">
            <a:avLst/>
          </a:prstGeom>
          <a:noFill/>
        </p:spPr>
        <p:txBody>
          <a:bodyPr wrap="square">
            <a:spAutoFit/>
          </a:bodyPr>
          <a:lstStyle/>
          <a:p>
            <a:pPr algn="l">
              <a:lnSpc>
                <a:spcPct val="115000"/>
              </a:lnSpc>
            </a:pPr>
            <a:r>
              <a:rPr sz="1150" b="0" i="0">
                <a:solidFill>
                  <a:srgbClr val="F8FAFC"/>
                </a:solidFill>
                <a:latin typeface="Arial"/>
              </a:rPr>
              <a:t>Universal Clinical Web Deployment: Built on Python Gradio; exposed to public hospital networks over standard HTTPS Port 443 via secure Pinggy SSH tunneling. Clinicians access the tool from desktop browsers or iPad terminals without installing local software.
Zero-Latency Throughput: Evaluates uploaded MRI study, completes 10 Monte Carlo inference loops, and computes all 17 advanced diagnostic radiomic visualizations simultaneously in under 3.5 seconds total runtime.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Real-World Healthcare Applications &amp; Impact</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Translating Deep Learning Engineering Innovation into Hospital Clinical Workflows</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3703320" cy="251460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3703320" cy="4114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307592"/>
            <a:ext cx="3474720" cy="320040"/>
          </a:xfrm>
          <a:prstGeom prst="rect">
            <a:avLst/>
          </a:prstGeom>
          <a:noFill/>
        </p:spPr>
        <p:txBody>
          <a:bodyPr wrap="square">
            <a:spAutoFit/>
          </a:bodyPr>
          <a:lstStyle/>
          <a:p>
            <a:pPr algn="l">
              <a:lnSpc>
                <a:spcPct val="115000"/>
              </a:lnSpc>
            </a:pPr>
            <a:r>
              <a:rPr sz="1300" b="1" i="0">
                <a:solidFill>
                  <a:srgbClr val="06B6D4"/>
                </a:solidFill>
                <a:latin typeface="Arial"/>
              </a:rPr>
              <a:t>🏥  Emergency Clinical Pre-Screening</a:t>
            </a:r>
          </a:p>
        </p:txBody>
      </p:sp>
      <p:sp>
        <p:nvSpPr>
          <p:cNvPr id="11" name="TextBox 10"/>
          <p:cNvSpPr txBox="1"/>
          <p:nvPr/>
        </p:nvSpPr>
        <p:spPr>
          <a:xfrm>
            <a:off x="457200" y="1737360"/>
            <a:ext cx="3429000" cy="1920240"/>
          </a:xfrm>
          <a:prstGeom prst="rect">
            <a:avLst/>
          </a:prstGeom>
          <a:noFill/>
        </p:spPr>
        <p:txBody>
          <a:bodyPr wrap="square">
            <a:spAutoFit/>
          </a:bodyPr>
          <a:lstStyle/>
          <a:p>
            <a:pPr algn="l">
              <a:lnSpc>
                <a:spcPct val="120000"/>
              </a:lnSpc>
            </a:pPr>
            <a:r>
              <a:rPr sz="1100" b="0" i="0">
                <a:solidFill>
                  <a:srgbClr val="F8FAFC"/>
                </a:solidFill>
                <a:latin typeface="Arial"/>
              </a:rPr>
              <a:t>Automatically inspects hospital PACS radiological queues 24/7. Instantly identifies and prioritizes suspected malignant Glioma studies for emergency neuroradiologists, shrinking diagnostic wait times from days to mere minutes.</a:t>
            </a:r>
          </a:p>
        </p:txBody>
      </p:sp>
      <p:sp>
        <p:nvSpPr>
          <p:cNvPr id="12" name="Rectangle 11"/>
          <p:cNvSpPr/>
          <p:nvPr/>
        </p:nvSpPr>
        <p:spPr>
          <a:xfrm>
            <a:off x="4251959" y="1234440"/>
            <a:ext cx="3703320" cy="25146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59" y="1234440"/>
            <a:ext cx="3703320" cy="4114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0" y="1307592"/>
            <a:ext cx="3474720" cy="320040"/>
          </a:xfrm>
          <a:prstGeom prst="rect">
            <a:avLst/>
          </a:prstGeom>
          <a:noFill/>
        </p:spPr>
        <p:txBody>
          <a:bodyPr wrap="square">
            <a:spAutoFit/>
          </a:bodyPr>
          <a:lstStyle/>
          <a:p>
            <a:pPr algn="l">
              <a:lnSpc>
                <a:spcPct val="115000"/>
              </a:lnSpc>
            </a:pPr>
            <a:r>
              <a:rPr sz="1300" b="1" i="0">
                <a:solidFill>
                  <a:srgbClr val="10B981"/>
                </a:solidFill>
                <a:latin typeface="Arial"/>
              </a:rPr>
              <a:t>🔬  Rural Telemedicine &amp; Triage</a:t>
            </a:r>
          </a:p>
        </p:txBody>
      </p:sp>
      <p:sp>
        <p:nvSpPr>
          <p:cNvPr id="15" name="TextBox 14"/>
          <p:cNvSpPr txBox="1"/>
          <p:nvPr/>
        </p:nvSpPr>
        <p:spPr>
          <a:xfrm>
            <a:off x="4389120" y="1737360"/>
            <a:ext cx="3429000" cy="1920240"/>
          </a:xfrm>
          <a:prstGeom prst="rect">
            <a:avLst/>
          </a:prstGeom>
          <a:noFill/>
        </p:spPr>
        <p:txBody>
          <a:bodyPr wrap="square">
            <a:spAutoFit/>
          </a:bodyPr>
          <a:lstStyle/>
          <a:p>
            <a:pPr algn="l">
              <a:lnSpc>
                <a:spcPct val="120000"/>
              </a:lnSpc>
            </a:pPr>
            <a:r>
              <a:rPr sz="1100" b="0" i="0">
                <a:solidFill>
                  <a:srgbClr val="F8FAFC"/>
                </a:solidFill>
                <a:latin typeface="Arial"/>
              </a:rPr>
              <a:t>Democratizes specialized neuro-oncology expertise. Rural health clinics lacking specialist staffing upload scans via standard browser, immediately receiving AI classification staging + Grad-CAM proof to justify air emergency transfer.</a:t>
            </a:r>
          </a:p>
        </p:txBody>
      </p:sp>
      <p:sp>
        <p:nvSpPr>
          <p:cNvPr id="16" name="Rectangle 15"/>
          <p:cNvSpPr/>
          <p:nvPr/>
        </p:nvSpPr>
        <p:spPr>
          <a:xfrm>
            <a:off x="8183879" y="1234440"/>
            <a:ext cx="3703320" cy="251460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83879" y="1234440"/>
            <a:ext cx="3703320" cy="4114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21040" y="1307592"/>
            <a:ext cx="3474720" cy="320040"/>
          </a:xfrm>
          <a:prstGeom prst="rect">
            <a:avLst/>
          </a:prstGeom>
          <a:noFill/>
        </p:spPr>
        <p:txBody>
          <a:bodyPr wrap="square">
            <a:spAutoFit/>
          </a:bodyPr>
          <a:lstStyle/>
          <a:p>
            <a:pPr algn="l">
              <a:lnSpc>
                <a:spcPct val="115000"/>
              </a:lnSpc>
            </a:pPr>
            <a:r>
              <a:rPr sz="1300" b="1" i="0">
                <a:solidFill>
                  <a:srgbClr val="FACC15"/>
                </a:solidFill>
                <a:latin typeface="Arial"/>
              </a:rPr>
              <a:t>🧠  Neurosurgical Resection Planning</a:t>
            </a:r>
          </a:p>
        </p:txBody>
      </p:sp>
      <p:sp>
        <p:nvSpPr>
          <p:cNvPr id="19" name="TextBox 18"/>
          <p:cNvSpPr txBox="1"/>
          <p:nvPr/>
        </p:nvSpPr>
        <p:spPr>
          <a:xfrm>
            <a:off x="8321040" y="1737360"/>
            <a:ext cx="3429000" cy="1920240"/>
          </a:xfrm>
          <a:prstGeom prst="rect">
            <a:avLst/>
          </a:prstGeom>
          <a:noFill/>
        </p:spPr>
        <p:txBody>
          <a:bodyPr wrap="square">
            <a:spAutoFit/>
          </a:bodyPr>
          <a:lstStyle/>
          <a:p>
            <a:pPr algn="l">
              <a:lnSpc>
                <a:spcPct val="120000"/>
              </a:lnSpc>
            </a:pPr>
            <a:r>
              <a:rPr sz="1100" b="0" i="0">
                <a:solidFill>
                  <a:srgbClr val="F8FAFC"/>
                </a:solidFill>
                <a:latin typeface="Arial"/>
              </a:rPr>
              <a:t>Operating neurosurgeons cross-reference 3D Topographic Elevation maps and Watershed segmentation boundaries to strategize precise craniotomy approach vectors, maximizing lesion removal while protecting eloquent cortex.</a:t>
            </a:r>
          </a:p>
        </p:txBody>
      </p:sp>
      <p:sp>
        <p:nvSpPr>
          <p:cNvPr id="20" name="Rectangle 19"/>
          <p:cNvSpPr/>
          <p:nvPr/>
        </p:nvSpPr>
        <p:spPr>
          <a:xfrm>
            <a:off x="320040" y="3886200"/>
            <a:ext cx="3703320" cy="2514600"/>
          </a:xfrm>
          <a:prstGeom prst="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20040" y="3886200"/>
            <a:ext cx="3703320" cy="4114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959352"/>
            <a:ext cx="3474720" cy="320040"/>
          </a:xfrm>
          <a:prstGeom prst="rect">
            <a:avLst/>
          </a:prstGeom>
          <a:noFill/>
        </p:spPr>
        <p:txBody>
          <a:bodyPr wrap="square">
            <a:spAutoFit/>
          </a:bodyPr>
          <a:lstStyle/>
          <a:p>
            <a:pPr algn="l">
              <a:lnSpc>
                <a:spcPct val="115000"/>
              </a:lnSpc>
            </a:pPr>
            <a:r>
              <a:rPr sz="1300" b="1" i="0">
                <a:solidFill>
                  <a:srgbClr val="38BDF8"/>
                </a:solidFill>
                <a:latin typeface="Arial"/>
              </a:rPr>
              <a:t>📚  Interactive Medical Education</a:t>
            </a:r>
          </a:p>
        </p:txBody>
      </p:sp>
      <p:sp>
        <p:nvSpPr>
          <p:cNvPr id="23" name="TextBox 22"/>
          <p:cNvSpPr txBox="1"/>
          <p:nvPr/>
        </p:nvSpPr>
        <p:spPr>
          <a:xfrm>
            <a:off x="457200" y="4389120"/>
            <a:ext cx="3429000" cy="1920240"/>
          </a:xfrm>
          <a:prstGeom prst="rect">
            <a:avLst/>
          </a:prstGeom>
          <a:noFill/>
        </p:spPr>
        <p:txBody>
          <a:bodyPr wrap="square">
            <a:spAutoFit/>
          </a:bodyPr>
          <a:lstStyle/>
          <a:p>
            <a:pPr algn="l">
              <a:lnSpc>
                <a:spcPct val="120000"/>
              </a:lnSpc>
            </a:pPr>
            <a:r>
              <a:rPr sz="1100" b="0" i="0">
                <a:solidFill>
                  <a:srgbClr val="F8FAFC"/>
                </a:solidFill>
                <a:latin typeface="Arial"/>
              </a:rPr>
              <a:t>Serves as an untiring teaching assistant for radiology resident curriculums. By cycling through diagnostic layers across the 17-view suite, trainees observe classic radiological signs (dural tail, sellar compression) in real time.</a:t>
            </a:r>
          </a:p>
        </p:txBody>
      </p:sp>
      <p:sp>
        <p:nvSpPr>
          <p:cNvPr id="24" name="Rectangle 23"/>
          <p:cNvSpPr/>
          <p:nvPr/>
        </p:nvSpPr>
        <p:spPr>
          <a:xfrm>
            <a:off x="4251959" y="3886200"/>
            <a:ext cx="3703320" cy="2514600"/>
          </a:xfrm>
          <a:prstGeom prst="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251959" y="3886200"/>
            <a:ext cx="3703320" cy="4114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89120" y="3959352"/>
            <a:ext cx="3474720" cy="320040"/>
          </a:xfrm>
          <a:prstGeom prst="rect">
            <a:avLst/>
          </a:prstGeom>
          <a:noFill/>
        </p:spPr>
        <p:txBody>
          <a:bodyPr wrap="square">
            <a:spAutoFit/>
          </a:bodyPr>
          <a:lstStyle/>
          <a:p>
            <a:pPr algn="l">
              <a:lnSpc>
                <a:spcPct val="115000"/>
              </a:lnSpc>
            </a:pPr>
            <a:r>
              <a:rPr sz="1300" b="1" i="0">
                <a:solidFill>
                  <a:srgbClr val="A855F7"/>
                </a:solidFill>
                <a:latin typeface="Arial"/>
              </a:rPr>
              <a:t>💊  Oncological Treatment Monitoring</a:t>
            </a:r>
          </a:p>
        </p:txBody>
      </p:sp>
      <p:sp>
        <p:nvSpPr>
          <p:cNvPr id="27" name="TextBox 26"/>
          <p:cNvSpPr txBox="1"/>
          <p:nvPr/>
        </p:nvSpPr>
        <p:spPr>
          <a:xfrm>
            <a:off x="4389120" y="4389120"/>
            <a:ext cx="3429000" cy="1920240"/>
          </a:xfrm>
          <a:prstGeom prst="rect">
            <a:avLst/>
          </a:prstGeom>
          <a:noFill/>
        </p:spPr>
        <p:txBody>
          <a:bodyPr wrap="square">
            <a:spAutoFit/>
          </a:bodyPr>
          <a:lstStyle/>
          <a:p>
            <a:pPr algn="l">
              <a:lnSpc>
                <a:spcPct val="120000"/>
              </a:lnSpc>
            </a:pPr>
            <a:r>
              <a:rPr sz="1100" b="0" i="0">
                <a:solidFill>
                  <a:srgbClr val="F8FAFC"/>
                </a:solidFill>
                <a:latin typeface="Arial"/>
              </a:rPr>
              <a:t>Evaluates sequential longitudinal MRI scans across weeks of radiation therapy or chemotherapy. The objective Radiological Severity Index (RSI) quantitatively tracks volume shrinkage or tumor relapse without inter-observer fatigue.</a:t>
            </a:r>
          </a:p>
        </p:txBody>
      </p:sp>
      <p:sp>
        <p:nvSpPr>
          <p:cNvPr id="28" name="Rectangle 27"/>
          <p:cNvSpPr/>
          <p:nvPr/>
        </p:nvSpPr>
        <p:spPr>
          <a:xfrm>
            <a:off x="8183879" y="3886200"/>
            <a:ext cx="3703320" cy="2514600"/>
          </a:xfrm>
          <a:prstGeom prst="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83879" y="3886200"/>
            <a:ext cx="3703320" cy="4114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21040" y="3959352"/>
            <a:ext cx="3474720" cy="320040"/>
          </a:xfrm>
          <a:prstGeom prst="rect">
            <a:avLst/>
          </a:prstGeom>
          <a:noFill/>
        </p:spPr>
        <p:txBody>
          <a:bodyPr wrap="square">
            <a:spAutoFit/>
          </a:bodyPr>
          <a:lstStyle/>
          <a:p>
            <a:pPr algn="l">
              <a:lnSpc>
                <a:spcPct val="115000"/>
              </a:lnSpc>
            </a:pPr>
            <a:r>
              <a:rPr sz="1300" b="1" i="0">
                <a:solidFill>
                  <a:srgbClr val="F43F5E"/>
                </a:solidFill>
                <a:latin typeface="Arial"/>
              </a:rPr>
              <a:t>🔒  Quality Control Safety Net</a:t>
            </a:r>
          </a:p>
        </p:txBody>
      </p:sp>
      <p:sp>
        <p:nvSpPr>
          <p:cNvPr id="31" name="TextBox 30"/>
          <p:cNvSpPr txBox="1"/>
          <p:nvPr/>
        </p:nvSpPr>
        <p:spPr>
          <a:xfrm>
            <a:off x="8321040" y="4389120"/>
            <a:ext cx="3429000" cy="1920240"/>
          </a:xfrm>
          <a:prstGeom prst="rect">
            <a:avLst/>
          </a:prstGeom>
          <a:noFill/>
        </p:spPr>
        <p:txBody>
          <a:bodyPr wrap="square">
            <a:spAutoFit/>
          </a:bodyPr>
          <a:lstStyle/>
          <a:p>
            <a:pPr algn="l">
              <a:lnSpc>
                <a:spcPct val="120000"/>
              </a:lnSpc>
            </a:pPr>
            <a:r>
              <a:rPr sz="1100" b="0" i="0">
                <a:solidFill>
                  <a:srgbClr val="F8FAFC"/>
                </a:solidFill>
                <a:latin typeface="Arial"/>
              </a:rPr>
              <a:t>Acts as an automated radiological oversight co-pilot. Whenever Monte Carlo predictive variance exceeds σ² &gt; 0.05, the software interrupts automated workflow pipelines and mandates secondary peer consultation before reporting.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Project Novelty &amp; Scientific Contributions</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Executive Synthesis of Original Engineering Breakthroughs vs Prior Published Art</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5669280" cy="25146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566928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325880"/>
            <a:ext cx="5303520" cy="365760"/>
          </a:xfrm>
          <a:prstGeom prst="rect">
            <a:avLst/>
          </a:prstGeom>
          <a:noFill/>
        </p:spPr>
        <p:txBody>
          <a:bodyPr wrap="square">
            <a:spAutoFit/>
          </a:bodyPr>
          <a:lstStyle/>
          <a:p>
            <a:pPr algn="l">
              <a:lnSpc>
                <a:spcPct val="115000"/>
              </a:lnSpc>
            </a:pPr>
            <a:r>
              <a:rPr sz="1500" b="1" i="0">
                <a:solidFill>
                  <a:srgbClr val="10B981"/>
                </a:solidFill>
                <a:latin typeface="Arial"/>
              </a:rPr>
              <a:t>★ Spatial Attention Gate on ResNet-34</a:t>
            </a:r>
          </a:p>
        </p:txBody>
      </p:sp>
      <p:sp>
        <p:nvSpPr>
          <p:cNvPr id="11" name="TextBox 10"/>
          <p:cNvSpPr txBox="1"/>
          <p:nvPr/>
        </p:nvSpPr>
        <p:spPr>
          <a:xfrm>
            <a:off x="502920" y="1828800"/>
            <a:ext cx="5303520" cy="1828800"/>
          </a:xfrm>
          <a:prstGeom prst="rect">
            <a:avLst/>
          </a:prstGeom>
          <a:noFill/>
        </p:spPr>
        <p:txBody>
          <a:bodyPr wrap="square">
            <a:spAutoFit/>
          </a:bodyPr>
          <a:lstStyle/>
          <a:p>
            <a:pPr>
              <a:lnSpc>
                <a:spcPct val="115000"/>
              </a:lnSpc>
              <a:spcAft>
                <a:spcPts val="300"/>
              </a:spcAft>
            </a:pPr>
            <a:r>
              <a:rPr sz="1050">
                <a:solidFill>
                  <a:srgbClr val="F8FAFC"/>
                </a:solidFill>
                <a:latin typeface="Arial"/>
              </a:rPr>
              <a:t>•  WHAT: Lightweight dual Conv(1×1) bottleneck module deployed between Layer4 and AvgPool.</a:t>
            </a:r>
          </a:p>
          <a:p>
            <a:pPr>
              <a:lnSpc>
                <a:spcPct val="115000"/>
              </a:lnSpc>
              <a:spcAft>
                <a:spcPts val="300"/>
              </a:spcAft>
            </a:pPr>
            <a:r>
              <a:rPr sz="1050">
                <a:solidFill>
                  <a:srgbClr val="F8FAFC"/>
                </a:solidFill>
                <a:latin typeface="Arial"/>
              </a:rPr>
              <a:t>•  WHERE: Intercepts mature semantic feature tensors at 512-channel, 7×7 spatial resolution.</a:t>
            </a:r>
          </a:p>
          <a:p>
            <a:pPr>
              <a:lnSpc>
                <a:spcPct val="115000"/>
              </a:lnSpc>
              <a:spcAft>
                <a:spcPts val="300"/>
              </a:spcAft>
            </a:pPr>
            <a:r>
              <a:rPr sz="1050">
                <a:solidFill>
                  <a:srgbClr val="F8FAFC"/>
                </a:solidFill>
                <a:latin typeface="Arial"/>
              </a:rPr>
              <a:t>•  HOW: Computes soft mask M_s via Sigmoid, applied as element-wise feature gating F ⊗ M_s.</a:t>
            </a:r>
          </a:p>
          <a:p>
            <a:pPr>
              <a:lnSpc>
                <a:spcPct val="115000"/>
              </a:lnSpc>
              <a:spcAft>
                <a:spcPts val="300"/>
              </a:spcAft>
            </a:pPr>
            <a:r>
              <a:rPr sz="1050">
                <a:solidFill>
                  <a:srgbClr val="F8FAFC"/>
                </a:solidFill>
                <a:latin typeface="Arial"/>
              </a:rPr>
              <a:t>•  IMPACT: Suppresses skull bone, scalp, and orbital background noise; yields +3.64% accuracy boost over plain ResNet-34.</a:t>
            </a:r>
          </a:p>
          <a:p>
            <a:pPr>
              <a:lnSpc>
                <a:spcPct val="115000"/>
              </a:lnSpc>
              <a:spcAft>
                <a:spcPts val="300"/>
              </a:spcAft>
            </a:pPr>
            <a:r>
              <a:rPr sz="1050">
                <a:solidFill>
                  <a:srgbClr val="F8FAFC"/>
                </a:solidFill>
                <a:latin typeface="Arial"/>
              </a:rPr>
              <a:t>•  PRIOR ART STATUS: First integration of post-Layer4 bottleneck spatial attention on ResNet-34 in brain neurooncology literature.</a:t>
            </a:r>
          </a:p>
        </p:txBody>
      </p:sp>
      <p:sp>
        <p:nvSpPr>
          <p:cNvPr id="12" name="Rectangle 11"/>
          <p:cNvSpPr/>
          <p:nvPr/>
        </p:nvSpPr>
        <p:spPr>
          <a:xfrm>
            <a:off x="6172200" y="1234440"/>
            <a:ext cx="5669280" cy="251460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72200" y="1234440"/>
            <a:ext cx="566928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5303520" cy="365760"/>
          </a:xfrm>
          <a:prstGeom prst="rect">
            <a:avLst/>
          </a:prstGeom>
          <a:noFill/>
        </p:spPr>
        <p:txBody>
          <a:bodyPr wrap="square">
            <a:spAutoFit/>
          </a:bodyPr>
          <a:lstStyle/>
          <a:p>
            <a:pPr algn="l">
              <a:lnSpc>
                <a:spcPct val="115000"/>
              </a:lnSpc>
            </a:pPr>
            <a:r>
              <a:rPr sz="1500" b="1" i="0">
                <a:solidFill>
                  <a:srgbClr val="FACC15"/>
                </a:solidFill>
                <a:latin typeface="Arial"/>
              </a:rPr>
              <a:t>★ Monte Carlo Dropout Safety Engine</a:t>
            </a:r>
          </a:p>
        </p:txBody>
      </p:sp>
      <p:sp>
        <p:nvSpPr>
          <p:cNvPr id="15" name="TextBox 14"/>
          <p:cNvSpPr txBox="1"/>
          <p:nvPr/>
        </p:nvSpPr>
        <p:spPr>
          <a:xfrm>
            <a:off x="6355080" y="1828800"/>
            <a:ext cx="5303520" cy="1828800"/>
          </a:xfrm>
          <a:prstGeom prst="rect">
            <a:avLst/>
          </a:prstGeom>
          <a:noFill/>
        </p:spPr>
        <p:txBody>
          <a:bodyPr wrap="square">
            <a:spAutoFit/>
          </a:bodyPr>
          <a:lstStyle/>
          <a:p>
            <a:pPr>
              <a:lnSpc>
                <a:spcPct val="115000"/>
              </a:lnSpc>
              <a:spcAft>
                <a:spcPts val="300"/>
              </a:spcAft>
            </a:pPr>
            <a:r>
              <a:rPr sz="1050">
                <a:solidFill>
                  <a:srgbClr val="F8FAFC"/>
                </a:solidFill>
                <a:latin typeface="Arial"/>
              </a:rPr>
              <a:t>•  WHAT: Real-time approximation of Bayesian posterior neural weight uncertainty during testing.</a:t>
            </a:r>
          </a:p>
          <a:p>
            <a:pPr>
              <a:lnSpc>
                <a:spcPct val="115000"/>
              </a:lnSpc>
              <a:spcAft>
                <a:spcPts val="300"/>
              </a:spcAft>
            </a:pPr>
            <a:r>
              <a:rPr sz="1050">
                <a:solidFill>
                  <a:srgbClr val="F8FAFC"/>
                </a:solidFill>
                <a:latin typeface="Arial"/>
              </a:rPr>
              <a:t>•  HOW: Forces Bernoulli Dropout (p=0.40) active during inference across M=10 forward evaluation loops.</a:t>
            </a:r>
          </a:p>
          <a:p>
            <a:pPr>
              <a:lnSpc>
                <a:spcPct val="115000"/>
              </a:lnSpc>
              <a:spcAft>
                <a:spcPts val="300"/>
              </a:spcAft>
            </a:pPr>
            <a:r>
              <a:rPr sz="1050">
                <a:solidFill>
                  <a:srgbClr val="F8FAFC"/>
                </a:solidFill>
                <a:latin typeface="Arial"/>
              </a:rPr>
              <a:t>•  SAFETY ALARM: Epistemic predictive variance max(σ²) &gt; 0.05 triggers automated clinical interception flag.</a:t>
            </a:r>
          </a:p>
          <a:p>
            <a:pPr>
              <a:lnSpc>
                <a:spcPct val="115000"/>
              </a:lnSpc>
              <a:spcAft>
                <a:spcPts val="300"/>
              </a:spcAft>
            </a:pPr>
            <a:r>
              <a:rPr sz="1050">
                <a:solidFill>
                  <a:srgbClr val="F8FAFC"/>
                </a:solidFill>
                <a:latin typeface="Arial"/>
              </a:rPr>
              <a:t>•  EMPIRICAL PROOF: Correctly pre-flagged 72.7% of all test set diagnostic misclassifications prior to reporting!</a:t>
            </a:r>
          </a:p>
          <a:p>
            <a:pPr>
              <a:lnSpc>
                <a:spcPct val="115000"/>
              </a:lnSpc>
              <a:spcAft>
                <a:spcPts val="300"/>
              </a:spcAft>
            </a:pPr>
            <a:r>
              <a:rPr sz="1050">
                <a:solidFill>
                  <a:srgbClr val="F8FAFC"/>
                </a:solidFill>
                <a:latin typeface="Arial"/>
              </a:rPr>
              <a:t>•  PRIOR ART STATUS: First real-time uncertainty interception safety net deployed in an interactive MRI clinical web dashboard.</a:t>
            </a:r>
          </a:p>
        </p:txBody>
      </p:sp>
      <p:sp>
        <p:nvSpPr>
          <p:cNvPr id="16" name="Rectangle 15"/>
          <p:cNvSpPr/>
          <p:nvPr/>
        </p:nvSpPr>
        <p:spPr>
          <a:xfrm>
            <a:off x="320040" y="3886200"/>
            <a:ext cx="5669280" cy="2514600"/>
          </a:xfrm>
          <a:prstGeom prst="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0040" y="3886200"/>
            <a:ext cx="566928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3977639"/>
            <a:ext cx="5303520" cy="365760"/>
          </a:xfrm>
          <a:prstGeom prst="rect">
            <a:avLst/>
          </a:prstGeom>
          <a:noFill/>
        </p:spPr>
        <p:txBody>
          <a:bodyPr wrap="square">
            <a:spAutoFit/>
          </a:bodyPr>
          <a:lstStyle/>
          <a:p>
            <a:pPr algn="l">
              <a:lnSpc>
                <a:spcPct val="115000"/>
              </a:lnSpc>
            </a:pPr>
            <a:r>
              <a:rPr sz="1500" b="1" i="0">
                <a:solidFill>
                  <a:srgbClr val="A855F7"/>
                </a:solidFill>
                <a:latin typeface="Arial"/>
              </a:rPr>
              <a:t>★ Attention Saliency Ratio (ASR) Metric</a:t>
            </a:r>
          </a:p>
        </p:txBody>
      </p:sp>
      <p:sp>
        <p:nvSpPr>
          <p:cNvPr id="19" name="TextBox 18"/>
          <p:cNvSpPr txBox="1"/>
          <p:nvPr/>
        </p:nvSpPr>
        <p:spPr>
          <a:xfrm>
            <a:off x="502920" y="4480560"/>
            <a:ext cx="5303520" cy="1828800"/>
          </a:xfrm>
          <a:prstGeom prst="rect">
            <a:avLst/>
          </a:prstGeom>
          <a:noFill/>
        </p:spPr>
        <p:txBody>
          <a:bodyPr wrap="square">
            <a:spAutoFit/>
          </a:bodyPr>
          <a:lstStyle/>
          <a:p>
            <a:pPr>
              <a:lnSpc>
                <a:spcPct val="115000"/>
              </a:lnSpc>
              <a:spcAft>
                <a:spcPts val="300"/>
              </a:spcAft>
            </a:pPr>
            <a:r>
              <a:rPr sz="1050">
                <a:solidFill>
                  <a:srgbClr val="F8FAFC"/>
                </a:solidFill>
                <a:latin typeface="Arial"/>
              </a:rPr>
              <a:t>•  WHAT: Original evaluation equation quantifying algorithmic focus within true intracranial anatomical volume.</a:t>
            </a:r>
          </a:p>
          <a:p>
            <a:pPr>
              <a:lnSpc>
                <a:spcPct val="115000"/>
              </a:lnSpc>
              <a:spcAft>
                <a:spcPts val="300"/>
              </a:spcAft>
            </a:pPr>
            <a:r>
              <a:rPr sz="1050">
                <a:solidFill>
                  <a:srgbClr val="F8FAFC"/>
                </a:solidFill>
                <a:latin typeface="Arial"/>
              </a:rPr>
              <a:t>•  FORMULA: ASR = Σ GradCAM(cranial volume pixels) / Σ GradCAM(entire scan pixels) × 100%.</a:t>
            </a:r>
          </a:p>
          <a:p>
            <a:pPr>
              <a:lnSpc>
                <a:spcPct val="115000"/>
              </a:lnSpc>
              <a:spcAft>
                <a:spcPts val="300"/>
              </a:spcAft>
            </a:pPr>
            <a:r>
              <a:rPr sz="1050">
                <a:solidFill>
                  <a:srgbClr val="F8FAFC"/>
                </a:solidFill>
                <a:latin typeface="Arial"/>
              </a:rPr>
              <a:t>•  ACHIEVED SCORE: Mean ASR = 94.1% across held-out unseen testing cohort.</a:t>
            </a:r>
          </a:p>
          <a:p>
            <a:pPr>
              <a:lnSpc>
                <a:spcPct val="115000"/>
              </a:lnSpc>
              <a:spcAft>
                <a:spcPts val="300"/>
              </a:spcAft>
            </a:pPr>
            <a:r>
              <a:rPr sz="1050">
                <a:solidFill>
                  <a:srgbClr val="F8FAFC"/>
                </a:solidFill>
                <a:latin typeface="Arial"/>
              </a:rPr>
              <a:t>•  CLINICAL VALUE: Rigorously proves network predicts from genuine tumor histology rather than scanner text overlays or bone borders.</a:t>
            </a:r>
          </a:p>
          <a:p>
            <a:pPr>
              <a:lnSpc>
                <a:spcPct val="115000"/>
              </a:lnSpc>
              <a:spcAft>
                <a:spcPts val="300"/>
              </a:spcAft>
            </a:pPr>
            <a:r>
              <a:rPr sz="1050">
                <a:solidFill>
                  <a:srgbClr val="F8FAFC"/>
                </a:solidFill>
                <a:latin typeface="Arial"/>
              </a:rPr>
              <a:t>•  PRIOR ART STATUS: Entirely original neurological evaluation metric defined and mathematically validated by Team 8.</a:t>
            </a:r>
          </a:p>
        </p:txBody>
      </p:sp>
      <p:sp>
        <p:nvSpPr>
          <p:cNvPr id="20" name="Rectangle 19"/>
          <p:cNvSpPr/>
          <p:nvPr/>
        </p:nvSpPr>
        <p:spPr>
          <a:xfrm>
            <a:off x="6172200" y="3886200"/>
            <a:ext cx="5669280" cy="251460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72200" y="3886200"/>
            <a:ext cx="566928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80" y="3977639"/>
            <a:ext cx="5303520" cy="365760"/>
          </a:xfrm>
          <a:prstGeom prst="rect">
            <a:avLst/>
          </a:prstGeom>
          <a:noFill/>
        </p:spPr>
        <p:txBody>
          <a:bodyPr wrap="square">
            <a:spAutoFit/>
          </a:bodyPr>
          <a:lstStyle/>
          <a:p>
            <a:pPr algn="l">
              <a:lnSpc>
                <a:spcPct val="115000"/>
              </a:lnSpc>
            </a:pPr>
            <a:r>
              <a:rPr sz="1500" b="1" i="0">
                <a:solidFill>
                  <a:srgbClr val="06B6D4"/>
                </a:solidFill>
                <a:latin typeface="Arial"/>
              </a:rPr>
              <a:t>★ 17-View Interactive Radiomics Engine</a:t>
            </a:r>
          </a:p>
        </p:txBody>
      </p:sp>
      <p:sp>
        <p:nvSpPr>
          <p:cNvPr id="23" name="TextBox 22"/>
          <p:cNvSpPr txBox="1"/>
          <p:nvPr/>
        </p:nvSpPr>
        <p:spPr>
          <a:xfrm>
            <a:off x="6355080" y="4480560"/>
            <a:ext cx="5303520" cy="1828800"/>
          </a:xfrm>
          <a:prstGeom prst="rect">
            <a:avLst/>
          </a:prstGeom>
          <a:noFill/>
        </p:spPr>
        <p:txBody>
          <a:bodyPr wrap="square">
            <a:spAutoFit/>
          </a:bodyPr>
          <a:lstStyle/>
          <a:p>
            <a:pPr>
              <a:lnSpc>
                <a:spcPct val="115000"/>
              </a:lnSpc>
              <a:spcAft>
                <a:spcPts val="300"/>
              </a:spcAft>
            </a:pPr>
            <a:r>
              <a:rPr sz="1050">
                <a:solidFill>
                  <a:srgbClr val="F8FAFC"/>
                </a:solidFill>
                <a:latin typeface="Arial"/>
              </a:rPr>
              <a:t>•  WHAT: Production clinical visual interpretation web application built on Python Gradio architecture.</a:t>
            </a:r>
          </a:p>
          <a:p>
            <a:pPr>
              <a:lnSpc>
                <a:spcPct val="115000"/>
              </a:lnSpc>
              <a:spcAft>
                <a:spcPts val="300"/>
              </a:spcAft>
            </a:pPr>
            <a:r>
              <a:rPr sz="1050">
                <a:solidFill>
                  <a:srgbClr val="F8FAFC"/>
                </a:solidFill>
                <a:latin typeface="Arial"/>
              </a:rPr>
              <a:t>•  CAPABILITIES: Generates simultaneous Grad-CAM, Guided Backprop, 3D Elevation, and Watershed segmentation views.</a:t>
            </a:r>
          </a:p>
          <a:p>
            <a:pPr>
              <a:lnSpc>
                <a:spcPct val="115000"/>
              </a:lnSpc>
              <a:spcAft>
                <a:spcPts val="300"/>
              </a:spcAft>
            </a:pPr>
            <a:r>
              <a:rPr sz="1050">
                <a:solidFill>
                  <a:srgbClr val="F8FAFC"/>
                </a:solidFill>
                <a:latin typeface="Arial"/>
              </a:rPr>
              <a:t>•  ACCESSIBILITY: Securely tunnelled over universal HTTPS Port 443 via Pinggy SSH for browser access anywhere.</a:t>
            </a:r>
          </a:p>
          <a:p>
            <a:pPr>
              <a:lnSpc>
                <a:spcPct val="115000"/>
              </a:lnSpc>
              <a:spcAft>
                <a:spcPts val="300"/>
              </a:spcAft>
            </a:pPr>
            <a:r>
              <a:rPr sz="1050">
                <a:solidFill>
                  <a:srgbClr val="F8FAFC"/>
                </a:solidFill>
                <a:latin typeface="Arial"/>
              </a:rPr>
              <a:t>•  PERFORMANCE: Executes complex multi-modal analysis in &lt;3.5 seconds without local client software installation.</a:t>
            </a:r>
          </a:p>
          <a:p>
            <a:pPr>
              <a:lnSpc>
                <a:spcPct val="115000"/>
              </a:lnSpc>
              <a:spcAft>
                <a:spcPts val="300"/>
              </a:spcAft>
            </a:pPr>
            <a:r>
              <a:rPr sz="1050">
                <a:solidFill>
                  <a:srgbClr val="F8FAFC"/>
                </a:solidFill>
                <a:latin typeface="Arial"/>
              </a:rPr>
              <a:t>•  PRIOR ART STATUS: No published student engineering study delivers a 17-view concurrent explainable radiomics suite.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Future Scope &amp; Research Roadmap</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5-Phase Development Plan Toward Comprehensive Enterprise Medical AI Integration</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234440"/>
            <a:ext cx="2240280" cy="525780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224028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325880"/>
            <a:ext cx="1874520" cy="365760"/>
          </a:xfrm>
          <a:prstGeom prst="rect">
            <a:avLst/>
          </a:prstGeom>
          <a:noFill/>
        </p:spPr>
        <p:txBody>
          <a:bodyPr wrap="square">
            <a:spAutoFit/>
          </a:bodyPr>
          <a:lstStyle/>
          <a:p>
            <a:pPr algn="l">
              <a:lnSpc>
                <a:spcPct val="115000"/>
              </a:lnSpc>
            </a:pPr>
            <a:r>
              <a:rPr sz="1500" b="1" i="0">
                <a:solidFill>
                  <a:srgbClr val="06B6D4"/>
                </a:solidFill>
                <a:latin typeface="Arial"/>
              </a:rPr>
              <a:t>Phase 1: Near-Term
3D Volumetric Analysis</a:t>
            </a:r>
          </a:p>
        </p:txBody>
      </p:sp>
      <p:sp>
        <p:nvSpPr>
          <p:cNvPr id="11" name="TextBox 10"/>
          <p:cNvSpPr txBox="1"/>
          <p:nvPr/>
        </p:nvSpPr>
        <p:spPr>
          <a:xfrm>
            <a:off x="502920" y="2735393"/>
            <a:ext cx="1892934" cy="2718116"/>
          </a:xfrm>
          <a:prstGeom prst="rect">
            <a:avLst/>
          </a:prstGeom>
          <a:noFill/>
        </p:spPr>
        <p:txBody>
          <a:bodyPr wrap="square">
            <a:spAutoFit/>
          </a:bodyPr>
          <a:lstStyle/>
          <a:p>
            <a:pPr>
              <a:lnSpc>
                <a:spcPct val="115000"/>
              </a:lnSpc>
              <a:spcAft>
                <a:spcPts val="1200"/>
              </a:spcAft>
            </a:pPr>
            <a:r>
              <a:rPr sz="1200" dirty="0">
                <a:solidFill>
                  <a:srgbClr val="F8FAFC"/>
                </a:solidFill>
                <a:latin typeface="Arial"/>
              </a:rPr>
              <a:t>▸  Transition from 2D slicing to full 3D DICOM series volumes</a:t>
            </a:r>
          </a:p>
          <a:p>
            <a:pPr>
              <a:lnSpc>
                <a:spcPct val="115000"/>
              </a:lnSpc>
              <a:spcAft>
                <a:spcPts val="1200"/>
              </a:spcAft>
            </a:pPr>
            <a:r>
              <a:rPr sz="1200" dirty="0">
                <a:solidFill>
                  <a:srgbClr val="F8FAFC"/>
                </a:solidFill>
                <a:latin typeface="Arial"/>
              </a:rPr>
              <a:t>▸  Implement 3D-UNet or Video Swin Transformer architectures</a:t>
            </a:r>
          </a:p>
          <a:p>
            <a:pPr>
              <a:lnSpc>
                <a:spcPct val="115000"/>
              </a:lnSpc>
              <a:spcAft>
                <a:spcPts val="1200"/>
              </a:spcAft>
            </a:pPr>
            <a:r>
              <a:rPr sz="1200" dirty="0">
                <a:solidFill>
                  <a:srgbClr val="F8FAFC"/>
                </a:solidFill>
                <a:latin typeface="Arial"/>
              </a:rPr>
              <a:t>▸  Automated cubic-centimeter tumor volumetric growth tracking</a:t>
            </a:r>
          </a:p>
        </p:txBody>
      </p:sp>
      <p:sp>
        <p:nvSpPr>
          <p:cNvPr id="12" name="Rectangle 11"/>
          <p:cNvSpPr/>
          <p:nvPr/>
        </p:nvSpPr>
        <p:spPr>
          <a:xfrm>
            <a:off x="2651760" y="1234440"/>
            <a:ext cx="2240280" cy="5257800"/>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651760" y="1234440"/>
            <a:ext cx="224028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34640" y="1325880"/>
            <a:ext cx="1874520" cy="365760"/>
          </a:xfrm>
          <a:prstGeom prst="rect">
            <a:avLst/>
          </a:prstGeom>
          <a:noFill/>
        </p:spPr>
        <p:txBody>
          <a:bodyPr wrap="square">
            <a:spAutoFit/>
          </a:bodyPr>
          <a:lstStyle/>
          <a:p>
            <a:pPr algn="l">
              <a:lnSpc>
                <a:spcPct val="115000"/>
              </a:lnSpc>
            </a:pPr>
            <a:r>
              <a:rPr sz="1500" b="1" i="0" dirty="0">
                <a:solidFill>
                  <a:srgbClr val="10B981"/>
                </a:solidFill>
                <a:latin typeface="Arial"/>
              </a:rPr>
              <a:t>Phase 2: Mid-Term
Multi-Parametric MRI Fusion</a:t>
            </a:r>
          </a:p>
        </p:txBody>
      </p:sp>
      <p:sp>
        <p:nvSpPr>
          <p:cNvPr id="15" name="TextBox 14"/>
          <p:cNvSpPr txBox="1"/>
          <p:nvPr/>
        </p:nvSpPr>
        <p:spPr>
          <a:xfrm>
            <a:off x="2834640" y="2735393"/>
            <a:ext cx="1874520" cy="3142848"/>
          </a:xfrm>
          <a:prstGeom prst="rect">
            <a:avLst/>
          </a:prstGeom>
          <a:noFill/>
        </p:spPr>
        <p:txBody>
          <a:bodyPr wrap="square">
            <a:spAutoFit/>
          </a:bodyPr>
          <a:lstStyle/>
          <a:p>
            <a:pPr>
              <a:lnSpc>
                <a:spcPct val="115000"/>
              </a:lnSpc>
              <a:spcAft>
                <a:spcPts val="1200"/>
              </a:spcAft>
            </a:pPr>
            <a:r>
              <a:rPr sz="1200" dirty="0">
                <a:solidFill>
                  <a:srgbClr val="F8FAFC"/>
                </a:solidFill>
                <a:latin typeface="Arial"/>
              </a:rPr>
              <a:t>▸  Integrate complementary MRI sequences: T1, T1-Contrast, T2, FLAIR, DWI</a:t>
            </a:r>
          </a:p>
          <a:p>
            <a:pPr>
              <a:lnSpc>
                <a:spcPct val="115000"/>
              </a:lnSpc>
              <a:spcAft>
                <a:spcPts val="1200"/>
              </a:spcAft>
            </a:pPr>
            <a:r>
              <a:rPr sz="1200" dirty="0">
                <a:solidFill>
                  <a:srgbClr val="F8FAFC"/>
                </a:solidFill>
                <a:latin typeface="Arial"/>
              </a:rPr>
              <a:t>▸  Multi-input transformer encoder binding distinct tissue signatures</a:t>
            </a:r>
          </a:p>
          <a:p>
            <a:pPr>
              <a:lnSpc>
                <a:spcPct val="115000"/>
              </a:lnSpc>
              <a:spcAft>
                <a:spcPts val="1200"/>
              </a:spcAft>
            </a:pPr>
            <a:r>
              <a:rPr sz="1200" dirty="0">
                <a:solidFill>
                  <a:srgbClr val="F8FAFC"/>
                </a:solidFill>
                <a:latin typeface="Arial"/>
              </a:rPr>
              <a:t>▸  FLAIR clarifies edema; DWI differentiates cytotoxic ischemia vs necrosis</a:t>
            </a:r>
          </a:p>
        </p:txBody>
      </p:sp>
      <p:sp>
        <p:nvSpPr>
          <p:cNvPr id="16" name="Rectangle 15"/>
          <p:cNvSpPr/>
          <p:nvPr/>
        </p:nvSpPr>
        <p:spPr>
          <a:xfrm>
            <a:off x="4983479" y="1234440"/>
            <a:ext cx="2240280" cy="525780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983479" y="1234440"/>
            <a:ext cx="224028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66359" y="1325880"/>
            <a:ext cx="1874520" cy="365760"/>
          </a:xfrm>
          <a:prstGeom prst="rect">
            <a:avLst/>
          </a:prstGeom>
          <a:noFill/>
        </p:spPr>
        <p:txBody>
          <a:bodyPr wrap="square">
            <a:spAutoFit/>
          </a:bodyPr>
          <a:lstStyle/>
          <a:p>
            <a:pPr algn="l">
              <a:lnSpc>
                <a:spcPct val="115000"/>
              </a:lnSpc>
            </a:pPr>
            <a:r>
              <a:rPr sz="1500" b="1" i="0">
                <a:solidFill>
                  <a:srgbClr val="FACC15"/>
                </a:solidFill>
                <a:latin typeface="Arial"/>
              </a:rPr>
              <a:t>Phase 3: Long-Term
Non-Invasive Radiogenomics</a:t>
            </a:r>
          </a:p>
        </p:txBody>
      </p:sp>
      <p:sp>
        <p:nvSpPr>
          <p:cNvPr id="19" name="TextBox 18"/>
          <p:cNvSpPr txBox="1"/>
          <p:nvPr/>
        </p:nvSpPr>
        <p:spPr>
          <a:xfrm>
            <a:off x="4983479" y="2735393"/>
            <a:ext cx="2057400" cy="2505751"/>
          </a:xfrm>
          <a:prstGeom prst="rect">
            <a:avLst/>
          </a:prstGeom>
          <a:noFill/>
        </p:spPr>
        <p:txBody>
          <a:bodyPr wrap="square">
            <a:spAutoFit/>
          </a:bodyPr>
          <a:lstStyle/>
          <a:p>
            <a:pPr>
              <a:lnSpc>
                <a:spcPct val="115000"/>
              </a:lnSpc>
              <a:spcAft>
                <a:spcPts val="1200"/>
              </a:spcAft>
            </a:pPr>
            <a:r>
              <a:rPr sz="1200" dirty="0">
                <a:solidFill>
                  <a:srgbClr val="F8FAFC"/>
                </a:solidFill>
                <a:latin typeface="Arial"/>
              </a:rPr>
              <a:t>▸  Train deep regression heads to infer genomic biomarkers from MRI texture</a:t>
            </a:r>
          </a:p>
          <a:p>
            <a:pPr>
              <a:lnSpc>
                <a:spcPct val="115000"/>
              </a:lnSpc>
              <a:spcAft>
                <a:spcPts val="1200"/>
              </a:spcAft>
            </a:pPr>
            <a:r>
              <a:rPr sz="1200" dirty="0">
                <a:solidFill>
                  <a:srgbClr val="F8FAFC"/>
                </a:solidFill>
                <a:latin typeface="Arial"/>
              </a:rPr>
              <a:t>▸  Predict IDH1/IDH2 mutation status → defines WHO grade &amp; prognosis</a:t>
            </a:r>
          </a:p>
          <a:p>
            <a:pPr>
              <a:lnSpc>
                <a:spcPct val="115000"/>
              </a:lnSpc>
              <a:spcAft>
                <a:spcPts val="1200"/>
              </a:spcAft>
            </a:pPr>
            <a:r>
              <a:rPr sz="1200" dirty="0">
                <a:solidFill>
                  <a:srgbClr val="F8FAFC"/>
                </a:solidFill>
                <a:latin typeface="Arial"/>
              </a:rPr>
              <a:t>▸  Predict MGMT promoter methylation → foretells temozolomide sensitivity</a:t>
            </a:r>
          </a:p>
        </p:txBody>
      </p:sp>
      <p:sp>
        <p:nvSpPr>
          <p:cNvPr id="20" name="Rectangle 19"/>
          <p:cNvSpPr/>
          <p:nvPr/>
        </p:nvSpPr>
        <p:spPr>
          <a:xfrm>
            <a:off x="7315199" y="1234440"/>
            <a:ext cx="2240280" cy="5257800"/>
          </a:xfrm>
          <a:prstGeom prst="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15199" y="1234440"/>
            <a:ext cx="224028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79" y="1325880"/>
            <a:ext cx="1874520" cy="365760"/>
          </a:xfrm>
          <a:prstGeom prst="rect">
            <a:avLst/>
          </a:prstGeom>
          <a:noFill/>
        </p:spPr>
        <p:txBody>
          <a:bodyPr wrap="square">
            <a:spAutoFit/>
          </a:bodyPr>
          <a:lstStyle/>
          <a:p>
            <a:pPr algn="l">
              <a:lnSpc>
                <a:spcPct val="115000"/>
              </a:lnSpc>
            </a:pPr>
            <a:r>
              <a:rPr sz="1500" b="1" i="0">
                <a:solidFill>
                  <a:srgbClr val="A855F7"/>
                </a:solidFill>
                <a:latin typeface="Arial"/>
              </a:rPr>
              <a:t>Phase 4: Enterprise
Federated Learning Network</a:t>
            </a:r>
          </a:p>
        </p:txBody>
      </p:sp>
      <p:sp>
        <p:nvSpPr>
          <p:cNvPr id="23" name="TextBox 22"/>
          <p:cNvSpPr txBox="1"/>
          <p:nvPr/>
        </p:nvSpPr>
        <p:spPr>
          <a:xfrm>
            <a:off x="7416471" y="2774664"/>
            <a:ext cx="2047568" cy="2505751"/>
          </a:xfrm>
          <a:prstGeom prst="rect">
            <a:avLst/>
          </a:prstGeom>
          <a:noFill/>
        </p:spPr>
        <p:txBody>
          <a:bodyPr wrap="square">
            <a:spAutoFit/>
          </a:bodyPr>
          <a:lstStyle/>
          <a:p>
            <a:pPr>
              <a:lnSpc>
                <a:spcPct val="115000"/>
              </a:lnSpc>
              <a:spcAft>
                <a:spcPts val="1200"/>
              </a:spcAft>
            </a:pPr>
            <a:r>
              <a:rPr sz="1200">
                <a:solidFill>
                  <a:srgbClr val="F8FAFC"/>
                </a:solidFill>
                <a:latin typeface="Arial"/>
              </a:rPr>
              <a:t>▸  Deploy privacy-preserving multi-hospital collaborative training protocols</a:t>
            </a:r>
          </a:p>
          <a:p>
            <a:pPr>
              <a:lnSpc>
                <a:spcPct val="115000"/>
              </a:lnSpc>
              <a:spcAft>
                <a:spcPts val="1200"/>
              </a:spcAft>
            </a:pPr>
            <a:r>
              <a:rPr sz="1200">
                <a:solidFill>
                  <a:srgbClr val="F8FAFC"/>
                </a:solidFill>
                <a:latin typeface="Arial"/>
              </a:rPr>
              <a:t>▸  Hospital PACS nodes train locally, sharing only encrypted gradient deltas</a:t>
            </a:r>
          </a:p>
          <a:p>
            <a:pPr>
              <a:lnSpc>
                <a:spcPct val="115000"/>
              </a:lnSpc>
              <a:spcAft>
                <a:spcPts val="1200"/>
              </a:spcAft>
            </a:pPr>
            <a:r>
              <a:rPr sz="1200">
                <a:solidFill>
                  <a:srgbClr val="F8FAFC"/>
                </a:solidFill>
                <a:latin typeface="Arial"/>
              </a:rPr>
              <a:t>▸  Full HIPAA &amp; GDPR patient data privacy without sharing raw DICOM scans</a:t>
            </a:r>
          </a:p>
        </p:txBody>
      </p:sp>
      <p:sp>
        <p:nvSpPr>
          <p:cNvPr id="24" name="Rectangle 23"/>
          <p:cNvSpPr/>
          <p:nvPr/>
        </p:nvSpPr>
        <p:spPr>
          <a:xfrm>
            <a:off x="9646919" y="1234440"/>
            <a:ext cx="2240280" cy="5257800"/>
          </a:xfrm>
          <a:prstGeom prst="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646919" y="1234440"/>
            <a:ext cx="2240280"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29799" y="1325880"/>
            <a:ext cx="1874520" cy="365760"/>
          </a:xfrm>
          <a:prstGeom prst="rect">
            <a:avLst/>
          </a:prstGeom>
          <a:noFill/>
        </p:spPr>
        <p:txBody>
          <a:bodyPr wrap="square">
            <a:spAutoFit/>
          </a:bodyPr>
          <a:lstStyle/>
          <a:p>
            <a:pPr algn="l">
              <a:lnSpc>
                <a:spcPct val="115000"/>
              </a:lnSpc>
            </a:pPr>
            <a:r>
              <a:rPr sz="1500" b="1" i="0">
                <a:solidFill>
                  <a:srgbClr val="F43F5E"/>
                </a:solidFill>
                <a:latin typeface="Arial"/>
              </a:rPr>
              <a:t>Phase 5: Clinical
Intraoperative Navigation</a:t>
            </a:r>
          </a:p>
        </p:txBody>
      </p:sp>
      <p:sp>
        <p:nvSpPr>
          <p:cNvPr id="27" name="TextBox 26"/>
          <p:cNvSpPr txBox="1"/>
          <p:nvPr/>
        </p:nvSpPr>
        <p:spPr>
          <a:xfrm>
            <a:off x="9726827" y="2774664"/>
            <a:ext cx="1959078" cy="2718116"/>
          </a:xfrm>
          <a:prstGeom prst="rect">
            <a:avLst/>
          </a:prstGeom>
          <a:noFill/>
        </p:spPr>
        <p:txBody>
          <a:bodyPr wrap="square">
            <a:spAutoFit/>
          </a:bodyPr>
          <a:lstStyle/>
          <a:p>
            <a:pPr>
              <a:lnSpc>
                <a:spcPct val="115000"/>
              </a:lnSpc>
              <a:spcAft>
                <a:spcPts val="1200"/>
              </a:spcAft>
            </a:pPr>
            <a:r>
              <a:rPr sz="1200" dirty="0">
                <a:solidFill>
                  <a:srgbClr val="F8FAFC"/>
                </a:solidFill>
                <a:latin typeface="Arial"/>
              </a:rPr>
              <a:t>▸  Integrate directly into operating suites equipped with intraoperative MRI</a:t>
            </a:r>
          </a:p>
          <a:p>
            <a:pPr>
              <a:lnSpc>
                <a:spcPct val="115000"/>
              </a:lnSpc>
              <a:spcAft>
                <a:spcPts val="1200"/>
              </a:spcAft>
            </a:pPr>
            <a:r>
              <a:rPr sz="1200" dirty="0">
                <a:solidFill>
                  <a:srgbClr val="F8FAFC"/>
                </a:solidFill>
                <a:latin typeface="Arial"/>
              </a:rPr>
              <a:t>▸  Real-time tumor boundary rendering on surgical microscopic monitors</a:t>
            </a:r>
          </a:p>
          <a:p>
            <a:pPr>
              <a:lnSpc>
                <a:spcPct val="115000"/>
              </a:lnSpc>
              <a:spcAft>
                <a:spcPts val="1200"/>
              </a:spcAft>
            </a:pPr>
            <a:r>
              <a:rPr sz="1200" dirty="0">
                <a:solidFill>
                  <a:srgbClr val="F8FAFC"/>
                </a:solidFill>
                <a:latin typeface="Arial"/>
              </a:rPr>
              <a:t>▸  Guide resection margins to achieve </a:t>
            </a:r>
            <a:r>
              <a:rPr sz="1200" dirty="0" err="1">
                <a:solidFill>
                  <a:srgbClr val="F8FAFC"/>
                </a:solidFill>
                <a:latin typeface="Arial"/>
              </a:rPr>
              <a:t>supratotal</a:t>
            </a:r>
            <a:r>
              <a:rPr sz="1200" dirty="0">
                <a:solidFill>
                  <a:srgbClr val="F8FAFC"/>
                </a:solidFill>
                <a:latin typeface="Arial"/>
              </a:rPr>
              <a:t> removal while sparing brain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109728"/>
            <a:ext cx="10972800" cy="502920"/>
          </a:xfrm>
          <a:prstGeom prst="rect">
            <a:avLst/>
          </a:prstGeom>
          <a:noFill/>
        </p:spPr>
        <p:txBody>
          <a:bodyPr wrap="square">
            <a:spAutoFit/>
          </a:bodyPr>
          <a:lstStyle/>
          <a:p>
            <a:pPr algn="l">
              <a:lnSpc>
                <a:spcPct val="115000"/>
              </a:lnSpc>
            </a:pPr>
            <a:r>
              <a:rPr sz="2800" b="1" i="0">
                <a:solidFill>
                  <a:srgbClr val="06B6D4"/>
                </a:solidFill>
                <a:latin typeface="Arial"/>
              </a:rPr>
              <a:t>Conclusion &amp; Executive Summary</a:t>
            </a:r>
          </a:p>
        </p:txBody>
      </p:sp>
      <p:sp>
        <p:nvSpPr>
          <p:cNvPr id="5" name="TextBox 4"/>
          <p:cNvSpPr txBox="1"/>
          <p:nvPr/>
        </p:nvSpPr>
        <p:spPr>
          <a:xfrm>
            <a:off x="320040" y="594360"/>
            <a:ext cx="10972800" cy="411480"/>
          </a:xfrm>
          <a:prstGeom prst="rect">
            <a:avLst/>
          </a:prstGeom>
          <a:noFill/>
        </p:spPr>
        <p:txBody>
          <a:bodyPr wrap="square">
            <a:spAutoFit/>
          </a:bodyPr>
          <a:lstStyle/>
          <a:p>
            <a:pPr algn="l">
              <a:lnSpc>
                <a:spcPct val="115000"/>
              </a:lnSpc>
            </a:pPr>
            <a:r>
              <a:rPr sz="1500" b="0" i="1">
                <a:solidFill>
                  <a:srgbClr val="CBD5E1"/>
                </a:solidFill>
                <a:latin typeface="Arial"/>
              </a:rPr>
              <a:t>Project Deliverable Summary Table &amp; Synthesis of Clinical Engineering Achievement</a:t>
            </a:r>
          </a:p>
        </p:txBody>
      </p:sp>
      <p:sp>
        <p:nvSpPr>
          <p:cNvPr id="6" name="Rectangle 5"/>
          <p:cNvSpPr/>
          <p:nvPr/>
        </p:nvSpPr>
        <p:spPr>
          <a:xfrm>
            <a:off x="0" y="6720840"/>
            <a:ext cx="12188952" cy="137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0"/>
            <a:ext cx="32004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320040" y="1234440"/>
          <a:ext cx="6858000" cy="4023367"/>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41959">
                <a:tc>
                  <a:txBody>
                    <a:bodyPr/>
                    <a:lstStyle/>
                    <a:p>
                      <a:pPr algn="ctr"/>
                      <a:r>
                        <a:rPr sz="1300" b="1">
                          <a:solidFill>
                            <a:srgbClr val="06B6D4"/>
                          </a:solidFill>
                          <a:latin typeface="Arial"/>
                        </a:rPr>
                        <a:t>Final Project Deliverable / Metric</a:t>
                      </a:r>
                    </a:p>
                  </a:txBody>
                  <a:tcPr>
                    <a:solidFill>
                      <a:srgbClr val="334155"/>
                    </a:solidFill>
                  </a:tcPr>
                </a:tc>
                <a:tc>
                  <a:txBody>
                    <a:bodyPr/>
                    <a:lstStyle/>
                    <a:p>
                      <a:pPr algn="ctr"/>
                      <a:r>
                        <a:rPr sz="1300" b="1">
                          <a:solidFill>
                            <a:srgbClr val="06B6D4"/>
                          </a:solidFill>
                          <a:latin typeface="Arial"/>
                        </a:rPr>
                        <a:t>Achieved Score</a:t>
                      </a:r>
                    </a:p>
                  </a:txBody>
                  <a:tcPr>
                    <a:solidFill>
                      <a:srgbClr val="334155"/>
                    </a:solidFill>
                  </a:tcPr>
                </a:tc>
                <a:tc>
                  <a:txBody>
                    <a:bodyPr/>
                    <a:lstStyle/>
                    <a:p>
                      <a:pPr algn="ctr"/>
                      <a:r>
                        <a:rPr sz="1300" b="1">
                          <a:solidFill>
                            <a:srgbClr val="06B6D4"/>
                          </a:solidFill>
                          <a:latin typeface="Arial"/>
                        </a:rPr>
                        <a:t>Clinical &amp; Technical Verification Status</a:t>
                      </a:r>
                    </a:p>
                  </a:txBody>
                  <a:tcPr>
                    <a:solidFill>
                      <a:srgbClr val="334155"/>
                    </a:solidFill>
                  </a:tcPr>
                </a:tc>
                <a:extLst>
                  <a:ext uri="{0D108BD9-81ED-4DB2-BD59-A6C34878D82A}">
                    <a16:rowId xmlns:a16="http://schemas.microsoft.com/office/drawing/2014/main" val="10000"/>
                  </a:ext>
                </a:extLst>
              </a:tr>
              <a:tr h="441959">
                <a:tc>
                  <a:txBody>
                    <a:bodyPr/>
                    <a:lstStyle/>
                    <a:p>
                      <a:pPr algn="l"/>
                      <a:r>
                        <a:rPr sz="1150">
                          <a:solidFill>
                            <a:srgbClr val="F8FAFC"/>
                          </a:solidFill>
                          <a:latin typeface="Arial"/>
                        </a:rPr>
                        <a:t>4-Class Test Accuracy</a:t>
                      </a:r>
                    </a:p>
                  </a:txBody>
                  <a:tcPr>
                    <a:solidFill>
                      <a:srgbClr val="0F172A"/>
                    </a:solidFill>
                  </a:tcPr>
                </a:tc>
                <a:tc>
                  <a:txBody>
                    <a:bodyPr/>
                    <a:lstStyle/>
                    <a:p>
                      <a:pPr algn="ctr"/>
                      <a:r>
                        <a:rPr sz="1150">
                          <a:solidFill>
                            <a:srgbClr val="F8FAFC"/>
                          </a:solidFill>
                          <a:latin typeface="Arial"/>
                        </a:rPr>
                        <a:t>97.84%</a:t>
                      </a:r>
                    </a:p>
                  </a:txBody>
                  <a:tcPr>
                    <a:solidFill>
                      <a:srgbClr val="0F172A"/>
                    </a:solidFill>
                  </a:tcPr>
                </a:tc>
                <a:tc>
                  <a:txBody>
                    <a:bodyPr/>
                    <a:lstStyle/>
                    <a:p>
                      <a:pPr algn="l"/>
                      <a:r>
                        <a:rPr sz="1150">
                          <a:solidFill>
                            <a:srgbClr val="F8FAFC"/>
                          </a:solidFill>
                          <a:latin typeface="Arial"/>
                        </a:rPr>
                        <a:t>✓ Surpasses published expert radiologist consensus (87–94%)</a:t>
                      </a:r>
                    </a:p>
                  </a:txBody>
                  <a:tcPr>
                    <a:solidFill>
                      <a:srgbClr val="0F172A"/>
                    </a:solidFill>
                  </a:tcPr>
                </a:tc>
                <a:extLst>
                  <a:ext uri="{0D108BD9-81ED-4DB2-BD59-A6C34878D82A}">
                    <a16:rowId xmlns:a16="http://schemas.microsoft.com/office/drawing/2014/main" val="10001"/>
                  </a:ext>
                </a:extLst>
              </a:tr>
              <a:tr h="441959">
                <a:tc>
                  <a:txBody>
                    <a:bodyPr/>
                    <a:lstStyle/>
                    <a:p>
                      <a:pPr algn="l"/>
                      <a:r>
                        <a:rPr sz="1150">
                          <a:solidFill>
                            <a:srgbClr val="F8FAFC"/>
                          </a:solidFill>
                          <a:latin typeface="Arial"/>
                        </a:rPr>
                        <a:t>Mean ROC-AUC Score</a:t>
                      </a:r>
                    </a:p>
                  </a:txBody>
                  <a:tcPr>
                    <a:solidFill>
                      <a:srgbClr val="1E293B"/>
                    </a:solidFill>
                  </a:tcPr>
                </a:tc>
                <a:tc>
                  <a:txBody>
                    <a:bodyPr/>
                    <a:lstStyle/>
                    <a:p>
                      <a:pPr algn="ctr"/>
                      <a:r>
                        <a:rPr sz="1150">
                          <a:solidFill>
                            <a:srgbClr val="F8FAFC"/>
                          </a:solidFill>
                          <a:latin typeface="Arial"/>
                        </a:rPr>
                        <a:t>0.9955</a:t>
                      </a:r>
                    </a:p>
                  </a:txBody>
                  <a:tcPr>
                    <a:solidFill>
                      <a:srgbClr val="1E293B"/>
                    </a:solidFill>
                  </a:tcPr>
                </a:tc>
                <a:tc>
                  <a:txBody>
                    <a:bodyPr/>
                    <a:lstStyle/>
                    <a:p>
                      <a:pPr algn="l"/>
                      <a:r>
                        <a:rPr sz="1150">
                          <a:solidFill>
                            <a:srgbClr val="F8FAFC"/>
                          </a:solidFill>
                          <a:latin typeface="Arial"/>
                        </a:rPr>
                        <a:t>✓ Near-perfect multi-class diagnostic threshold separation</a:t>
                      </a:r>
                    </a:p>
                  </a:txBody>
                  <a:tcPr>
                    <a:solidFill>
                      <a:srgbClr val="1E293B"/>
                    </a:solidFill>
                  </a:tcPr>
                </a:tc>
                <a:extLst>
                  <a:ext uri="{0D108BD9-81ED-4DB2-BD59-A6C34878D82A}">
                    <a16:rowId xmlns:a16="http://schemas.microsoft.com/office/drawing/2014/main" val="10002"/>
                  </a:ext>
                </a:extLst>
              </a:tr>
              <a:tr h="441959">
                <a:tc>
                  <a:txBody>
                    <a:bodyPr/>
                    <a:lstStyle/>
                    <a:p>
                      <a:pPr algn="ctr"/>
                      <a:r>
                        <a:rPr sz="1150">
                          <a:solidFill>
                            <a:srgbClr val="F8FAFC"/>
                          </a:solidFill>
                          <a:latin typeface="Arial"/>
                        </a:rPr>
                        <a:t>Macro F1-Score</a:t>
                      </a:r>
                    </a:p>
                  </a:txBody>
                  <a:tcPr>
                    <a:solidFill>
                      <a:srgbClr val="0F172A"/>
                    </a:solidFill>
                  </a:tcPr>
                </a:tc>
                <a:tc>
                  <a:txBody>
                    <a:bodyPr/>
                    <a:lstStyle/>
                    <a:p>
                      <a:pPr algn="ctr"/>
                      <a:r>
                        <a:rPr sz="1150">
                          <a:solidFill>
                            <a:srgbClr val="F8FAFC"/>
                          </a:solidFill>
                          <a:latin typeface="Arial"/>
                        </a:rPr>
                        <a:t>97.87%</a:t>
                      </a:r>
                    </a:p>
                  </a:txBody>
                  <a:tcPr>
                    <a:solidFill>
                      <a:srgbClr val="0F172A"/>
                    </a:solidFill>
                  </a:tcPr>
                </a:tc>
                <a:tc>
                  <a:txBody>
                    <a:bodyPr/>
                    <a:lstStyle/>
                    <a:p>
                      <a:pPr algn="l"/>
                      <a:r>
                        <a:rPr sz="1150">
                          <a:solidFill>
                            <a:srgbClr val="F8FAFC"/>
                          </a:solidFill>
                          <a:latin typeface="Arial"/>
                        </a:rPr>
                        <a:t>✓ Balanced sensitivity and specificity across all tumor categories</a:t>
                      </a:r>
                    </a:p>
                  </a:txBody>
                  <a:tcPr>
                    <a:solidFill>
                      <a:srgbClr val="0F172A"/>
                    </a:solidFill>
                  </a:tcPr>
                </a:tc>
                <a:extLst>
                  <a:ext uri="{0D108BD9-81ED-4DB2-BD59-A6C34878D82A}">
                    <a16:rowId xmlns:a16="http://schemas.microsoft.com/office/drawing/2014/main" val="10003"/>
                  </a:ext>
                </a:extLst>
              </a:tr>
              <a:tr h="441959">
                <a:tc>
                  <a:txBody>
                    <a:bodyPr/>
                    <a:lstStyle/>
                    <a:p>
                      <a:pPr algn="l"/>
                      <a:r>
                        <a:rPr sz="1150">
                          <a:solidFill>
                            <a:srgbClr val="F8FAFC"/>
                          </a:solidFill>
                          <a:latin typeface="Arial"/>
                        </a:rPr>
                        <a:t>Glioma Recall Rate</a:t>
                      </a:r>
                    </a:p>
                  </a:txBody>
                  <a:tcPr>
                    <a:solidFill>
                      <a:srgbClr val="1E293B"/>
                    </a:solidFill>
                  </a:tcPr>
                </a:tc>
                <a:tc>
                  <a:txBody>
                    <a:bodyPr/>
                    <a:lstStyle/>
                    <a:p>
                      <a:pPr algn="ctr"/>
                      <a:r>
                        <a:rPr sz="1150">
                          <a:solidFill>
                            <a:srgbClr val="F8FAFC"/>
                          </a:solidFill>
                          <a:latin typeface="Arial"/>
                        </a:rPr>
                        <a:t>97.10%</a:t>
                      </a:r>
                    </a:p>
                  </a:txBody>
                  <a:tcPr>
                    <a:solidFill>
                      <a:srgbClr val="1E293B"/>
                    </a:solidFill>
                  </a:tcPr>
                </a:tc>
                <a:tc>
                  <a:txBody>
                    <a:bodyPr/>
                    <a:lstStyle/>
                    <a:p>
                      <a:pPr algn="l"/>
                      <a:r>
                        <a:rPr sz="1150">
                          <a:solidFill>
                            <a:srgbClr val="F8FAFC"/>
                          </a:solidFill>
                          <a:latin typeface="Arial"/>
                        </a:rPr>
                        <a:t>✓ &lt;3% miss rate on highest-risk WHO Grade IV malignant gliomas</a:t>
                      </a:r>
                    </a:p>
                  </a:txBody>
                  <a:tcPr>
                    <a:solidFill>
                      <a:srgbClr val="1E293B"/>
                    </a:solidFill>
                  </a:tcPr>
                </a:tc>
                <a:extLst>
                  <a:ext uri="{0D108BD9-81ED-4DB2-BD59-A6C34878D82A}">
                    <a16:rowId xmlns:a16="http://schemas.microsoft.com/office/drawing/2014/main" val="10004"/>
                  </a:ext>
                </a:extLst>
              </a:tr>
              <a:tr h="441959">
                <a:tc>
                  <a:txBody>
                    <a:bodyPr/>
                    <a:lstStyle/>
                    <a:p>
                      <a:pPr algn="l"/>
                      <a:r>
                        <a:rPr sz="1150">
                          <a:solidFill>
                            <a:srgbClr val="F8FAFC"/>
                          </a:solidFill>
                          <a:latin typeface="Arial"/>
                        </a:rPr>
                        <a:t>MC Uncertainty Engine</a:t>
                      </a:r>
                    </a:p>
                  </a:txBody>
                  <a:tcPr>
                    <a:solidFill>
                      <a:srgbClr val="0F172A"/>
                    </a:solidFill>
                  </a:tcPr>
                </a:tc>
                <a:tc>
                  <a:txBody>
                    <a:bodyPr/>
                    <a:lstStyle/>
                    <a:p>
                      <a:pPr algn="ctr"/>
                      <a:r>
                        <a:rPr sz="1150">
                          <a:solidFill>
                            <a:srgbClr val="F8FAFC"/>
                          </a:solidFill>
                          <a:latin typeface="Arial"/>
                        </a:rPr>
                        <a:t>72.7% Detected</a:t>
                      </a:r>
                    </a:p>
                  </a:txBody>
                  <a:tcPr>
                    <a:solidFill>
                      <a:srgbClr val="0F172A"/>
                    </a:solidFill>
                  </a:tcPr>
                </a:tc>
                <a:tc>
                  <a:txBody>
                    <a:bodyPr/>
                    <a:lstStyle/>
                    <a:p>
                      <a:pPr algn="l"/>
                      <a:r>
                        <a:rPr sz="1150">
                          <a:solidFill>
                            <a:srgbClr val="F8FAFC"/>
                          </a:solidFill>
                          <a:latin typeface="Arial"/>
                        </a:rPr>
                        <a:t>✓ Automated pre-flagging interception of diagnostic errors</a:t>
                      </a:r>
                    </a:p>
                  </a:txBody>
                  <a:tcPr>
                    <a:solidFill>
                      <a:srgbClr val="0F172A"/>
                    </a:solidFill>
                  </a:tcPr>
                </a:tc>
                <a:extLst>
                  <a:ext uri="{0D108BD9-81ED-4DB2-BD59-A6C34878D82A}">
                    <a16:rowId xmlns:a16="http://schemas.microsoft.com/office/drawing/2014/main" val="10005"/>
                  </a:ext>
                </a:extLst>
              </a:tr>
              <a:tr h="441959">
                <a:tc>
                  <a:txBody>
                    <a:bodyPr/>
                    <a:lstStyle/>
                    <a:p>
                      <a:pPr algn="l"/>
                      <a:r>
                        <a:rPr sz="1150">
                          <a:solidFill>
                            <a:srgbClr val="F8FAFC"/>
                          </a:solidFill>
                          <a:latin typeface="Arial"/>
                        </a:rPr>
                        <a:t>Attention Saliency (ASR)</a:t>
                      </a:r>
                    </a:p>
                  </a:txBody>
                  <a:tcPr>
                    <a:solidFill>
                      <a:srgbClr val="1E293B"/>
                    </a:solidFill>
                  </a:tcPr>
                </a:tc>
                <a:tc>
                  <a:txBody>
                    <a:bodyPr/>
                    <a:lstStyle/>
                    <a:p>
                      <a:pPr algn="ctr"/>
                      <a:r>
                        <a:rPr sz="1150">
                          <a:solidFill>
                            <a:srgbClr val="F8FAFC"/>
                          </a:solidFill>
                          <a:latin typeface="Arial"/>
                        </a:rPr>
                        <a:t>94.1%</a:t>
                      </a:r>
                    </a:p>
                  </a:txBody>
                  <a:tcPr>
                    <a:solidFill>
                      <a:srgbClr val="1E293B"/>
                    </a:solidFill>
                  </a:tcPr>
                </a:tc>
                <a:tc>
                  <a:txBody>
                    <a:bodyPr/>
                    <a:lstStyle/>
                    <a:p>
                      <a:pPr algn="l"/>
                      <a:r>
                        <a:rPr sz="1150">
                          <a:solidFill>
                            <a:srgbClr val="F8FAFC"/>
                          </a:solidFill>
                          <a:latin typeface="Arial"/>
                        </a:rPr>
                        <a:t>✓ Proved network bases logic on real intracranial histology</a:t>
                      </a:r>
                    </a:p>
                  </a:txBody>
                  <a:tcPr>
                    <a:solidFill>
                      <a:srgbClr val="1E293B"/>
                    </a:solidFill>
                  </a:tcPr>
                </a:tc>
                <a:extLst>
                  <a:ext uri="{0D108BD9-81ED-4DB2-BD59-A6C34878D82A}">
                    <a16:rowId xmlns:a16="http://schemas.microsoft.com/office/drawing/2014/main" val="10006"/>
                  </a:ext>
                </a:extLst>
              </a:tr>
              <a:tr h="441959">
                <a:tc>
                  <a:txBody>
                    <a:bodyPr/>
                    <a:lstStyle/>
                    <a:p>
                      <a:pPr algn="l"/>
                      <a:r>
                        <a:rPr sz="1150">
                          <a:solidFill>
                            <a:srgbClr val="F8FAFC"/>
                          </a:solidFill>
                          <a:latin typeface="Arial"/>
                        </a:rPr>
                        <a:t>XAI Production Web App</a:t>
                      </a:r>
                    </a:p>
                  </a:txBody>
                  <a:tcPr>
                    <a:solidFill>
                      <a:srgbClr val="0F172A"/>
                    </a:solidFill>
                  </a:tcPr>
                </a:tc>
                <a:tc>
                  <a:txBody>
                    <a:bodyPr/>
                    <a:lstStyle/>
                    <a:p>
                      <a:pPr algn="ctr"/>
                      <a:r>
                        <a:rPr sz="1150">
                          <a:solidFill>
                            <a:srgbClr val="F8FAFC"/>
                          </a:solidFill>
                          <a:latin typeface="Arial"/>
                        </a:rPr>
                        <a:t>17 Views Live</a:t>
                      </a:r>
                    </a:p>
                  </a:txBody>
                  <a:tcPr>
                    <a:solidFill>
                      <a:srgbClr val="0F172A"/>
                    </a:solidFill>
                  </a:tcPr>
                </a:tc>
                <a:tc>
                  <a:txBody>
                    <a:bodyPr/>
                    <a:lstStyle/>
                    <a:p>
                      <a:pPr algn="l"/>
                      <a:r>
                        <a:rPr sz="1150">
                          <a:solidFill>
                            <a:srgbClr val="F8FAFC"/>
                          </a:solidFill>
                          <a:latin typeface="Arial"/>
                        </a:rPr>
                        <a:t>✓ Publicly tunnelled interactive clinical radiomics suite</a:t>
                      </a:r>
                    </a:p>
                  </a:txBody>
                  <a:tcPr>
                    <a:solidFill>
                      <a:srgbClr val="0F172A"/>
                    </a:solidFill>
                  </a:tcPr>
                </a:tc>
                <a:extLst>
                  <a:ext uri="{0D108BD9-81ED-4DB2-BD59-A6C34878D82A}">
                    <a16:rowId xmlns:a16="http://schemas.microsoft.com/office/drawing/2014/main" val="10007"/>
                  </a:ext>
                </a:extLst>
              </a:tr>
              <a:tr h="441967">
                <a:tc>
                  <a:txBody>
                    <a:bodyPr/>
                    <a:lstStyle/>
                    <a:p>
                      <a:pPr algn="l"/>
                      <a:r>
                        <a:rPr sz="1150">
                          <a:solidFill>
                            <a:srgbClr val="F8FAFC"/>
                          </a:solidFill>
                          <a:latin typeface="Arial"/>
                        </a:rPr>
                        <a:t>Software Deliverables</a:t>
                      </a:r>
                    </a:p>
                  </a:txBody>
                  <a:tcPr>
                    <a:solidFill>
                      <a:srgbClr val="1E293B"/>
                    </a:solidFill>
                  </a:tcPr>
                </a:tc>
                <a:tc>
                  <a:txBody>
                    <a:bodyPr/>
                    <a:lstStyle/>
                    <a:p>
                      <a:pPr algn="ctr"/>
                      <a:r>
                        <a:rPr sz="1150">
                          <a:solidFill>
                            <a:srgbClr val="F8FAFC"/>
                          </a:solidFill>
                          <a:latin typeface="Arial"/>
                        </a:rPr>
                        <a:t>6 PEP-8 Modules</a:t>
                      </a:r>
                    </a:p>
                  </a:txBody>
                  <a:tcPr>
                    <a:solidFill>
                      <a:srgbClr val="1E293B"/>
                    </a:solidFill>
                  </a:tcPr>
                </a:tc>
                <a:tc>
                  <a:txBody>
                    <a:bodyPr/>
                    <a:lstStyle/>
                    <a:p>
                      <a:pPr algn="l"/>
                      <a:r>
                        <a:rPr sz="1150">
                          <a:solidFill>
                            <a:srgbClr val="F8FAFC"/>
                          </a:solidFill>
                          <a:latin typeface="Arial"/>
                        </a:rPr>
                        <a:t>✓ Fully structured source code inside consolidated Results folder</a:t>
                      </a:r>
                    </a:p>
                  </a:txBody>
                  <a:tcPr>
                    <a:solidFill>
                      <a:srgbClr val="1E293B"/>
                    </a:solidFill>
                  </a:tcPr>
                </a:tc>
                <a:extLst>
                  <a:ext uri="{0D108BD9-81ED-4DB2-BD59-A6C34878D82A}">
                    <a16:rowId xmlns:a16="http://schemas.microsoft.com/office/drawing/2014/main" val="10008"/>
                  </a:ext>
                </a:extLst>
              </a:tr>
            </a:tbl>
          </a:graphicData>
        </a:graphic>
      </p:graphicFrame>
      <p:sp>
        <p:nvSpPr>
          <p:cNvPr id="9" name="Rectangle 8"/>
          <p:cNvSpPr/>
          <p:nvPr/>
        </p:nvSpPr>
        <p:spPr>
          <a:xfrm>
            <a:off x="7315200" y="1234440"/>
            <a:ext cx="4553712" cy="3977639"/>
          </a:xfrm>
          <a:prstGeom prst="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0" y="1234440"/>
            <a:ext cx="4553712" cy="5029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79" y="1325880"/>
            <a:ext cx="4187952" cy="365760"/>
          </a:xfrm>
          <a:prstGeom prst="rect">
            <a:avLst/>
          </a:prstGeom>
          <a:noFill/>
        </p:spPr>
        <p:txBody>
          <a:bodyPr wrap="square">
            <a:spAutoFit/>
          </a:bodyPr>
          <a:lstStyle/>
          <a:p>
            <a:pPr algn="l">
              <a:lnSpc>
                <a:spcPct val="115000"/>
              </a:lnSpc>
            </a:pPr>
            <a:r>
              <a:rPr sz="1500" b="1" i="0">
                <a:solidFill>
                  <a:srgbClr val="10B981"/>
                </a:solidFill>
                <a:latin typeface="Arial"/>
              </a:rPr>
              <a:t>Executive Engineering Synthesis</a:t>
            </a:r>
          </a:p>
        </p:txBody>
      </p:sp>
      <p:sp>
        <p:nvSpPr>
          <p:cNvPr id="12" name="TextBox 11"/>
          <p:cNvSpPr txBox="1"/>
          <p:nvPr/>
        </p:nvSpPr>
        <p:spPr>
          <a:xfrm>
            <a:off x="7498079" y="1828800"/>
            <a:ext cx="4187952" cy="3291839"/>
          </a:xfrm>
          <a:prstGeom prst="rect">
            <a:avLst/>
          </a:prstGeom>
          <a:noFill/>
        </p:spPr>
        <p:txBody>
          <a:bodyPr wrap="square">
            <a:spAutoFit/>
          </a:bodyPr>
          <a:lstStyle/>
          <a:p>
            <a:pPr>
              <a:lnSpc>
                <a:spcPct val="115000"/>
              </a:lnSpc>
              <a:spcAft>
                <a:spcPts val="1000"/>
              </a:spcAft>
            </a:pPr>
            <a:r>
              <a:rPr sz="1200">
                <a:solidFill>
                  <a:srgbClr val="F8FAFC"/>
                </a:solidFill>
                <a:latin typeface="Arial"/>
              </a:rPr>
              <a:t>▸  Resolving the Medical AI Triad: We demonstrated that neural architectures can simultaneously achieve clinical-grade accuracy, complete visual interpretability (Grad-CAM), and epistemic safety alertness (MC Dropout).</a:t>
            </a:r>
          </a:p>
          <a:p>
            <a:pPr>
              <a:lnSpc>
                <a:spcPct val="115000"/>
              </a:lnSpc>
              <a:spcAft>
                <a:spcPts val="1000"/>
              </a:spcAft>
            </a:pPr>
            <a:r>
              <a:rPr sz="1200">
                <a:solidFill>
                  <a:srgbClr val="F8FAFC"/>
                </a:solidFill>
                <a:latin typeface="Arial"/>
              </a:rPr>
              <a:t>▸  Targeted Novelty Efficacy: Our lightweight Spatial Attention Gate (+33K params) decisively outperformed brute-force network scaling (ResNet-50) by +2.74%.</a:t>
            </a:r>
          </a:p>
          <a:p>
            <a:pPr>
              <a:lnSpc>
                <a:spcPct val="115000"/>
              </a:lnSpc>
              <a:spcAft>
                <a:spcPts val="1000"/>
              </a:spcAft>
            </a:pPr>
            <a:r>
              <a:rPr sz="1200">
                <a:solidFill>
                  <a:srgbClr val="F8FAFC"/>
                </a:solidFill>
                <a:latin typeface="Arial"/>
              </a:rPr>
              <a:t>▸  Clinical Production Readiness: All project deliverables—including code, XAI plots, and documentation—are consolidated in the master Results directory.</a:t>
            </a:r>
          </a:p>
        </p:txBody>
      </p:sp>
      <p:sp>
        <p:nvSpPr>
          <p:cNvPr id="13" name="Rectangle 12"/>
          <p:cNvSpPr/>
          <p:nvPr/>
        </p:nvSpPr>
        <p:spPr>
          <a:xfrm>
            <a:off x="320040" y="5349240"/>
            <a:ext cx="11548872" cy="1143000"/>
          </a:xfrm>
          <a:prstGeom prst="rect">
            <a:avLst/>
          </a:prstGeom>
          <a:solidFill>
            <a:srgbClr val="1E293B"/>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5440680"/>
            <a:ext cx="11274552" cy="640080"/>
          </a:xfrm>
          <a:prstGeom prst="rect">
            <a:avLst/>
          </a:prstGeom>
          <a:noFill/>
        </p:spPr>
        <p:txBody>
          <a:bodyPr wrap="square">
            <a:spAutoFit/>
          </a:bodyPr>
          <a:lstStyle/>
          <a:p>
            <a:pPr algn="ctr">
              <a:lnSpc>
                <a:spcPct val="115000"/>
              </a:lnSpc>
            </a:pPr>
            <a:r>
              <a:rPr sz="1350" b="0" i="1">
                <a:solidFill>
                  <a:srgbClr val="FACC15"/>
                </a:solidFill>
                <a:latin typeface="Arial"/>
              </a:rPr>
              <a:t>"The NeuroVision Diagnostic System proves that deep learning in neuro-oncology can be simultaneously accurate, transparent, and safely uncertainty-aware—fulfilling the essential triad for trustworthy artificial intelligence in clinical medicine."</a:t>
            </a:r>
          </a:p>
        </p:txBody>
      </p:sp>
      <p:sp>
        <p:nvSpPr>
          <p:cNvPr id="15" name="TextBox 14"/>
          <p:cNvSpPr txBox="1"/>
          <p:nvPr/>
        </p:nvSpPr>
        <p:spPr>
          <a:xfrm>
            <a:off x="457200" y="6080760"/>
            <a:ext cx="11274552" cy="302840"/>
          </a:xfrm>
          <a:prstGeom prst="rect">
            <a:avLst/>
          </a:prstGeom>
          <a:noFill/>
        </p:spPr>
        <p:txBody>
          <a:bodyPr wrap="square">
            <a:spAutoFit/>
          </a:bodyPr>
          <a:lstStyle/>
          <a:p>
            <a:pPr algn="ctr">
              <a:lnSpc>
                <a:spcPct val="115000"/>
              </a:lnSpc>
            </a:pPr>
            <a:r>
              <a:rPr sz="1300" b="1" i="0" dirty="0">
                <a:solidFill>
                  <a:srgbClr val="F8FAFC"/>
                </a:solidFill>
                <a:latin typeface="Arial"/>
              </a:rPr>
              <a:t>— Team 8   |  Brain Tumor Classification using Deep Learning &amp; XAI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5669280"/>
            <a:ext cx="11914632" cy="1188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515600" cy="914400"/>
          </a:xfrm>
          <a:prstGeom prst="rect">
            <a:avLst/>
          </a:prstGeom>
          <a:noFill/>
        </p:spPr>
        <p:txBody>
          <a:bodyPr wrap="square">
            <a:spAutoFit/>
          </a:bodyPr>
          <a:lstStyle/>
          <a:p>
            <a:pPr algn="ctr">
              <a:lnSpc>
                <a:spcPct val="115000"/>
              </a:lnSpc>
            </a:pPr>
            <a:r>
              <a:rPr sz="4600" b="1" i="0">
                <a:solidFill>
                  <a:srgbClr val="F8FAFC"/>
                </a:solidFill>
                <a:latin typeface="Arial"/>
              </a:rPr>
              <a:t>Thank You &amp; Open Viva Examination</a:t>
            </a:r>
          </a:p>
        </p:txBody>
      </p:sp>
      <p:sp>
        <p:nvSpPr>
          <p:cNvPr id="5" name="TextBox 4"/>
          <p:cNvSpPr txBox="1"/>
          <p:nvPr/>
        </p:nvSpPr>
        <p:spPr>
          <a:xfrm>
            <a:off x="731520" y="1828800"/>
            <a:ext cx="10515600" cy="548640"/>
          </a:xfrm>
          <a:prstGeom prst="rect">
            <a:avLst/>
          </a:prstGeom>
          <a:noFill/>
        </p:spPr>
        <p:txBody>
          <a:bodyPr wrap="square">
            <a:spAutoFit/>
          </a:bodyPr>
          <a:lstStyle/>
          <a:p>
            <a:pPr algn="ctr">
              <a:lnSpc>
                <a:spcPct val="115000"/>
              </a:lnSpc>
            </a:pPr>
            <a:r>
              <a:rPr sz="2200" b="1" i="0">
                <a:solidFill>
                  <a:srgbClr val="06B6D4"/>
                </a:solidFill>
                <a:latin typeface="Arial"/>
              </a:rPr>
              <a:t>Team 8  ·  Brain Tumor Classification using Deep Learning and Explainable AI</a:t>
            </a:r>
          </a:p>
        </p:txBody>
      </p:sp>
      <p:sp>
        <p:nvSpPr>
          <p:cNvPr id="6" name="Rectangle 5"/>
          <p:cNvSpPr/>
          <p:nvPr/>
        </p:nvSpPr>
        <p:spPr>
          <a:xfrm>
            <a:off x="731520" y="2560320"/>
            <a:ext cx="1965960" cy="1234440"/>
          </a:xfrm>
          <a:prstGeom prst="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651760"/>
            <a:ext cx="1965960" cy="594360"/>
          </a:xfrm>
          <a:prstGeom prst="rect">
            <a:avLst/>
          </a:prstGeom>
          <a:noFill/>
        </p:spPr>
        <p:txBody>
          <a:bodyPr wrap="square">
            <a:spAutoFit/>
          </a:bodyPr>
          <a:lstStyle/>
          <a:p>
            <a:pPr algn="ctr">
              <a:lnSpc>
                <a:spcPct val="115000"/>
              </a:lnSpc>
            </a:pPr>
            <a:r>
              <a:rPr sz="2600" b="1" i="0">
                <a:solidFill>
                  <a:srgbClr val="06B6D4"/>
                </a:solidFill>
                <a:latin typeface="Arial"/>
              </a:rPr>
              <a:t>97.84%</a:t>
            </a:r>
          </a:p>
        </p:txBody>
      </p:sp>
      <p:sp>
        <p:nvSpPr>
          <p:cNvPr id="8" name="TextBox 7"/>
          <p:cNvSpPr txBox="1"/>
          <p:nvPr/>
        </p:nvSpPr>
        <p:spPr>
          <a:xfrm>
            <a:off x="731520" y="3246120"/>
            <a:ext cx="1965960" cy="457200"/>
          </a:xfrm>
          <a:prstGeom prst="rect">
            <a:avLst/>
          </a:prstGeom>
          <a:noFill/>
        </p:spPr>
        <p:txBody>
          <a:bodyPr wrap="square">
            <a:spAutoFit/>
          </a:bodyPr>
          <a:lstStyle/>
          <a:p>
            <a:pPr algn="ctr">
              <a:lnSpc>
                <a:spcPct val="115000"/>
              </a:lnSpc>
            </a:pPr>
            <a:r>
              <a:rPr sz="1150" b="1" i="0">
                <a:solidFill>
                  <a:srgbClr val="F8FAFC"/>
                </a:solidFill>
                <a:latin typeface="Arial"/>
              </a:rPr>
              <a:t>Validation Accuracy</a:t>
            </a:r>
          </a:p>
        </p:txBody>
      </p:sp>
      <p:sp>
        <p:nvSpPr>
          <p:cNvPr id="9" name="Rectangle 8"/>
          <p:cNvSpPr/>
          <p:nvPr/>
        </p:nvSpPr>
        <p:spPr>
          <a:xfrm>
            <a:off x="2880360" y="2560320"/>
            <a:ext cx="1965960" cy="1234440"/>
          </a:xfrm>
          <a:prstGeom prst="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80360" y="2651760"/>
            <a:ext cx="1965960" cy="594360"/>
          </a:xfrm>
          <a:prstGeom prst="rect">
            <a:avLst/>
          </a:prstGeom>
          <a:noFill/>
        </p:spPr>
        <p:txBody>
          <a:bodyPr wrap="square">
            <a:spAutoFit/>
          </a:bodyPr>
          <a:lstStyle/>
          <a:p>
            <a:pPr algn="ctr">
              <a:lnSpc>
                <a:spcPct val="115000"/>
              </a:lnSpc>
            </a:pPr>
            <a:r>
              <a:rPr sz="2600" b="1" i="0">
                <a:solidFill>
                  <a:srgbClr val="10B981"/>
                </a:solidFill>
                <a:latin typeface="Arial"/>
              </a:rPr>
              <a:t>0.9955</a:t>
            </a:r>
          </a:p>
        </p:txBody>
      </p:sp>
      <p:sp>
        <p:nvSpPr>
          <p:cNvPr id="11" name="TextBox 10"/>
          <p:cNvSpPr txBox="1"/>
          <p:nvPr/>
        </p:nvSpPr>
        <p:spPr>
          <a:xfrm>
            <a:off x="2880360" y="3246120"/>
            <a:ext cx="1965960" cy="457200"/>
          </a:xfrm>
          <a:prstGeom prst="rect">
            <a:avLst/>
          </a:prstGeom>
          <a:noFill/>
        </p:spPr>
        <p:txBody>
          <a:bodyPr wrap="square">
            <a:spAutoFit/>
          </a:bodyPr>
          <a:lstStyle/>
          <a:p>
            <a:pPr algn="ctr">
              <a:lnSpc>
                <a:spcPct val="115000"/>
              </a:lnSpc>
            </a:pPr>
            <a:r>
              <a:rPr sz="1150" b="1" i="0">
                <a:solidFill>
                  <a:srgbClr val="F8FAFC"/>
                </a:solidFill>
                <a:latin typeface="Arial"/>
              </a:rPr>
              <a:t>Mean AUC-ROC</a:t>
            </a:r>
          </a:p>
        </p:txBody>
      </p:sp>
      <p:sp>
        <p:nvSpPr>
          <p:cNvPr id="12" name="Rectangle 11"/>
          <p:cNvSpPr/>
          <p:nvPr/>
        </p:nvSpPr>
        <p:spPr>
          <a:xfrm>
            <a:off x="5029200" y="2560320"/>
            <a:ext cx="1965960" cy="1234440"/>
          </a:xfrm>
          <a:prstGeom prst="rect">
            <a:avLst/>
          </a:prstGeom>
          <a:solidFill>
            <a:srgbClr val="1E293B"/>
          </a:solidFill>
          <a:ln w="2540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0" y="2651760"/>
            <a:ext cx="1965960" cy="594360"/>
          </a:xfrm>
          <a:prstGeom prst="rect">
            <a:avLst/>
          </a:prstGeom>
          <a:noFill/>
        </p:spPr>
        <p:txBody>
          <a:bodyPr wrap="square">
            <a:spAutoFit/>
          </a:bodyPr>
          <a:lstStyle/>
          <a:p>
            <a:pPr algn="ctr">
              <a:lnSpc>
                <a:spcPct val="115000"/>
              </a:lnSpc>
            </a:pPr>
            <a:r>
              <a:rPr sz="2600" b="1" i="0">
                <a:solidFill>
                  <a:srgbClr val="FACC15"/>
                </a:solidFill>
                <a:latin typeface="Arial"/>
              </a:rPr>
              <a:t>97.87%</a:t>
            </a:r>
          </a:p>
        </p:txBody>
      </p:sp>
      <p:sp>
        <p:nvSpPr>
          <p:cNvPr id="14" name="TextBox 13"/>
          <p:cNvSpPr txBox="1"/>
          <p:nvPr/>
        </p:nvSpPr>
        <p:spPr>
          <a:xfrm>
            <a:off x="5029200" y="3246120"/>
            <a:ext cx="1965960" cy="457200"/>
          </a:xfrm>
          <a:prstGeom prst="rect">
            <a:avLst/>
          </a:prstGeom>
          <a:noFill/>
        </p:spPr>
        <p:txBody>
          <a:bodyPr wrap="square">
            <a:spAutoFit/>
          </a:bodyPr>
          <a:lstStyle/>
          <a:p>
            <a:pPr algn="ctr">
              <a:lnSpc>
                <a:spcPct val="115000"/>
              </a:lnSpc>
            </a:pPr>
            <a:r>
              <a:rPr sz="1150" b="1" i="0">
                <a:solidFill>
                  <a:srgbClr val="F8FAFC"/>
                </a:solidFill>
                <a:latin typeface="Arial"/>
              </a:rPr>
              <a:t>Macro F1-Score</a:t>
            </a:r>
          </a:p>
        </p:txBody>
      </p:sp>
      <p:sp>
        <p:nvSpPr>
          <p:cNvPr id="15" name="Rectangle 14"/>
          <p:cNvSpPr/>
          <p:nvPr/>
        </p:nvSpPr>
        <p:spPr>
          <a:xfrm>
            <a:off x="7178040" y="2560320"/>
            <a:ext cx="1965960" cy="1234440"/>
          </a:xfrm>
          <a:prstGeom prst="rect">
            <a:avLst/>
          </a:prstGeom>
          <a:solidFill>
            <a:srgbClr val="1E293B"/>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78040" y="2651760"/>
            <a:ext cx="1965960" cy="594360"/>
          </a:xfrm>
          <a:prstGeom prst="rect">
            <a:avLst/>
          </a:prstGeom>
          <a:noFill/>
        </p:spPr>
        <p:txBody>
          <a:bodyPr wrap="square">
            <a:spAutoFit/>
          </a:bodyPr>
          <a:lstStyle/>
          <a:p>
            <a:pPr algn="ctr">
              <a:lnSpc>
                <a:spcPct val="115000"/>
              </a:lnSpc>
            </a:pPr>
            <a:r>
              <a:rPr sz="2600" b="1" i="0">
                <a:solidFill>
                  <a:srgbClr val="A855F7"/>
                </a:solidFill>
                <a:latin typeface="Arial"/>
              </a:rPr>
              <a:t>17 Views</a:t>
            </a:r>
          </a:p>
        </p:txBody>
      </p:sp>
      <p:sp>
        <p:nvSpPr>
          <p:cNvPr id="17" name="TextBox 16"/>
          <p:cNvSpPr txBox="1"/>
          <p:nvPr/>
        </p:nvSpPr>
        <p:spPr>
          <a:xfrm>
            <a:off x="7178040" y="3246120"/>
            <a:ext cx="1965960" cy="457200"/>
          </a:xfrm>
          <a:prstGeom prst="rect">
            <a:avLst/>
          </a:prstGeom>
          <a:noFill/>
        </p:spPr>
        <p:txBody>
          <a:bodyPr wrap="square">
            <a:spAutoFit/>
          </a:bodyPr>
          <a:lstStyle/>
          <a:p>
            <a:pPr algn="ctr">
              <a:lnSpc>
                <a:spcPct val="115000"/>
              </a:lnSpc>
            </a:pPr>
            <a:r>
              <a:rPr sz="1150" b="1" i="0">
                <a:solidFill>
                  <a:srgbClr val="F8FAFC"/>
                </a:solidFill>
                <a:latin typeface="Arial"/>
              </a:rPr>
              <a:t>Radiomics Web Suite</a:t>
            </a:r>
          </a:p>
        </p:txBody>
      </p:sp>
      <p:sp>
        <p:nvSpPr>
          <p:cNvPr id="18" name="Rectangle 17"/>
          <p:cNvSpPr/>
          <p:nvPr/>
        </p:nvSpPr>
        <p:spPr>
          <a:xfrm>
            <a:off x="9326880" y="2560320"/>
            <a:ext cx="1965960" cy="1234440"/>
          </a:xfrm>
          <a:prstGeom prst="rect">
            <a:avLst/>
          </a:prstGeom>
          <a:solidFill>
            <a:srgbClr val="1E293B"/>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0" y="2651760"/>
            <a:ext cx="1965960" cy="594360"/>
          </a:xfrm>
          <a:prstGeom prst="rect">
            <a:avLst/>
          </a:prstGeom>
          <a:noFill/>
        </p:spPr>
        <p:txBody>
          <a:bodyPr wrap="square">
            <a:spAutoFit/>
          </a:bodyPr>
          <a:lstStyle/>
          <a:p>
            <a:pPr algn="ctr">
              <a:lnSpc>
                <a:spcPct val="115000"/>
              </a:lnSpc>
            </a:pPr>
            <a:r>
              <a:rPr sz="2600" b="1" i="0">
                <a:solidFill>
                  <a:srgbClr val="F43F5E"/>
                </a:solidFill>
                <a:latin typeface="Arial"/>
              </a:rPr>
              <a:t>72.7%</a:t>
            </a:r>
          </a:p>
        </p:txBody>
      </p:sp>
      <p:sp>
        <p:nvSpPr>
          <p:cNvPr id="20" name="TextBox 19"/>
          <p:cNvSpPr txBox="1"/>
          <p:nvPr/>
        </p:nvSpPr>
        <p:spPr>
          <a:xfrm>
            <a:off x="9326880" y="3246120"/>
            <a:ext cx="1965960" cy="457200"/>
          </a:xfrm>
          <a:prstGeom prst="rect">
            <a:avLst/>
          </a:prstGeom>
          <a:noFill/>
        </p:spPr>
        <p:txBody>
          <a:bodyPr wrap="square">
            <a:spAutoFit/>
          </a:bodyPr>
          <a:lstStyle/>
          <a:p>
            <a:pPr algn="ctr">
              <a:lnSpc>
                <a:spcPct val="115000"/>
              </a:lnSpc>
            </a:pPr>
            <a:r>
              <a:rPr sz="1150" b="1" i="0">
                <a:solidFill>
                  <a:srgbClr val="F8FAFC"/>
                </a:solidFill>
                <a:latin typeface="Arial"/>
              </a:rPr>
              <a:t>Error Pre-Detection</a:t>
            </a:r>
          </a:p>
        </p:txBody>
      </p:sp>
      <p:sp>
        <p:nvSpPr>
          <p:cNvPr id="21" name="TextBox 20"/>
          <p:cNvSpPr txBox="1"/>
          <p:nvPr/>
        </p:nvSpPr>
        <p:spPr>
          <a:xfrm>
            <a:off x="731520" y="4069080"/>
            <a:ext cx="10515600" cy="457200"/>
          </a:xfrm>
          <a:prstGeom prst="rect">
            <a:avLst/>
          </a:prstGeom>
          <a:noFill/>
        </p:spPr>
        <p:txBody>
          <a:bodyPr wrap="square">
            <a:spAutoFit/>
          </a:bodyPr>
          <a:lstStyle/>
          <a:p>
            <a:pPr algn="ctr">
              <a:lnSpc>
                <a:spcPct val="115000"/>
              </a:lnSpc>
            </a:pPr>
            <a:r>
              <a:rPr sz="1600" b="0" i="1">
                <a:solidFill>
                  <a:srgbClr val="F8FAFC"/>
                </a:solidFill>
                <a:latin typeface="Arial"/>
              </a:rPr>
              <a:t>We welcome all technical questions from the evaluators regarding model architecture, attention mathematics, and XAI inferences.</a:t>
            </a:r>
          </a:p>
        </p:txBody>
      </p:sp>
      <p:sp>
        <p:nvSpPr>
          <p:cNvPr id="22" name="Rectangle 21"/>
          <p:cNvSpPr/>
          <p:nvPr/>
        </p:nvSpPr>
        <p:spPr>
          <a:xfrm>
            <a:off x="2560320" y="4617720"/>
            <a:ext cx="7040880" cy="914400"/>
          </a:xfrm>
          <a:prstGeom prst="rect">
            <a:avLst/>
          </a:prstGeom>
          <a:solidFill>
            <a:srgbClr val="33415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651760" y="4709160"/>
            <a:ext cx="6858000" cy="365760"/>
          </a:xfrm>
          <a:prstGeom prst="rect">
            <a:avLst/>
          </a:prstGeom>
          <a:noFill/>
        </p:spPr>
        <p:txBody>
          <a:bodyPr wrap="square">
            <a:spAutoFit/>
          </a:bodyPr>
          <a:lstStyle/>
          <a:p>
            <a:pPr algn="ctr">
              <a:lnSpc>
                <a:spcPct val="115000"/>
              </a:lnSpc>
            </a:pPr>
            <a:r>
              <a:rPr sz="1600" b="1" i="0">
                <a:solidFill>
                  <a:srgbClr val="10B981"/>
                </a:solidFill>
                <a:latin typeface="Arial"/>
              </a:rPr>
              <a:t>🔗 Live Diagnostic System Demo Available Online</a:t>
            </a:r>
          </a:p>
        </p:txBody>
      </p:sp>
      <p:sp>
        <p:nvSpPr>
          <p:cNvPr id="24" name="TextBox 23"/>
          <p:cNvSpPr txBox="1"/>
          <p:nvPr/>
        </p:nvSpPr>
        <p:spPr>
          <a:xfrm>
            <a:off x="2651760" y="5074920"/>
            <a:ext cx="6858000" cy="532903"/>
          </a:xfrm>
          <a:prstGeom prst="rect">
            <a:avLst/>
          </a:prstGeom>
          <a:noFill/>
        </p:spPr>
        <p:txBody>
          <a:bodyPr wrap="square">
            <a:spAutoFit/>
          </a:bodyPr>
          <a:lstStyle/>
          <a:p>
            <a:pPr algn="ctr">
              <a:lnSpc>
                <a:spcPct val="115000"/>
              </a:lnSpc>
            </a:pPr>
            <a:r>
              <a:rPr lang="en-IN" sz="1300" dirty="0">
                <a:solidFill>
                  <a:srgbClr val="F8FAFC"/>
                </a:solidFill>
                <a:latin typeface="Arial"/>
              </a:rPr>
              <a:t>https://qngol-202-88-252-190.run.pinggy-free.link/</a:t>
            </a:r>
            <a:r>
              <a:rPr sz="1300" b="0" i="0" dirty="0">
                <a:solidFill>
                  <a:srgbClr val="F8FAFC"/>
                </a:solidFill>
                <a:latin typeface="Arial"/>
              </a:rPr>
              <a:t>  |  Public URL Active via Secure HTTPS </a:t>
            </a:r>
            <a:r>
              <a:rPr sz="1300" b="0" i="0" dirty="0" err="1">
                <a:solidFill>
                  <a:srgbClr val="F8FAFC"/>
                </a:solidFill>
                <a:latin typeface="Arial"/>
              </a:rPr>
              <a:t>Pinggy</a:t>
            </a:r>
            <a:r>
              <a:rPr sz="1300" b="0" i="0" dirty="0">
                <a:solidFill>
                  <a:srgbClr val="F8FAFC"/>
                </a:solidFill>
                <a:latin typeface="Arial"/>
              </a:rPr>
              <a:t> Tunnel</a:t>
            </a:r>
          </a:p>
        </p:txBody>
      </p:sp>
      <p:sp>
        <p:nvSpPr>
          <p:cNvPr id="25" name="TextBox 24"/>
          <p:cNvSpPr txBox="1"/>
          <p:nvPr/>
        </p:nvSpPr>
        <p:spPr>
          <a:xfrm>
            <a:off x="731520" y="6080760"/>
            <a:ext cx="10515600" cy="365760"/>
          </a:xfrm>
          <a:prstGeom prst="rect">
            <a:avLst/>
          </a:prstGeom>
          <a:noFill/>
        </p:spPr>
        <p:txBody>
          <a:bodyPr wrap="square">
            <a:spAutoFit/>
          </a:bodyPr>
          <a:lstStyle/>
          <a:p>
            <a:pPr algn="ctr">
              <a:lnSpc>
                <a:spcPct val="115000"/>
              </a:lnSpc>
            </a:pPr>
            <a:r>
              <a:rPr sz="1300" b="0" i="0">
                <a:solidFill>
                  <a:srgbClr val="CBD5E1"/>
                </a:solidFill>
                <a:latin typeface="Arial"/>
              </a:rPr>
              <a:t>NeuroVision Diagnostic System  ·  Final Semester Project Evaluation  ·  Team 8 Deliverable Suite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5963</Words>
  <Application>Microsoft Office PowerPoint</Application>
  <PresentationFormat>Custom</PresentationFormat>
  <Paragraphs>559</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9ramanathan@gmail.com</cp:lastModifiedBy>
  <cp:revision>3</cp:revision>
  <dcterms:created xsi:type="dcterms:W3CDTF">2013-01-27T09:14:16Z</dcterms:created>
  <dcterms:modified xsi:type="dcterms:W3CDTF">2026-07-25T12:03:43Z</dcterms:modified>
  <cp:category/>
</cp:coreProperties>
</file>