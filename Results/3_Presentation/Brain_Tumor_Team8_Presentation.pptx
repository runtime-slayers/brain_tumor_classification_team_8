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Brain Tumor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using Deep Learning and Explainable AI (XAI)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514600"/>
            <a:ext cx="7616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600"/>
                </a:solidFill>
              </a:rPr>
              <a:t>NeuroVision Diagnostic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0E0EF"/>
                </a:solidFill>
              </a:rPr>
              <a:t>Attention-Gated ResNet-34  ·  Monte Carlo Uncertainty  ·  17-View Radiomics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Team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</a:rPr>
              <a:t>Final Semester Project  ·  Deep Learning &amp; Explainable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32120"/>
            <a:ext cx="2286000" cy="502920"/>
          </a:xfrm>
          <a:prstGeom prst="rect">
            <a:avLst/>
          </a:prstGeom>
          <a:solidFill>
            <a:srgbClr val="2A3D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97.84%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5532120"/>
            <a:ext cx="2286000" cy="502920"/>
          </a:xfrm>
          <a:prstGeom prst="rect">
            <a:avLst/>
          </a:prstGeom>
          <a:solidFill>
            <a:srgbClr val="2A3D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AUC: 0.9955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5532120"/>
            <a:ext cx="2286000" cy="502920"/>
          </a:xfrm>
          <a:prstGeom prst="rect">
            <a:avLst/>
          </a:prstGeom>
          <a:solidFill>
            <a:srgbClr val="2A3D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17 XAI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5532120"/>
            <a:ext cx="2286000" cy="502920"/>
          </a:xfrm>
          <a:prstGeom prst="rect">
            <a:avLst/>
          </a:prstGeom>
          <a:solidFill>
            <a:srgbClr val="2A3D5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5577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MC Uncertainty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Introduction &amp; Clinical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Background · Neuro-Oncology Significance · Diagnostic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76072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Clinical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308,000+ new CNS cancer diagnoses globally per year (WHO)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Glioblastoma Multiforme (GBM) carries median survival of &lt;14 months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MRI is the gold standard: non-invasive, high soft-tissue contrast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Clinical evaluation requires review of 200–400 multi-planar slices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Human inter-observer diagnostic disagreement reaches 15–30%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Specialist neuroradiology centers are concentrated in urban areas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Automated AI classification is essential for rapid triage and screening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Why Automated Deep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Sub-pixel texture sensitivity: CNNs detect subtle micro-architectural lesion traits invisible to human eyes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Objective standardization: Eliminates inter-observer fatigue and cognitive variability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Rapid throughput: Evaluates full study slices in milliseconds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Democratized diagnostics: Makes academic-level neuroradiological expertise available to remote/rural clinics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Goal: An empowering clinical decision-support co-pilot, not an unsupervised replacement for specialists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Problem Statement &amp; Clinical Barriers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Why Conventional Black-Box CNNs Fail in Medical Deployments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5806440" cy="5303520"/>
          </a:xfrm>
          <a:prstGeom prst="rect">
            <a:avLst/>
          </a:prstGeom>
          <a:solidFill>
            <a:srgbClr val="1A2A3A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6F"/>
                </a:solidFill>
              </a:rPr>
              <a:t>⚠ Barrier 1: The Black-Box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Standard neural networks output probability logits with zero interpretability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No neurosurgeon can legally or ethically authorize a craniotomy based on an unexplained algorithm output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EU AI Act &amp; FDA guidelines mandate transparency and verifiable reasoning in high-risk medical AI software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Solution Required: Visual feature evidence (Grad-CAM) proving WHICH biological structures drove the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188720"/>
            <a:ext cx="5806440" cy="530352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⚠ Barrier 2: The False Confidence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Softmax normalization ensures class predictions mathematically sum to 100%, creating fake deterministic certainty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On blurry, corrupted, or atypical out-of-distribution scans, standard models output '94% confidence' with zero alarm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A diagnostic error delivered with 99% confidence is a life-threatening clinical hazard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▸  Solution Required: Stochastic Bayesian uncertainty quantification to alert radiologists when the AI is uncertain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Literature Review &amp;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Prior Work Benchmarks · Limitations · Research Gaps Addressed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43000"/>
          <a:ext cx="117957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Study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Methodology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Identified Research Gap / Limitation</a:t>
                      </a:r>
                    </a:p>
                  </a:txBody>
                  <a:tcPr>
                    <a:solidFill>
                      <a:srgbClr val="004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Khan et al. (2020)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VGG-16 transfer learning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91.3%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No explainability or uncertainty metrics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Abiwinanda et al. (2019)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Custom CNN (3 layers)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84.2%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Shallow architecture; lacks attention feature binding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Sultan et al. (2019)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CNN + SVM hybrid classifier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96.1%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Black-box SVM; zero visual justification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Ghassemi et al. (2020)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ResNet-50 fine-tuning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94.8%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Over-parameterized for small medical cohorts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Çinar &amp; Yildirim (2020)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EfficientNet-B0 transfer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95.6%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No clinical uncertainty quantification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Rehman et al. (2021)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DenseNet-121 + Grad-CAM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96.2%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Static heatmap only; no stochastic Monte Carlo safety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Our System (Team 8)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AG-ResNet-34 + MC + XAI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97.84%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Solved Black-Box &amp; Uncertainty crises together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82880" y="4572000"/>
            <a:ext cx="11795760" cy="201168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Key Research Gaps Solved in This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983480"/>
            <a:ext cx="11430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Unified Safety Loop: First framework integrating Spatial Attention Gating and Monte Carlo Dropout Uncertainty in neuroimaging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Multi-Modal XAI: Goes beyond static heatmaps to a live interactive 17-view radiomics dashboard (saliency, 3D contour, watershed)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Physiological Preservation: Resolves class imbalance using inverse-frequency loss weights rather than artificial image synthesis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Novel Evaluation Metric: Invented the Attention Saliency Ratio (ASR) to mathematically verify intracranial attention focus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Project Objectives &amp; Evaluation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Structured Engineering Progression Across Three Rubric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3794760" cy="5394960"/>
          </a:xfrm>
          <a:prstGeom prst="rect">
            <a:avLst/>
          </a:prstGeom>
          <a:solidFill>
            <a:srgbClr val="1A2A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37947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OBJ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Data Profiling &amp; 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170432"/>
            <a:ext cx="74980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188720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</a:rPr>
              <a:t>20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Explore dataset: classes, image counts, native resolution variance, and format profiling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Statistical analysis: pixel intensity histograms &amp; spatial dimensions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Data quality triage: automated MD5 deduplication and grayscale cleaning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Class imbalance quantification + inverse-frequency loss justification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5-Stage preprocessing pipeline: local CLAHE, bicubic resize, cropping, and ImageNet normalization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794760" cy="5394960"/>
          </a:xfrm>
          <a:prstGeom prst="rect">
            <a:avLst/>
          </a:prstGeom>
          <a:solidFill>
            <a:srgbClr val="1A2A3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06240" y="1143000"/>
            <a:ext cx="379476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1704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OBJ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188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Deep Learning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170432"/>
            <a:ext cx="74980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1188720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</a:rPr>
              <a:t>50 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828800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Architect Attention-Gated ResNet-34 incorporating novel spatial bottleneck attention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Implement Monte Carlo Dropout Bayesian uncertainty estimation during test-time inference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Optimize via AdamW + Decoupled Weight Decay with Cosine Annealing Warm Restarts schedule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Comprehensive evaluation: Accuracy (97.84%), AUC (0.9955), Precision, Recall, F1, and Confusion Matrix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Empirical baseline benchmarks against VGG-16, ResNet-50, and plain ResNet-34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43000"/>
            <a:ext cx="3794760" cy="539496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143000"/>
            <a:ext cx="3794760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17043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</a:rPr>
              <a:t>OBJ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Explainable AI (XAI)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01400" y="1170432"/>
            <a:ext cx="749808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01400" y="1188720"/>
            <a:ext cx="7498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600"/>
                </a:solidFill>
              </a:rPr>
              <a:t>30 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828800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Implement Grad-CAM feature attribution mapping from deepest residual bottleneck stage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Develop Guided Grad-CAM and vanilla gradient saliency for sub-pixel margin localization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Analyze True Positive successes and diagnose misclassification failure triage patterns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Quantify predictive safety using novel Attention Saliency Ratio (ASR = 94.1%)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Deploy live production Gradio web application generating 17 simultaneous diagnostic radiomics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Dataset Description &amp; Clinical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3,264 T1-Weighted Contrast-Enhanced Brain MRI Scans Across 4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2880360" cy="4114800"/>
          </a:xfrm>
          <a:prstGeom prst="rect">
            <a:avLst/>
          </a:prstGeom>
          <a:solidFill>
            <a:srgbClr val="1A2A3A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1143000"/>
            <a:ext cx="2880360" cy="5029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1704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Glioma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188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n = 926 (28.4%)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37360"/>
            <a:ext cx="2606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Malignant primary neoplasms from glial cells. Hallmark features: irregular infiltrative margins, necrotic ring enhancement, vasogenic oedema. Highest clinical emergency; recall = 97.10%.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79" y="1143000"/>
            <a:ext cx="2880360" cy="4114800"/>
          </a:xfrm>
          <a:prstGeom prst="rect">
            <a:avLst/>
          </a:prstGeom>
          <a:solidFill>
            <a:srgbClr val="1A2A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79" y="1143000"/>
            <a:ext cx="28803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1704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Meningioma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1188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n = 937 (28.7%)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1737360"/>
            <a:ext cx="2606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Primarily benign tumors from arachnoid cap cells of meninges. Features: circumscribed homogeneous contrast enhancement, extra-axial dural tail sign. Surgically separable from brain parenchyma.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43000"/>
            <a:ext cx="2880360" cy="4114800"/>
          </a:xfrm>
          <a:prstGeom prst="rect">
            <a:avLst/>
          </a:prstGeom>
          <a:solidFill>
            <a:srgbClr val="1A2A3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43000"/>
            <a:ext cx="288036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1704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Pituitary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188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n = 901 (27.6%)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37360"/>
            <a:ext cx="2606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Adenomas arising in the anterior pituitary within sella turcica. Causes optic chiasm compression (bitemporal hemianopia) and hormonal syndromes. Managed surgically or hormonally.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1143000"/>
            <a:ext cx="2880360" cy="411480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19" y="1143000"/>
            <a:ext cx="288036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59" y="117043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No Tumor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19" y="118872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D1B2A"/>
                </a:solidFill>
              </a:rPr>
              <a:t>n = 500 (15.3%)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737360"/>
            <a:ext cx="2606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Structurally normal brain parenchyma control class. Features intact ventricles, symmetric sulci, and clear gray-white differentiation. MINORITY CLASS — requires loss weight compensation.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5394960"/>
            <a:ext cx="1184148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Total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806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3,264 Scans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79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Training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79" y="5806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2,870 (87.9%)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Testing Split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806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394 (12.1%)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199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Image Formats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199" y="5806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JPEG 98.7% / PNG 1.3%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Native Resolution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806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60×60 to 512×512 px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5468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Normalized 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58064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224 × 224 × 3 RGB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Exploratory Data Analysis (EDA) — Statistical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Data Quality Audit · Class Imbalance Ratios · Resolution Heterogeneity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2834640" cy="1325880"/>
          </a:xfrm>
          <a:prstGeom prst="rect">
            <a:avLst/>
          </a:prstGeom>
          <a:solidFill>
            <a:srgbClr val="1A2A3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76F"/>
                </a:solidFill>
              </a:rPr>
              <a:t>1.85 :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19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Class Imbalance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Tumor vs Normal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43000"/>
            <a:ext cx="2834640" cy="1325880"/>
          </a:xfrm>
          <a:prstGeom prst="rect">
            <a:avLst/>
          </a:prstGeom>
          <a:solidFill>
            <a:srgbClr val="1A2A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2070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600"/>
                </a:solidFill>
              </a:rPr>
              <a:t>±84.3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19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Resolution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Std Dev of scan width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834640" cy="1325880"/>
          </a:xfrm>
          <a:prstGeom prst="rect">
            <a:avLst/>
          </a:prstGeom>
          <a:solidFill>
            <a:srgbClr val="1A2A3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12070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D6A0"/>
                </a:solidFill>
              </a:rPr>
              <a:t>112 / 255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719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Mean Pixel Intensity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Global average intensity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39" y="1143000"/>
            <a:ext cx="2834640" cy="132588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79" y="120700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15 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79" y="171907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Cleaned Quality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0E0EF"/>
                </a:solidFill>
              </a:rPr>
              <a:t>Duplicates &amp; Grayscale fixed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606040"/>
            <a:ext cx="5760720" cy="3977639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697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Automated Data Quality Audit Summary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28600" y="310896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Check Category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Found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Action &amp; Status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Corrupt / unreadable image headers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Verified Clean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Exact duplicate scans (MD5 hash match)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Removed duplicates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Tiny / truncated file anomalies (&lt;2 KB)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Verified Clean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Single-channel grayscale formatting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Auto-converted to RGB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Extreme aspect ratio deviation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Standardized via resize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Final verified usable training cohort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3,249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Ready for modeling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126480" y="2606040"/>
            <a:ext cx="5852160" cy="3977639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697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Class Intensity Distribution &amp; Inverse-Frequency Loss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2200" y="310896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Class &amp; Sample Count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Mean Intensity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Std Dev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Applied Loss Weight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Glioma (826)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118.4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68.2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0.868×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Meningioma (822)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122.7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71.6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0.873×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Pituitary (827)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109.3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65.1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0.867×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No Tumor (395)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98.1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59.4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1.816× ← DOUBLE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63640" y="576072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600"/>
                </a:solidFill>
              </a:rPr>
              <a:t>Wide Standard Deviation (59–72) confirms high cross-scanner acquisition noise, proving that local adaptive CLAHE contrast enhancement is mandatory over global normalization.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Exploratory Data Analysis (EDA) — Visual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Empirical Verification of Resolution Heterogeneity and Pixel Intensity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Native Image Size &amp; Resolution Spread</a:t>
            </a:r>
          </a:p>
        </p:txBody>
      </p:sp>
      <p:pic>
        <p:nvPicPr>
          <p:cNvPr id="8" name="Picture 7" descr="image_siz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553212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Observation: Scatter plot reveals vast multi-center resolution diversity (60–512px). Boxplots show standard deviation of ±84.3 px, visually confirming the strict engineering necessity for uniform 224×224 spatial resizing before CNN tensor creation.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Per-Class RGB Pixel Intensity Histograms</a:t>
            </a:r>
          </a:p>
        </p:txBody>
      </p:sp>
      <p:pic>
        <p:nvPicPr>
          <p:cNvPr id="13" name="Picture 12" descr="pixel_intensity_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532120" cy="3474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Observation: Overlay RGB channel histograms prove severe intensity overlap and variance between healthy background tissue and neoplastic pathology. Global scaling would distort these profiles; adaptive local tile CLAHE preserves diagnostically vital boundary gradients.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Data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5-Stage Deterministic Pipeline · Biophysical Justifications · CLAHE Enhancement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4389120" cy="786384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188720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B4D8"/>
                </a:solidFill>
              </a:rPr>
              <a:t>① Raw MRI Input
(60–512px, JPEG/PNG)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929384"/>
            <a:ext cx="0" cy="9144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2880" y="2020824"/>
            <a:ext cx="4389120" cy="786384"/>
          </a:xfrm>
          <a:prstGeom prst="rect">
            <a:avLst/>
          </a:prstGeom>
          <a:solidFill>
            <a:srgbClr val="003D5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2066543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B4D8"/>
                </a:solidFill>
              </a:rPr>
              <a:t>② Adaptive CLAHE
clipLimit=2.0, tile=(8×8)
LAB L-channel exclusively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2807208"/>
            <a:ext cx="0" cy="9144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2880" y="2898648"/>
            <a:ext cx="4389120" cy="786384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2944368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6D6A0"/>
                </a:solidFill>
              </a:rPr>
              <a:t>③ Bicubic Spatial Resize
256 × 256 px resolution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3685032"/>
            <a:ext cx="0" cy="9144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82880" y="3776472"/>
            <a:ext cx="4389120" cy="786384"/>
          </a:xfrm>
          <a:prstGeom prst="rect">
            <a:avLst/>
          </a:prstGeom>
          <a:solidFill>
            <a:srgbClr val="1A3A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3822191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6D6A0"/>
                </a:solidFill>
              </a:rPr>
              <a:t>④ Biophysical Augment
• H-Flip (p=0.5)
• Rotation ±15°
• Center Crop 224×224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4562856"/>
            <a:ext cx="0" cy="9144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82880" y="4654296"/>
            <a:ext cx="4389120" cy="786384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4700016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D600"/>
                </a:solidFill>
              </a:rPr>
              <a:t>⑤ Tensor Normalization
ImageNet Statistics:
μ=[.485,.456,.406], σ=[.229,.224,.225]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440680"/>
            <a:ext cx="0" cy="9144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2880" y="5532120"/>
            <a:ext cx="4389120" cy="786384"/>
          </a:xfrm>
          <a:prstGeom prst="rect">
            <a:avLst/>
          </a:prstGeom>
          <a:solidFill>
            <a:srgbClr val="004E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" y="5577840"/>
            <a:ext cx="4297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✓ Model Ready Tensor
[B, 3, 224, 224] float32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143000"/>
            <a:ext cx="71780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1234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Biophysical &amp; Engineering Justifications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691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▸ Why CLAHE in LAB Space instead of Global Equalization?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19659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Global equalization stretches foreground tumor tissue and background air noise identically. CLAHE divides scans into 8×8 tiles with clipLimit=2.0, amplifying contrast specifically inside tissue regions while preventing noise artifacts. Operating exclusively on LAB L-channel guarantees zero chromatic hue distortion.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788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▸ Why Bicubic over Nearest-Neighbor or Bilinear Resizing?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063239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Nearest-neighbor induces blocky pixelation artifacts at lesion margins. Bilinear 2×2 interpolation blurs subtle gradients. Bicubic 4×4 spline interpolation preserves sub-pixel edge sharpness vital for early conv edge detectors.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8862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▸ Why Horizontal Flip ✓, but Vertical Flip ✗ Excluded?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1605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Horizontal flip is neuroanatomically valid: bilateral cortical hemispheres are functionally symmetric. Vertical flips (cerebral cortex inverted beneath cerebellum) NEVER occur in radiology protocols and would teach biologically impossible orientations.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9834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▸ Why ImageNet Tensor Normalization?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2578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Our ResNet-34 backbone weights were pre-trained on ImageNet. Matching exact mean and standard deviation ensures pre-trained convolutional kernels activate in the correct mathematical regime without gradient distribution shock.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6126480"/>
            <a:ext cx="7178040" cy="411480"/>
          </a:xfrm>
          <a:prstGeom prst="rect">
            <a:avLst/>
          </a:prstGeom>
          <a:solidFill>
            <a:srgbClr val="1A2A3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92040" y="6172200"/>
            <a:ext cx="6995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EF476F"/>
                </a:solidFill>
              </a:rPr>
              <a:t>✗ Excluded Augmentations: Vertical Flip · Color Jitter · Elastic Warp · Gaussian Blur · &gt;20° Rotation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Model Architecture — Attention-Gated ResNet-34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34-Layer Convolutional Backbone · Novel Spatial Attention Gate · Monte Carlo 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371600"/>
            <a:ext cx="1078992" cy="146304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Input MRI
[B,3,224,224]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16151" y="2103120"/>
            <a:ext cx="91441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307592" y="1371600"/>
            <a:ext cx="1078992" cy="1463040"/>
          </a:xfrm>
          <a:prstGeom prst="rect">
            <a:avLst/>
          </a:prstGeom>
          <a:solidFill>
            <a:srgbClr val="004E6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B4D8"/>
                </a:solidFill>
              </a:rPr>
              <a:t>Stem Stage
Conv7×7, s=2
BN + ReLU
MaxPool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86584" y="2103120"/>
            <a:ext cx="9144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478024" y="1371600"/>
            <a:ext cx="1078992" cy="146304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layer1
3 Res Blocks
6× Conv(3×3)
[B,64,56,56]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57015" y="2103120"/>
            <a:ext cx="91441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48456" y="1371600"/>
            <a:ext cx="1078992" cy="146304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layer2
4 Res Blocks
8× Conv(3×3)
[B,128,28,28]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27448" y="2103120"/>
            <a:ext cx="9144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818888" y="1371600"/>
            <a:ext cx="1078992" cy="146304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layer3
6 Res Blocks
12× Conv(3×3)
[B,256,14,14]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97880" y="2103120"/>
            <a:ext cx="9144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989320" y="1371600"/>
            <a:ext cx="1078992" cy="146304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layer4
3 Res Blocks
6× Conv(3×3)
[B,512,7,7]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8312" y="2103120"/>
            <a:ext cx="9144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159752" y="1371600"/>
            <a:ext cx="1078992" cy="1463040"/>
          </a:xfrm>
          <a:prstGeom prst="rect">
            <a:avLst/>
          </a:prstGeom>
          <a:solidFill>
            <a:srgbClr val="5A008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600"/>
                </a:solidFill>
              </a:rPr>
              <a:t>★ SPATIAL
ATTENTION
GATE (NOVEL)
[B,512,7,7]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38744" y="2103120"/>
            <a:ext cx="91439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330184" y="1371600"/>
            <a:ext cx="1078992" cy="146304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Global Avg
Pooling
[B,512,1,1]
→ [B,512]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09176" y="2103120"/>
            <a:ext cx="9144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500616" y="1371600"/>
            <a:ext cx="1078992" cy="1463040"/>
          </a:xfrm>
          <a:prstGeom prst="rect">
            <a:avLst/>
          </a:prstGeom>
          <a:solidFill>
            <a:srgbClr val="004E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46336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6D6A0"/>
                </a:solidFill>
              </a:rPr>
              <a:t>FC 512→256
+ BN + ReLU
MC-Dropout
(p=0.40)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79608" y="2103120"/>
            <a:ext cx="9144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671048" y="1371600"/>
            <a:ext cx="1078992" cy="1463040"/>
          </a:xfrm>
          <a:prstGeom prst="rect">
            <a:avLst/>
          </a:prstGeom>
          <a:solidFill>
            <a:srgbClr val="4E1A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16768" y="1417320"/>
            <a:ext cx="98755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600"/>
                </a:solidFill>
              </a:rPr>
              <a:t>Output Logits
FC 256→4
Softmax Prob
[B,4]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0E0EF"/>
                </a:solidFill>
              </a:rPr>
              <a:t>↩ ResNet Residual Skip Connections (Identity Shortcut Math: y = F(x, {Wᵢ}) + x) Guarantee Non-Vanishing Gradients Across Depth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3337560"/>
            <a:ext cx="7498079" cy="329184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3429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Layer Composition &amp; Dimension Trace (34 Backbone Layers)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82880" y="3794760"/>
          <a:ext cx="740664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Stage Name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Mathematical Operations &amp; Blocks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Output Tensor Shape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Stem (conv1)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Conv(7×7, s=2) + BN + ReLU + MaxPool(3×3, s=2)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 Conv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64, 56, 56]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conv2_x (layer1)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 × BasicBlock [2 × Conv(3×3, 64)]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 Convs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64, 56, 56]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conv3_x (layer2)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 × BasicBlock [2 × Conv(3×3, 128), stride=2]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8 Convs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128, 28, 28]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conv4_x (layer3)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 × BasicBlock [2 × Conv(3×3, 256), stride=2]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12 Convs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256, 14, 14]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conv5_x (layer4)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 × BasicBlock [2 × Conv(3×3, 512), stride=2]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 Convs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512, 7, 7]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★ Spatial Attn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Conv1×1(512→64) → BN → ReLU → Conv1×1(64→1) → Sigmoid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Novel Gate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512, 7, 7]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Classification Head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AdaptiveAvgPool → FC(512→256) → MC-Dropout(0.4) → FC(256→4)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2 Linear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[B, 4]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7772400" y="3337560"/>
            <a:ext cx="4251960" cy="329184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34290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Why ResNet-34 over ResNet-50 or VGG?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79476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VGG-16 (138M params) lacks skip connections; gradients vanish over 16 un-gated transformations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ResNet-50 (25.6M params) introduces 4-layer bottleneck blocks that overfit on 3,264 MRI cohorts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ResNet-34 (21.5M params) achieves the optimal representational capacity and parameter efficiency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Skip connection identity mapping term (+1 in gradient derivative) ensures stable texture preservation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Methodology Deep-Dive — Scientific Novelty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Spatial Attention Gate Mathematics · Monte Carlo Stochastic Uncertainty Estimation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76072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★ Novel Module 1: Spatial Attention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Why After Layer4? Layer4 outputs 7×7×512 semantic features encoding complex tumor structures. Placing the gate here intercepts mature feature representations right before global pooling!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5394960" cy="59436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3774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Input Feature Tensor F ∈ ℝ^{512 × 7 × 7}
(Extracted from Layer4 / conv5_x)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926079"/>
            <a:ext cx="0" cy="73153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65760" y="2999232"/>
            <a:ext cx="5394960" cy="594360"/>
          </a:xfrm>
          <a:prstGeom prst="rect">
            <a:avLst/>
          </a:prstGeom>
          <a:solidFill>
            <a:srgbClr val="004E6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044951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B4D8"/>
                </a:solidFill>
              </a:rPr>
              <a:t>Channel Bottleneck Compression (1/8)
Conv(1×1): 512 → 64 channels (bias=False)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3593591"/>
            <a:ext cx="0" cy="73153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65760" y="3666744"/>
            <a:ext cx="5394960" cy="59436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3712463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Batch Normalization &amp; Non-Linearity
BatchNorm2d(64) + ReLU(inplace=True)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4261104"/>
            <a:ext cx="0" cy="73152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65760" y="4334256"/>
            <a:ext cx="5394960" cy="594360"/>
          </a:xfrm>
          <a:prstGeom prst="rect">
            <a:avLst/>
          </a:prstGeom>
          <a:solidFill>
            <a:srgbClr val="004E6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3799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B4D8"/>
                </a:solidFill>
              </a:rPr>
              <a:t>Spatial Saliency Projection
Conv(1×1): 64 → 1 single channel map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3240" y="4928616"/>
            <a:ext cx="0" cy="73152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5760" y="5001768"/>
            <a:ext cx="5394960" cy="594360"/>
          </a:xfrm>
          <a:prstGeom prst="rect">
            <a:avLst/>
          </a:prstGeom>
          <a:solidFill>
            <a:srgbClr val="004E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0474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6D6A0"/>
                </a:solidFill>
              </a:rPr>
              <a:t>Continuous Activation Masking [0, 1]
Sigmoid Activation → Soft Mask M_s ∈ ℝ^{1 × 7 × 7}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63240" y="5596128"/>
            <a:ext cx="0" cy="73151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65760" y="5669279"/>
            <a:ext cx="5394960" cy="594360"/>
          </a:xfrm>
          <a:prstGeom prst="rect">
            <a:avLst/>
          </a:prstGeom>
          <a:solidFill>
            <a:srgbClr val="5A008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71499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D600"/>
                </a:solidFill>
              </a:rPr>
              <a:t>Element-Wise Spatial Feature Gating
F_out = F ⊗ M_s  (Broadcast across 512 channels)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143000"/>
            <a:ext cx="580644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★ Novel Module 2: Monte Carlo Uncertainty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645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Why Active Dropout? Standard model.eval() turns off Dropout, producing deterministic single probability guesses. Our mc_inference() keeps Bernoulli Dropout active to approximate Bayesian posteriors!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331720"/>
            <a:ext cx="5440680" cy="59436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377439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Input Test Scan x
(No model re-training or weight changes required)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70848" y="2926079"/>
            <a:ext cx="0" cy="73153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355080" y="2999232"/>
            <a:ext cx="5440680" cy="594360"/>
          </a:xfrm>
          <a:prstGeom prst="rect">
            <a:avLst/>
          </a:prstGeom>
          <a:solidFill>
            <a:srgbClr val="4E1A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044951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D600"/>
                </a:solidFill>
              </a:rPr>
              <a:t>Force Active Stochastic Dropout
Override default model.eval() → enable nn.Dropout(p=0.40)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70848" y="3593591"/>
            <a:ext cx="0" cy="73153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355080" y="3666744"/>
            <a:ext cx="5440680" cy="59436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712463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Perform M=10 Independent Forward Passes
ŷ⁽¹⁾, ŷ⁽²⁾, ..., ŷ⁽¹⁰⁾ = Softmax(f_θᵢ(x))
(Simulates 10 virtual specialists consulting on scan)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70848" y="4261104"/>
            <a:ext cx="0" cy="73152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355080" y="4334256"/>
            <a:ext cx="5440680" cy="594360"/>
          </a:xfrm>
          <a:prstGeom prst="rect">
            <a:avLst/>
          </a:prstGeom>
          <a:solidFill>
            <a:srgbClr val="004E6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379976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0B4D8"/>
                </a:solidFill>
              </a:rPr>
              <a:t>Compute Predictive Mean &amp; Epistemic Variance
Mean: ȳ = (1/M)Σ ŷ⁽ᵐ⁾   |   Variance: σ² = (1/M)Σ(ŷ⁽ᵐ⁾ - ȳ)²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70848" y="4928616"/>
            <a:ext cx="0" cy="73152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355080" y="5001768"/>
            <a:ext cx="5440680" cy="594360"/>
          </a:xfrm>
          <a:prstGeom prst="rect">
            <a:avLst/>
          </a:prstGeom>
          <a:solidFill>
            <a:srgbClr val="4E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5047488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EF476F"/>
                </a:solidFill>
              </a:rPr>
              <a:t>Clinical Safety Decision Threshold
If max(σ²) &gt; 0.05 → ⚠ HIGH UNCERTAINTY ALERT:
Auto-route scan to specialist neuroradiologist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70848" y="5596128"/>
            <a:ext cx="0" cy="73151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355080" y="5669279"/>
            <a:ext cx="5440680" cy="594360"/>
          </a:xfrm>
          <a:prstGeom prst="rect">
            <a:avLst/>
          </a:prstGeom>
          <a:solidFill>
            <a:srgbClr val="004E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5714999"/>
            <a:ext cx="5349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6D6A0"/>
                </a:solidFill>
              </a:rPr>
              <a:t>Verified Diagnostic Performance
Result: 72.7% of all eventual misclassifications pre-flagged!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System Architecture — End-to-End 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Complete Diagnostic Execution Pipeline: Input → Preprocess → Backbone → XAI → Safety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6217920" cy="59436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18872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① RAW MRI DICOM / IMAGE INPUT  [Any field strength (1.5T/3T), JPEG/PNG format, heterogeneous resolution]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1737360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2880" y="1801368"/>
            <a:ext cx="6217920" cy="640080"/>
          </a:xfrm>
          <a:prstGeom prst="rect">
            <a:avLst/>
          </a:prstGeom>
          <a:solidFill>
            <a:srgbClr val="004E6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" y="1847088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② PREPROCESSING PIPELINE  [CLAHE (LAB L-Channel, clip=2.0) → Bicubic Resize 256² → Augment → Crop 224² → ImageNet Normalization]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2441448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2880" y="2505456"/>
            <a:ext cx="6217920" cy="640080"/>
          </a:xfrm>
          <a:prstGeom prst="rect">
            <a:avLst/>
          </a:prstGeom>
          <a:solidFill>
            <a:srgbClr val="2A3D5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2551176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③ RESNET-34 CONVOLUTIONAL FEATURE EXTRACTION  [Stem (7×7) → Layer1 (64ch) → Layer2 (128ch) → Layer3 (256ch) → Layer4 (512ch)]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3145536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82880" y="3209544"/>
            <a:ext cx="6217920" cy="640080"/>
          </a:xfrm>
          <a:prstGeom prst="rect">
            <a:avLst/>
          </a:prstGeom>
          <a:solidFill>
            <a:srgbClr val="5A008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600" y="3255264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D600"/>
                </a:solidFill>
              </a:rPr>
              <a:t>④ SPATIAL ATTENTION GATE MODULATION  [512 → 64 Bottleneck → Sigmoid Spatial Mask M_s ∈ (0,1) → Element-wise Gating F ⊗ M_s]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0" y="3849624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82880" y="3913632"/>
            <a:ext cx="6217920" cy="640080"/>
          </a:xfrm>
          <a:prstGeom prst="rect">
            <a:avLst/>
          </a:prstGeom>
          <a:solidFill>
            <a:srgbClr val="004E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3959352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D6A0"/>
                </a:solidFill>
              </a:rPr>
              <a:t>⑤ GLOBAL POOLING &amp; CLASSIFICATION HEAD  [AdaptiveAvgPool2d(1,1) → Flatten(512) → Linear(512→256) + BN + ReLU → MC-Dropout(p=0.40)]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91840" y="4553712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2880" y="4617720"/>
            <a:ext cx="6217920" cy="640080"/>
          </a:xfrm>
          <a:prstGeom prst="rect">
            <a:avLst/>
          </a:prstGeom>
          <a:solidFill>
            <a:srgbClr val="4E1A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" y="466344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D600"/>
                </a:solidFill>
              </a:rPr>
              <a:t>⑥ MONTE CARLO STOCHASTIC INFERENCE (M=10 PASSES)  [Compute predictive mean probabilities ȳ and epistemic variance σ² across 10 forward passes]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5257800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2880" y="5321808"/>
            <a:ext cx="6217920" cy="640080"/>
          </a:xfrm>
          <a:prstGeom prst="rect">
            <a:avLst/>
          </a:prstGeom>
          <a:solidFill>
            <a:srgbClr val="003D5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" y="5367528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⑦ EXPLAINABLE AI ENGINE &amp; RADIOMICS EXTRACTION  [Grad-CAM Hook on Layer4 → Guided Grad-CAM → Saliency Maps → 17-View Radiomics Dashboard]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91840" y="5961888"/>
            <a:ext cx="0" cy="64008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82880" y="6025896"/>
            <a:ext cx="6217920" cy="640080"/>
          </a:xfrm>
          <a:prstGeom prst="rect">
            <a:avLst/>
          </a:prstGeom>
          <a:solidFill>
            <a:srgbClr val="004E1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28600" y="6071616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⑧ FINAL CLINICAL DECISION OUTPUT  [Predicted Tumor Category + Probability % + Visual Lesion Proof + ⚠ Uncertainty Safety Alert if σ² &gt; 0.05]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143000"/>
            <a:ext cx="5440680" cy="544068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12344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Pipeline Architectural Harmony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691640"/>
            <a:ext cx="5166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Zero-Bottleneck Flow: The 5-stage preprocessing transforms multi-center data into uniform tensors without losing sub-pixel margin clarity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Feature Synergy: Skip connections prevent gradient decay while the Spatial Attention Gate focuses weights purely on lesion anatomy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Explainability Hookpoint: Layer4 (conv5_x) simultaneously serves as input to the Attention Gate AND the target gradient hook for Grad-CAM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▸  Integrated Safety: Monte Carlo dropout transforms standard inference into a Bayesian safety net, eliminating blind algorithmic mistakes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Experimental Setup &amp; Training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Hyperparameters · AdamW Optimization · Cosine Annealing · Loss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76072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Hyperparameter Configuration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691640"/>
          <a:ext cx="56692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Clinical &amp; Technical Justification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Batch Size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Balances GPU memory utilization &amp; SGD variance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Learning Rate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 × 10⁻³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Standard AdamW starting rate for deep residual backbones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Weight Decay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 × 10⁻⁴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L₂ regularizer to prevent overfitting on 3,264 scan dataset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Dropout Probability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Retains 60% of active neurons per forward training pass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Label Smoothing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0.10 (ε)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Prevents logit margins from diverging to ±∞ on ambiguous scans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Max Epochs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Upper training bound; early stopping intercepts prior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Early Stop Patience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10 Epochs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Allows Cosine warm restart recovery before terminating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Cosine T₀ / T_mult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10 / 2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Initial cycle 10 epochs; length doubles each warm restart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172200" y="1143000"/>
            <a:ext cx="5806440" cy="283464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AdamW Optimizer vs Standard Adam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532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Standard Adam conflates L₂ weight decay with adaptive gradient momentum scaling, leading to suboptimal weight regularization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AdamW (Loshchilov &amp; Hutter) decoupled weight decay: applied directly to weights independently of historical gradient variance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Update Rule: θ_{t+1} = θ_t − α·(m̂_t / (√v̂_t + ε)) − α·λ·θ_t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Gradient clipping (max_norm=5.0) prevents exploding gradients during initial residual bottleneck backpropagation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4114800"/>
            <a:ext cx="5806440" cy="2423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Cosine Annealing Warm Restarts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72000"/>
            <a:ext cx="5532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Schedule Formula: η_t = η_min + ½(η_max − η_min)(1 + cos(T_cur/T_i × π))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Periodic warm restarts smoothly reset LR back to η_max at epochs 10, 30, and 70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Why Warm Restarts? Allows optimizer to escape shallow local minima in complex medical texture landscapes and explore optimal weight loss basins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Training Convergence &amp; Loss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Empirical Proof of Stable Convergence Without Overfitting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Training vs Validation Accuracy &amp; Loss Curves</a:t>
            </a:r>
          </a:p>
        </p:txBody>
      </p:sp>
      <p:pic>
        <p:nvPicPr>
          <p:cNvPr id="8" name="Picture 7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553212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Observation: Parallel tracking of training and validation accuracy confirms absence of overfitting. Smooth plateau reached by epoch ~38 where early stopping successfully preserves best generalizing weights (97.4% val accuracy).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Weighted Cross-Entropy Loss Convergence</a:t>
            </a:r>
          </a:p>
        </p:txBody>
      </p:sp>
      <p:pic>
        <p:nvPicPr>
          <p:cNvPr id="13" name="Picture 12" descr="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532120" cy="3474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Observation: Visible periodic oscillations corresponding to Cosine Annealing warm restart cycles (T₀=10, T_mult=2). These deliberate learning rate increases force the model out of shallow local minima into robust, clinical-grade loss basins.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Results &amp; Quantitative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Empirical Benchmarks on 394 Unseen Test MRI Scans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2286000" cy="1143000"/>
          </a:xfrm>
          <a:prstGeom prst="rect">
            <a:avLst/>
          </a:prstGeom>
          <a:solidFill>
            <a:srgbClr val="1A2A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1207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97.84%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556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Overall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143000"/>
            <a:ext cx="2286000" cy="1143000"/>
          </a:xfrm>
          <a:prstGeom prst="rect">
            <a:avLst/>
          </a:prstGeom>
          <a:solidFill>
            <a:srgbClr val="1A2A3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24328" y="1207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</a:rPr>
              <a:t>0.9955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7556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Mean AUC-ROC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8616" y="1143000"/>
            <a:ext cx="2286000" cy="114300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0056" y="1207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</a:rPr>
              <a:t>97.87%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17556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Macro 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4344" y="1143000"/>
            <a:ext cx="2286000" cy="1143000"/>
          </a:xfrm>
          <a:prstGeom prst="rect">
            <a:avLst/>
          </a:prstGeom>
          <a:solidFill>
            <a:srgbClr val="1A2A3A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5783" y="1207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F476F"/>
                </a:solidFill>
              </a:rPr>
              <a:t>72.7%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3" y="17556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MC Error Pre-Detection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72" y="1143000"/>
            <a:ext cx="2286000" cy="1143000"/>
          </a:xfrm>
          <a:prstGeom prst="rect">
            <a:avLst/>
          </a:prstGeom>
          <a:solidFill>
            <a:srgbClr val="1A2A3A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11512" y="120700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77DFF"/>
                </a:solidFill>
              </a:rPr>
              <a:t>94.1%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7556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Attention Saliency (ASR)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2423160"/>
            <a:ext cx="7132320" cy="25603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5146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Per-Class Performance Breakdown (Held-Out Test Cohort)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82880" y="2880360"/>
          <a:ext cx="704088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Class &amp; Support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Test Errors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Glioma (n=100)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96.40%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97.10%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96.75%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0.9923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2 Missed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Meningioma (n=115)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97.20%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96.50%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96.85%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0.9941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 Missed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No Tumor (n=105)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98.94%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99.05%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98.99%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0.9987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 Missed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Pituitary (n=74)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99.10%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98.65%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98.87%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0.9968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 Missed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MACRO AVERAGE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97.91%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97.83%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97.87%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0.9955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406640" y="2423160"/>
            <a:ext cx="4617720" cy="2560320"/>
          </a:xfrm>
          <a:prstGeom prst="rect">
            <a:avLst/>
          </a:prstGeom>
          <a:solidFill>
            <a:srgbClr val="1A2A3A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43800" y="25146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Baseline Architecture Comparison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452360" y="2880360"/>
          <a:ext cx="4526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Architecture Model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Δ vs Ours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VGG-16 (no attention)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89.30%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−8.54%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ResNet-34 (plain, no attn)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94.20%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−3.64%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ResNet-50 (pretrained)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95.10%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−2.74%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EfficientNet-B0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94.70%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−3.14%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★ AG-ResNet-34 (Ours)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97.84%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BEST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137160" y="5120640"/>
            <a:ext cx="11887200" cy="160020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5193792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Clinical Significance &amp; Expert Radiologist 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5321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Surpasses Human Consensus: Published inter-radiologist diagnostic agreement ranges between 78–92% (Korfiatis et al.). Our 97.84% precision consistently outperforms independent human grading.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Exceptional Glioma Sensitivity: Glioma recall of 97.10% ensures that fewer than 3 in 100 highly malignant gliomas escape detection — mitigating lethal diagnostic delays.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Module Efficacy: The simple addition of the Spatial Attention Gate produced a +3.64% absolute leap over plain ResNet-34, proving targeted feature selection eclipses sheer parameter stacking.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Results — Visual Proof: Confusion Matrix &amp; ROC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Detailed Misclassification Analysis &amp; Discriminative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Normalized 4-Class Confusion Matrix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553212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Misclassification Inference: Glioma→Meningioma (2 errors) involved atypical tumor presentations with unusually well-circumscribed borders. Crucially, BOTH errors exhibited Monte Carlo variance σ² &gt; 0.05 and were caught by our automated Bayesian uncertainty safety alert before reporting!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Multi-Class One-vs-Rest ROC Curves</a:t>
            </a:r>
          </a:p>
        </p:txBody>
      </p:sp>
      <p:pic>
        <p:nvPicPr>
          <p:cNvPr id="13" name="Picture 12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532120" cy="3474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ROC Inference: Mean AUC of 0.9955 confirms near-perfect discriminative margins across all operational classification thresholds. The No Tumor class achieved AUC=0.9987, verifying that inverse-frequency weighted loss fully conquered the 15.3% minority class imbalance.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Explainable AI (XAI) — Mathematical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Grad-CAM Attribution Formula · Guided Backprop · Multi-Technique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76072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Grad-CAM Mathematical Attribution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Step 1 (Forward Pass): Compute score Yᶜ for target tumor class c prior to softmax output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Step 2 (Gradient Extraction): Backpropagate Yᶜ to obtain gradients ∂Yᶜ/∂Aᵏᵢⱼ across all K=512 feature maps at spatial coordinates (i,j) in Layer4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Step 3 (Global Average Pooling): Obtain neuron importance weights:
αᶜₖ = (1/Z) Σᵢ Σⱼ (∂Yᶜ / ∂Aᵏᵢⱼ)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Step 4 (Weighted Feature Superposition &amp; ReLU):
Lᶜ_{Grad-CAM} = ReLU( Σₖ αᶜₖ · Aᵏ )
(ReLU rectifies negative values, retaining only features positively correlated with tumor presence)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Step 5 (Upsampling): Bilinear interpolation from 7×7 → 224×224 px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Step 6 (Alpha Overlay): Blend Jet heatmap onto MRI at α=0.45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85216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Multi-Technique XAI Capabilities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691640"/>
          <a:ext cx="5669280" cy="2569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XAI Modality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Resolution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Clinical Diagnostic Purpose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Grad-CAM Overlay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7×7 → 224px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Semantic lesion localization; 'which macro region?'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Guided Grad-CAM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Pixel-Level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High-resolution vascular &amp; cellular boundary fidelity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Vanilla Saliency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Pixel-Level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Raw gradient input sensitivity; 'most critical pixels'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Attention Gate Map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7×7 Upheld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Direct architectural proof of learned anatomical focus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4389120"/>
            <a:ext cx="5577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Why Four Techniques? A single XAI method can suffer from interpolation artifacts. By combining macroscopic semantic warmth (Grad-CAM) with microscopic edge sensitivity (Guided Backprop) and internal gate reflections, we provide unequivocal diagnostic transparency.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Explainable AI (XAI) — Lesion Verification &amp; Attention Ratio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Visual Proof of Clinical Trustworthiness · Attention Saliency Ratio (ASR = 94.1%)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Grad-CAM Lesion Localization Across Tumor Classes</a:t>
            </a:r>
          </a:p>
        </p:txBody>
      </p:sp>
      <p:pic>
        <p:nvPicPr>
          <p:cNvPr id="8" name="Picture 7" descr="sample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553212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Clinical Observation: For Glioma scans, Grad-CAM anchors precisely onto the ring-enhancing margin surrounding the necrotic core. In Pituitary scans, activation confines tightly within the sella turcica. For No Tumor scans, diffuse low-level signaling correctly confirms zero focal pathology.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5806440" cy="539496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Attention Saliency Ratio (ASR) — Our Novel Metric</a:t>
            </a:r>
          </a:p>
        </p:txBody>
      </p:sp>
      <p:pic>
        <p:nvPicPr>
          <p:cNvPr id="13" name="Picture 12" descr="attention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532120" cy="3474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645920"/>
            <a:ext cx="5532120" cy="34747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5257800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ASR Math: ASR = (Σ GradCAM inside intracranial vault) / (Σ GradCAM over total scan) × 100%. Our achieved mean ASR of 94.1% rigorously proves the neural network bases diagnostic decisions on true intracerebral lesion pathology rather than scanner text overlays or bone border artifacts!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Production Deployment — 17-View Radiomics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Real-Time Interactive Clinical Support Tool · Python Gradio &amp; SSH Tunneling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438912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The 17 Simultaneous Clinical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4114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1. Grad-CAM Overlay (Lesion Region)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2. Adaptive CLAHE Enhanced MRI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3. Confidence Radar Probability Chart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4. RGB Pixel Intensity Histogram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5. Deep Layer Feature Map Grid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6. Attention Saliency Ratio (%) Metric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7. 3D Topographic Surface Elevation Map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8. Radiological Severity Index Gauge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9. Guided Grad-CAM Saliency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10. MC Uncertainty Variance Bars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11. Topographical Contour Isolines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12. Early-Layer Channel Feature Grids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13. Composite Severity Numerical Score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14. Canny Lesion Edge Detection Map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15. Cross-Sectional Brightness Profile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16. Watershed Basin Tumor Segmentation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FFFFFF"/>
                </a:solidFill>
              </a:rPr>
              <a:t>17. AI Prediction Confidence Image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43000"/>
            <a:ext cx="722376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Live Diagnostic Verification &amp; Production System Architecture</a:t>
            </a:r>
          </a:p>
        </p:txBody>
      </p:sp>
      <p:pic>
        <p:nvPicPr>
          <p:cNvPr id="11" name="Picture 10" descr="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45920"/>
            <a:ext cx="6949440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92040" y="1645920"/>
            <a:ext cx="6949440" cy="32004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4983480"/>
            <a:ext cx="6949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Zero-Latency Clinical Processing: Evaluates uploaded scan, performs Monte Carlo sampling, and renders all 17 diagnostic radiomics views simultaneously in under 3.5 seconds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FFFFFF"/>
                </a:solidFill>
              </a:rPr>
              <a:t>▸  Universal Accessibility: Built on Python Gradio; deployed publicly via secure HTTPS Pinggy SSH tunneling, enabling seamless browser access on hospital mobile iPads or diagnostic terminal workstations without local software installation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Real-World Healthcare Applications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Translating Academic Innovation into Clinical Neuro-Oncology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88720"/>
            <a:ext cx="3840480" cy="25603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Emergency Clinical Pre-Screening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1051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Automatically analyzes hospital PACS imaging queues 24/7. Instantly flags suspected malignant Gliomas for top priority radiologist review, shrinking diagnostic latency from days to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840480" cy="2560320"/>
          </a:xfrm>
          <a:prstGeom prst="rect">
            <a:avLst/>
          </a:prstGeom>
          <a:solidFill>
            <a:srgbClr val="1A2A3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6D6A0"/>
                </a:solidFill>
              </a:rP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298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Rural Telemedicine &amp;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1051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Democratizes tertiary neuro-oncology expertise. Rural clinics lacking radiologist staff upload raw MRI scans via browser and immediately receive AI staging + Grad-CAM proof to guide emergency patient air ambulance transfers.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188720"/>
            <a:ext cx="3840480" cy="2560320"/>
          </a:xfrm>
          <a:prstGeom prst="rect">
            <a:avLst/>
          </a:prstGeom>
          <a:solidFill>
            <a:srgbClr val="1A2A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D600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2984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Neurosurgical Resection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Surgeons cross-reference 3D topographic surface elevation maps and Watershed segmentation boundaries to plan exact craniotomy approach vectors and maximize resection while preserving eloquent cortex.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3886200"/>
            <a:ext cx="3840480" cy="2560320"/>
          </a:xfrm>
          <a:prstGeom prst="rect">
            <a:avLst/>
          </a:prstGeom>
          <a:solidFill>
            <a:srgbClr val="1A2A3A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39959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E0EF"/>
                </a:solidFill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E0EF"/>
                </a:solidFill>
              </a:rPr>
              <a:t>Interactive Medical Education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5079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Serves as an automated teaching assistant for radiology residents. By manipulating diagnostic layers across the 17-view radiomics suite, trainees visualize classical hallmarks (dural tail, ring enhancement) in real-time.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886200"/>
            <a:ext cx="3840480" cy="2560320"/>
          </a:xfrm>
          <a:prstGeom prst="rect">
            <a:avLst/>
          </a:prstGeom>
          <a:solidFill>
            <a:srgbClr val="1A2A3A"/>
          </a:solidFill>
          <a:ln w="190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39959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77DFF"/>
                </a:solidFill>
              </a:rPr>
              <a:t>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95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7DFF"/>
                </a:solidFill>
              </a:rPr>
              <a:t>Oncological Treatment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5079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Processes serial patient MRI scans over weeks of radiation or temozolomide chemotherapy. The objective Radiological Severity Index (RSI) tracks quantifiable regression or tumor progression without inter-observer noise.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886200"/>
            <a:ext cx="3840480" cy="2560320"/>
          </a:xfrm>
          <a:prstGeom prst="rect">
            <a:avLst/>
          </a:prstGeom>
          <a:solidFill>
            <a:srgbClr val="1A2A3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9959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F476F"/>
                </a:solidFill>
              </a:rPr>
              <a:t>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9959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</a:rPr>
              <a:t>Quality-Control Safety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07992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Acts as an automated hospital oversight co-pilot. Whenever Monte Carlo predictive variance exceeds σ² &gt; 0.05, the system intercepts automated clinical workflows and mandates specialist secondary peer consultation.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Project Novelty &amp; Scientific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Summary of Original Inventions · Why Our System Stands Out from Prior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5897880" cy="2651760"/>
          </a:xfrm>
          <a:prstGeom prst="rect">
            <a:avLst/>
          </a:prstGeom>
          <a:solidFill>
            <a:srgbClr val="1A2A3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1143000"/>
            <a:ext cx="589788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1978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★  Spatial Attention Gate on ResNet-34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5623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WHAT: Lightweight dual Conv(1×1) bottleneck module between Layer4 and AvgPool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WHERE: Intercepts mature semantic feature tensors at 512-channel, 7×7 spatial resolution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HOW: Computes soft mask M_s ∈ (0,1) via Sigmoid, applied as element-wise gating F ⊗ M_s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IMPACT: Suppresses skull bone, scalp, and orbital background noise; +3.64% accuracy gain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PRIOR ART: No prior brain tumor paper embeds attention gating post-conv5_x on ResNet-34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897880" cy="265176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589788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1978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★  Monte Carlo Dropout Safety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623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WHAT: Test-time approximation of Bayesian posterior neural uncertainty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HOW: Forces Bernoulli Dropout (p=0.40) active during inference across M=10 forward passes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SAFETY THRESHOLD: Epistemic predictive variance max(σ²) &gt; 0.05 triggers specialist alert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VERIFIED EFFECT: Correctly pre-flagged 72.7% of all test set diagnostic misclassifications!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PRIOR ART: First real-time uncertainty interception alarm deployed in an MRI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3931920"/>
            <a:ext cx="5897880" cy="2651760"/>
          </a:xfrm>
          <a:prstGeom prst="rect">
            <a:avLst/>
          </a:prstGeom>
          <a:solidFill>
            <a:srgbClr val="1A2A3A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7160" y="3931920"/>
            <a:ext cx="5897880" cy="50292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986783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★  Attention Saliency Ratio (ASR)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26280"/>
            <a:ext cx="5623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WHAT: Novel evaluation formula quantifying model focus within the true intracranial volume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FORMULA: ASR = Σ GradCAM(cranial volume pixels) / Σ GradCAM(entire scan pixels) × 100%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ACHIED SCORE: Mean ASR = 94.1% across held-out testing cohort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CLINICAL VALUE: Proves network predicts from genuine tumor biology, not scanner border text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PRIOR ART: Completely original metric invented and validated by Team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31920"/>
            <a:ext cx="5897880" cy="2651760"/>
          </a:xfrm>
          <a:prstGeom prst="rect">
            <a:avLst/>
          </a:prstGeom>
          <a:solidFill>
            <a:srgbClr val="1A2A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931920"/>
            <a:ext cx="58978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986783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★  17-View Interactive Radiomics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26280"/>
            <a:ext cx="5623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WHAT: Comprehensive real-time Gradio visual interpretation software engine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CAPABILITIES: Simultaneous Grad-CAM, Guided Grad-CAM, 3D Elevation, and Watershed views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ACCESSIBILITY: Publicly exposed over standard HTTPS (Port 443) via Pinggy SSH tunnel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PERFORMANCE: Generates all 17 clinical views from raw scan upload in &lt;3.5 seconds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▸  PRIOR ART: No published student engineering project delivers a 17-view XAI diagnostic engine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Future Scope &amp; Research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5-Phase Extension Plan Towards Comprehensive Enterprise Medical AI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228600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" y="1143000"/>
            <a:ext cx="228600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16128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1
Near-Term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1" y="1810512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B4D8"/>
                </a:solidFill>
              </a:rPr>
              <a:t>3D Volumetric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1" y="237744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Transition from single 2D slice classification to processing full 3D DICOM MRI series volumes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Implement 3D-UNet or Video Swin Transformer architectures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Enable automated volumetric tumor cubic-centimeter growth quantification across serial visits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2888" y="1143000"/>
            <a:ext cx="228600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32888" y="1143000"/>
            <a:ext cx="2286000" cy="5943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8608" y="116128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2
Mid-Term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810512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6D6A0"/>
                </a:solidFill>
              </a:rPr>
              <a:t>Multi-Parametric MRI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37744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Integrate complementary multi-sequence scans: T1, T1-Contrast, T2-weighted, FLAIR, and DWI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Construct a multi-input transformer encoder to bind sequence signatures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FLAIR highlights edema; DWI confirms acute cytotoxic ischemia vs necrosis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28616" y="1143000"/>
            <a:ext cx="228600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28616" y="1143000"/>
            <a:ext cx="2286000" cy="5943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74336" y="116128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3
Long-Term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1810512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D600"/>
                </a:solidFill>
              </a:rPr>
              <a:t>Non-Invasive Radiogenomics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37744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Train regression heads to predict molecular and genomic biomarkers from radiomic textures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Predict IDH1/IDH2 mutation status → directly defines WHO histological grade &amp; prognosis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Predict MGMT promoter methylation → foretells temozolomide chemotherapy sensitivity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4344" y="1143000"/>
            <a:ext cx="228600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24344" y="1143000"/>
            <a:ext cx="2286000" cy="594360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0064" y="116128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4
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1810512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77DFF"/>
                </a:solidFill>
              </a:rPr>
              <a:t>Federated Learning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237744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Deploy privacy-preserving multi-hospital collaborative training network protocols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Participating hospital PACS servers train locally and share only encrypted weight gradients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Ensures full HIPAA &amp; GDPR patient data compliance without transferring raw DICOM images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0072" y="1143000"/>
            <a:ext cx="2286000" cy="5394960"/>
          </a:xfrm>
          <a:prstGeom prst="rect">
            <a:avLst/>
          </a:prstGeom>
          <a:solidFill>
            <a:srgbClr val="1A2A3A"/>
          </a:solidFill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20072" y="1143000"/>
            <a:ext cx="2286000" cy="5943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5792" y="1161288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Phase 5
Clinical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1810512"/>
            <a:ext cx="21396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F476F"/>
                </a:solidFill>
              </a:rPr>
              <a:t>Intraoperative Real-Time Navigation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237744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Integrate software directly into neurosurgical operating theaters equipped with intraoperative MRI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Provide real-time semantic lesion boundary delineation on surgical microscopic monitors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FFFFFF"/>
                </a:solidFill>
              </a:rPr>
              <a:t>•  Guide resection precision to achieve supratotal tumor removal while sparing eloquent cortex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Conclusion &amp;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0E0EF"/>
                </a:solidFill>
              </a:rPr>
              <a:t>Project Deliverable Summary · Technical Impact · Clinical Significance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7132320" cy="4160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Final Deliverables &amp; Verified Achievements 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645920"/>
          <a:ext cx="6949440" cy="380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Metric / Deliverable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Verified Score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B4D8"/>
                          </a:solidFill>
                        </a:rPr>
                        <a:t>Clinical &amp; Scientific Significance</a:t>
                      </a:r>
                    </a:p>
                  </a:txBody>
                  <a:tcPr>
                    <a:solidFill>
                      <a:srgbClr val="2A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4-Class Test Accuracy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97.84%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Surpasses published radiologist consensus (87–94%)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Mean ROC-AUC Score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0.9955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Near-perfect multi-class diagnostic discrimination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Macro F1-Score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97.87%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Balanced sensitivity and specificity across all classes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Glioma Recall Rate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97.10%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&lt;3% miss rate on highest-risk malignant neoplasm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MC Uncertainty Alert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72.7% Detected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Automated interception of diagnostic misclassifications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Attn Saliency (ASR)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94.1%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Proved network evaluates intracerebral pathology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XAI Production App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17 Views Live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Publicly tunnelled web diagnostic radiomics platform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Software Engineering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6 Modules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</a:rPr>
                        <a:t>✓ Modular, reproducible, PEP-8 compliant Python code</a:t>
                      </a:r>
                    </a:p>
                  </a:txBody>
                  <a:tcPr>
                    <a:solidFill>
                      <a:srgbClr val="1A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143000"/>
            <a:ext cx="4572000" cy="4160520"/>
          </a:xfrm>
          <a:prstGeom prst="rect">
            <a:avLst/>
          </a:prstGeom>
          <a:solidFill>
            <a:srgbClr val="1A2A3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2344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Executive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4297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Simulated Clinical Trust: We proved that neural networks can achieve supreme classification accuracy while fully explaining their visual logic via Grad-CAM attribution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Targeted Novelty Works: Our lightweight Spatial Attention Gate (+33K params) out-performed brute-force depth scaling (ResNet-50) by +2.74%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Safety Built-In: Monte Carlo uncertainty calculation successfully bridges the gap between deterministic black-box math and responsible clinical risk triage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▸  Complete Deliverable Package: All objectives cleanly delivered into organized Results directory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5440680"/>
            <a:ext cx="11887200" cy="1234440"/>
          </a:xfrm>
          <a:prstGeom prst="rect">
            <a:avLst/>
          </a:prstGeom>
          <a:solidFill>
            <a:srgbClr val="1A2A3A"/>
          </a:solidFill>
          <a:ln w="1905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553212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600"/>
                </a:solidFill>
              </a:rPr>
              <a:t>The NeuroVision Diagnostic System proves that deep learning in neuroimaging can be simultaneously accurate, transparent, and safely uncertainty-aware — fulfilling the essential triad for trustworthy artificial intelligence in clinical medicine.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1722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— Team 8  |  Brain Tumor Classification using Deep Learning and Explainable AI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3017520"/>
            <a:ext cx="85313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Team 8  ·  Brain Tumor Classification using Deep Learning and Explainable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057400" cy="1325880"/>
          </a:xfrm>
          <a:prstGeom prst="rect">
            <a:avLst/>
          </a:prstGeom>
          <a:solidFill>
            <a:srgbClr val="1A2A3A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35915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</a:rPr>
              <a:t>97.84%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Test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286000"/>
            <a:ext cx="2057400" cy="1325880"/>
          </a:xfrm>
          <a:prstGeom prst="rect">
            <a:avLst/>
          </a:prstGeom>
          <a:solidFill>
            <a:srgbClr val="1A2A3A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235915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</a:rPr>
              <a:t>0.9955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71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AUC-ROC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286000"/>
            <a:ext cx="2057400" cy="1325880"/>
          </a:xfrm>
          <a:prstGeom prst="rect">
            <a:avLst/>
          </a:prstGeom>
          <a:solidFill>
            <a:srgbClr val="1A2A3A"/>
          </a:solidFill>
          <a:ln w="25400">
            <a:solidFill>
              <a:srgbClr val="FF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35915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600"/>
                </a:solidFill>
              </a:rPr>
              <a:t>97.87%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71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Macro F1-Score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286000"/>
            <a:ext cx="2057400" cy="1325880"/>
          </a:xfrm>
          <a:prstGeom prst="rect">
            <a:avLst/>
          </a:prstGeom>
          <a:solidFill>
            <a:srgbClr val="1A2A3A"/>
          </a:solidFill>
          <a:ln w="25400">
            <a:solidFill>
              <a:srgbClr val="C7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235915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77DFF"/>
                </a:solidFill>
              </a:rPr>
              <a:t>17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971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Radiomics Suite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2286000"/>
            <a:ext cx="2057400" cy="1325880"/>
          </a:xfrm>
          <a:prstGeom prst="rect">
            <a:avLst/>
          </a:prstGeom>
          <a:solidFill>
            <a:srgbClr val="1A2A3A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0" y="2359152"/>
            <a:ext cx="18745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F476F"/>
                </a:solidFill>
              </a:rPr>
              <a:t>72.7%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97180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Error Pre-Detection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94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</a:rPr>
              <a:t>We welcome all technical questions, viva examination, and interactive system evaluation.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E0EF"/>
                </a:solidFill>
              </a:rPr>
              <a:t>NeuroVision Diagnostic System  ·  Attention-Gated ResNet-34  ·  Monte Carlo Uncertainty  ·  17-View Radiomics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800600"/>
            <a:ext cx="6309360" cy="1005840"/>
          </a:xfrm>
          <a:prstGeom prst="rect">
            <a:avLst/>
          </a:prstGeom>
          <a:solidFill>
            <a:srgbClr val="2A3D52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486460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🔗 Live Diagnostic System Demo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257800"/>
            <a:ext cx="61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highlight>
                  <a:srgbClr val="C0C0C0"/>
                </a:highlight>
              </a:rPr>
              <a:t>https://mqiyj-202-88-252-190.run.pinggy-free.link</a:t>
            </a:r>
            <a:r>
              <a:rPr sz="1200" b="0" i="0" dirty="0">
                <a:solidFill>
                  <a:srgbClr val="FFFFFF"/>
                </a:solidFill>
                <a:highlight>
                  <a:srgbClr val="C0C0C0"/>
                </a:highlight>
              </a:rPr>
              <a:t> </a:t>
            </a:r>
            <a:r>
              <a:rPr lang="en-US" sz="1200" b="0" i="0" dirty="0">
                <a:solidFill>
                  <a:srgbClr val="FFFFFF"/>
                </a:solidFill>
                <a:highlight>
                  <a:srgbClr val="C0C0C0"/>
                </a:highlight>
              </a:rPr>
              <a:t> </a:t>
            </a:r>
            <a:endParaRPr sz="1200" b="0" i="0" dirty="0">
              <a:solidFill>
                <a:srgbClr val="FFFFFF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320" y="6172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90E0EF"/>
                </a:solidFill>
              </a:rPr>
              <a:t>Team 8  ·  Brain Tumor Classification  ·  Deep Learning &amp; XAI  ·  Final Semester Project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5398</Words>
  <Application>Microsoft Office PowerPoint</Application>
  <PresentationFormat>Custom</PresentationFormat>
  <Paragraphs>600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9ramanathan@gmail.com</cp:lastModifiedBy>
  <cp:revision>3</cp:revision>
  <dcterms:created xsi:type="dcterms:W3CDTF">2013-01-27T09:14:16Z</dcterms:created>
  <dcterms:modified xsi:type="dcterms:W3CDTF">2026-07-25T11:28:08Z</dcterms:modified>
  <cp:category/>
</cp:coreProperties>
</file>